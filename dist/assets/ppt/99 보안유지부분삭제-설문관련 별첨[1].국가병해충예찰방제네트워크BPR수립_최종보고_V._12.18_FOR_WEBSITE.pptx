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41"/>
  </p:notesMasterIdLst>
  <p:handoutMasterIdLst>
    <p:handoutMasterId r:id="rId42"/>
  </p:handoutMasterIdLst>
  <p:sldIdLst>
    <p:sldId id="257" r:id="rId3"/>
    <p:sldId id="262" r:id="rId4"/>
    <p:sldId id="280" r:id="rId5"/>
    <p:sldId id="267" r:id="rId6"/>
    <p:sldId id="281" r:id="rId7"/>
    <p:sldId id="283" r:id="rId8"/>
    <p:sldId id="282" r:id="rId9"/>
    <p:sldId id="284" r:id="rId10"/>
    <p:sldId id="342" r:id="rId11"/>
    <p:sldId id="345" r:id="rId12"/>
    <p:sldId id="346" r:id="rId13"/>
    <p:sldId id="288" r:id="rId14"/>
    <p:sldId id="292" r:id="rId15"/>
    <p:sldId id="293" r:id="rId16"/>
    <p:sldId id="304" r:id="rId17"/>
    <p:sldId id="311" r:id="rId18"/>
    <p:sldId id="353" r:id="rId19"/>
    <p:sldId id="317" r:id="rId20"/>
    <p:sldId id="316" r:id="rId21"/>
    <p:sldId id="319" r:id="rId22"/>
    <p:sldId id="354" r:id="rId23"/>
    <p:sldId id="323" r:id="rId24"/>
    <p:sldId id="347" r:id="rId25"/>
    <p:sldId id="358" r:id="rId26"/>
    <p:sldId id="359" r:id="rId27"/>
    <p:sldId id="365" r:id="rId28"/>
    <p:sldId id="361" r:id="rId29"/>
    <p:sldId id="360" r:id="rId30"/>
    <p:sldId id="362" r:id="rId31"/>
    <p:sldId id="363" r:id="rId32"/>
    <p:sldId id="328" r:id="rId33"/>
    <p:sldId id="330" r:id="rId34"/>
    <p:sldId id="366" r:id="rId35"/>
    <p:sldId id="351" r:id="rId36"/>
    <p:sldId id="348" r:id="rId37"/>
    <p:sldId id="335" r:id="rId38"/>
    <p:sldId id="364" r:id="rId39"/>
    <p:sldId id="356" r:id="rId40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DA9"/>
    <a:srgbClr val="FBDC6B"/>
    <a:srgbClr val="FF66FF"/>
    <a:srgbClr val="B1D161"/>
    <a:srgbClr val="B7EF53"/>
    <a:srgbClr val="A1FC9A"/>
    <a:srgbClr val="CCFF33"/>
    <a:srgbClr val="000000"/>
    <a:srgbClr val="00B050"/>
    <a:srgbClr val="2CA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E5139-263B-4153-A380-60592F354A33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EFD0-64CE-469F-B11F-AF4F69F822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04E7C-F1B4-4D5C-9BD9-B9206B2B18EF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5E7BE-1F65-402E-BBE0-F0C64586E23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</p:spPr>
      </p:pic>
      <p:pic>
        <p:nvPicPr>
          <p:cNvPr id="3" name="Picture 374" descr="기본로고"/>
          <p:cNvPicPr>
            <a:picLocks noChangeAspect="1" noChangeArrowheads="1"/>
          </p:cNvPicPr>
          <p:nvPr userDrawn="1"/>
        </p:nvPicPr>
        <p:blipFill>
          <a:blip r:embed="rId3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78" descr="농심엔디에스컨소시엄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</p:spPr>
      </p:pic>
      <p:pic>
        <p:nvPicPr>
          <p:cNvPr id="5" name="Picture 374" descr="기본로고"/>
          <p:cNvPicPr>
            <a:picLocks noChangeAspect="1" noChangeArrowheads="1"/>
          </p:cNvPicPr>
          <p:nvPr userDrawn="1"/>
        </p:nvPicPr>
        <p:blipFill>
          <a:blip r:embed="rId3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78" descr="농심엔디에스컨소시엄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EA7A5-D1E2-4863-96B3-86093CB616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002_sub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</p:spPr>
      </p:pic>
      <p:pic>
        <p:nvPicPr>
          <p:cNvPr id="6" name="Picture 374" descr="기본로고"/>
          <p:cNvPicPr>
            <a:picLocks noChangeAspect="1" noChangeArrowheads="1"/>
          </p:cNvPicPr>
          <p:nvPr userDrawn="1"/>
        </p:nvPicPr>
        <p:blipFill>
          <a:blip r:embed="rId15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78" descr="농심엔디에스컨소시엄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emf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7.em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7.em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WordArt 5"/>
          <p:cNvSpPr>
            <a:spLocks noChangeArrowheads="1" noChangeShapeType="1" noTextEdit="1"/>
          </p:cNvSpPr>
          <p:nvPr/>
        </p:nvSpPr>
        <p:spPr bwMode="auto">
          <a:xfrm>
            <a:off x="2324100" y="2043113"/>
            <a:ext cx="4479925" cy="6651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endParaRPr lang="ko-KR" altLang="en-US" sz="4800" b="1" kern="10" spc="-24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78402"/>
                  </a:gs>
                  <a:gs pos="100000">
                    <a:srgbClr val="005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777777">
                    <a:alpha val="70000"/>
                  </a:srgbClr>
                </a:outerShdw>
              </a:effectLst>
              <a:latin typeface="HY헤드라인M"/>
              <a:ea typeface="HY헤드라인M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9163" y="1785926"/>
            <a:ext cx="887055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 err="1">
                <a:latin typeface="휴먼매직체" pitchFamily="18" charset="-127"/>
                <a:ea typeface="휴먼매직체" pitchFamily="18" charset="-127"/>
              </a:rPr>
              <a:t>국가병해충예찰방제네트워크</a:t>
            </a:r>
            <a:endParaRPr lang="en-US" altLang="ko-KR" sz="4000" b="1" dirty="0">
              <a:latin typeface="휴먼매직체" pitchFamily="18" charset="-127"/>
              <a:ea typeface="휴먼매직체" pitchFamily="18" charset="-127"/>
            </a:endParaRPr>
          </a:p>
          <a:p>
            <a:pPr algn="ctr"/>
            <a:r>
              <a:rPr lang="en-US" altLang="ko-KR" sz="4000" b="1" dirty="0">
                <a:latin typeface="휴먼매직체" pitchFamily="18" charset="-127"/>
                <a:ea typeface="휴먼매직체" pitchFamily="18" charset="-127"/>
              </a:rPr>
              <a:t>BPR</a:t>
            </a:r>
            <a:r>
              <a:rPr lang="ko-KR" altLang="en-US" sz="4000" b="1" dirty="0">
                <a:latin typeface="휴먼매직체" pitchFamily="18" charset="-127"/>
                <a:ea typeface="휴먼매직체" pitchFamily="18" charset="-127"/>
              </a:rPr>
              <a:t>수립</a:t>
            </a:r>
            <a:r>
              <a:rPr lang="en-US" altLang="ko-KR" sz="4000" b="1" dirty="0">
                <a:latin typeface="휴먼매직체" pitchFamily="18" charset="-127"/>
                <a:ea typeface="휴먼매직체" pitchFamily="18" charset="-127"/>
              </a:rPr>
              <a:t>(</a:t>
            </a:r>
            <a:r>
              <a:rPr lang="ko-KR" altLang="en-US" sz="4000" b="1" dirty="0">
                <a:latin typeface="휴먼매직체" pitchFamily="18" charset="-127"/>
                <a:ea typeface="휴먼매직체" pitchFamily="18" charset="-127"/>
              </a:rPr>
              <a:t>최종</a:t>
            </a:r>
            <a:r>
              <a:rPr lang="en-US" altLang="ko-KR" sz="4000" b="1" dirty="0">
                <a:latin typeface="휴먼매직체" pitchFamily="18" charset="-127"/>
                <a:ea typeface="휴먼매직체" pitchFamily="18" charset="-127"/>
              </a:rPr>
              <a:t>2</a:t>
            </a:r>
            <a:r>
              <a:rPr lang="ko-KR" altLang="en-US" sz="4000" b="1" dirty="0">
                <a:latin typeface="휴먼매직체" pitchFamily="18" charset="-127"/>
                <a:ea typeface="휴먼매직체" pitchFamily="18" charset="-127"/>
              </a:rPr>
              <a:t>차보고</a:t>
            </a:r>
            <a:r>
              <a:rPr lang="en-US" altLang="ko-KR" sz="4000" b="1" dirty="0">
                <a:latin typeface="휴먼매직체" pitchFamily="18" charset="-127"/>
                <a:ea typeface="휴먼매직체" pitchFamily="18" charset="-127"/>
              </a:rPr>
              <a:t>)</a:t>
            </a:r>
            <a:endParaRPr lang="ko-KR" altLang="en-US" sz="4000" b="1" dirty="0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14678" y="4500570"/>
            <a:ext cx="1758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발표자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서 보 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12"/>
          <p:cNvSpPr>
            <a:spLocks noChangeArrowheads="1"/>
          </p:cNvSpPr>
          <p:nvPr/>
        </p:nvSpPr>
        <p:spPr bwMode="gray">
          <a:xfrm>
            <a:off x="3395654" y="1335066"/>
            <a:ext cx="3620324" cy="5497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gamma/>
                  <a:tint val="0"/>
                  <a:invGamma/>
                  <a:alpha val="0"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500" b="1" dirty="0">
                <a:latin typeface="휴먼매직체" pitchFamily="18" charset="-127"/>
                <a:ea typeface="휴먼매직체" pitchFamily="18" charset="-127"/>
              </a:rPr>
              <a:t>  Ⅰ. </a:t>
            </a:r>
            <a:r>
              <a:rPr lang="ko-KR" altLang="en-US" sz="2500" b="1" dirty="0">
                <a:latin typeface="휴먼매직체" pitchFamily="18" charset="-127"/>
                <a:ea typeface="휴먼매직체" pitchFamily="18" charset="-127"/>
              </a:rPr>
              <a:t>프로젝트 개요</a:t>
            </a:r>
          </a:p>
        </p:txBody>
      </p:sp>
      <p:sp>
        <p:nvSpPr>
          <p:cNvPr id="87" name="AutoShape 16"/>
          <p:cNvSpPr>
            <a:spLocks noChangeArrowheads="1"/>
          </p:cNvSpPr>
          <p:nvPr/>
        </p:nvSpPr>
        <p:spPr bwMode="gray">
          <a:xfrm>
            <a:off x="3357554" y="1306491"/>
            <a:ext cx="3671833" cy="64294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2500" b="1">
              <a:latin typeface="휴먼매직체" pitchFamily="18" charset="-127"/>
              <a:ea typeface="휴먼매직체" pitchFamily="18" charset="-127"/>
            </a:endParaRPr>
          </a:p>
        </p:txBody>
      </p:sp>
      <p:grpSp>
        <p:nvGrpSpPr>
          <p:cNvPr id="88" name="Group 17"/>
          <p:cNvGrpSpPr>
            <a:grpSpLocks/>
          </p:cNvGrpSpPr>
          <p:nvPr/>
        </p:nvGrpSpPr>
        <p:grpSpPr bwMode="auto">
          <a:xfrm>
            <a:off x="3430579" y="1408091"/>
            <a:ext cx="183960" cy="349425"/>
            <a:chOff x="1816" y="1900"/>
            <a:chExt cx="160" cy="160"/>
          </a:xfrm>
        </p:grpSpPr>
        <p:pic>
          <p:nvPicPr>
            <p:cNvPr id="89" name="Picture 18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816" y="1900"/>
              <a:ext cx="160" cy="160"/>
            </a:xfrm>
            <a:prstGeom prst="rect">
              <a:avLst/>
            </a:prstGeom>
            <a:noFill/>
          </p:spPr>
        </p:pic>
        <p:grpSp>
          <p:nvGrpSpPr>
            <p:cNvPr id="90" name="Group 19"/>
            <p:cNvGrpSpPr>
              <a:grpSpLocks/>
            </p:cNvGrpSpPr>
            <p:nvPr/>
          </p:nvGrpSpPr>
          <p:grpSpPr bwMode="auto">
            <a:xfrm>
              <a:off x="1835" y="1903"/>
              <a:ext cx="126" cy="126"/>
              <a:chOff x="1824" y="1902"/>
              <a:chExt cx="144" cy="144"/>
            </a:xfrm>
          </p:grpSpPr>
          <p:sp>
            <p:nvSpPr>
              <p:cNvPr id="91" name="Oval 20"/>
              <p:cNvSpPr>
                <a:spLocks noChangeArrowheads="1"/>
              </p:cNvSpPr>
              <p:nvPr/>
            </p:nvSpPr>
            <p:spPr bwMode="gray">
              <a:xfrm>
                <a:off x="1824" y="1902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chemeClr val="hlink"/>
                  </a:gs>
                  <a:gs pos="100000">
                    <a:srgbClr val="FFFFFF"/>
                  </a:gs>
                </a:gsLst>
                <a:lin ang="5400000" scaled="1"/>
              </a:gradFill>
              <a:ln w="6350" algn="ctr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sp>
            <p:nvSpPr>
              <p:cNvPr id="92" name="Oval 21"/>
              <p:cNvSpPr>
                <a:spLocks noChangeArrowheads="1"/>
              </p:cNvSpPr>
              <p:nvPr/>
            </p:nvSpPr>
            <p:spPr bwMode="gray">
              <a:xfrm>
                <a:off x="1843" y="1922"/>
                <a:ext cx="106" cy="104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</p:grpSp>
      </p:grpSp>
      <p:sp>
        <p:nvSpPr>
          <p:cNvPr id="180" name="AutoShape 12"/>
          <p:cNvSpPr>
            <a:spLocks noChangeArrowheads="1"/>
          </p:cNvSpPr>
          <p:nvPr/>
        </p:nvSpPr>
        <p:spPr bwMode="gray">
          <a:xfrm>
            <a:off x="3395654" y="2171691"/>
            <a:ext cx="3620324" cy="5497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gamma/>
                  <a:tint val="0"/>
                  <a:invGamma/>
                  <a:alpha val="0"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500" b="1" dirty="0">
                <a:latin typeface="휴먼매직체" pitchFamily="18" charset="-127"/>
                <a:ea typeface="휴먼매직체" pitchFamily="18" charset="-127"/>
              </a:rPr>
              <a:t>  Ⅱ. </a:t>
            </a:r>
            <a:r>
              <a:rPr lang="ko-KR" altLang="en-US" sz="2500" b="1" dirty="0">
                <a:latin typeface="휴먼매직체" pitchFamily="18" charset="-127"/>
                <a:ea typeface="휴먼매직체" pitchFamily="18" charset="-127"/>
              </a:rPr>
              <a:t>사업방향 설정</a:t>
            </a:r>
          </a:p>
        </p:txBody>
      </p:sp>
      <p:sp>
        <p:nvSpPr>
          <p:cNvPr id="181" name="AutoShape 16"/>
          <p:cNvSpPr>
            <a:spLocks noChangeArrowheads="1"/>
          </p:cNvSpPr>
          <p:nvPr/>
        </p:nvSpPr>
        <p:spPr bwMode="gray">
          <a:xfrm>
            <a:off x="3357554" y="2143116"/>
            <a:ext cx="3671833" cy="64294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2500" b="1">
              <a:latin typeface="휴먼매직체" pitchFamily="18" charset="-127"/>
              <a:ea typeface="휴먼매직체" pitchFamily="18" charset="-127"/>
            </a:endParaRPr>
          </a:p>
        </p:txBody>
      </p:sp>
      <p:grpSp>
        <p:nvGrpSpPr>
          <p:cNvPr id="182" name="Group 17"/>
          <p:cNvGrpSpPr>
            <a:grpSpLocks/>
          </p:cNvGrpSpPr>
          <p:nvPr/>
        </p:nvGrpSpPr>
        <p:grpSpPr bwMode="auto">
          <a:xfrm>
            <a:off x="3430579" y="2244716"/>
            <a:ext cx="183960" cy="349425"/>
            <a:chOff x="1816" y="1900"/>
            <a:chExt cx="160" cy="160"/>
          </a:xfrm>
        </p:grpSpPr>
        <p:pic>
          <p:nvPicPr>
            <p:cNvPr id="183" name="Picture 18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816" y="1900"/>
              <a:ext cx="160" cy="160"/>
            </a:xfrm>
            <a:prstGeom prst="rect">
              <a:avLst/>
            </a:prstGeom>
            <a:noFill/>
          </p:spPr>
        </p:pic>
        <p:grpSp>
          <p:nvGrpSpPr>
            <p:cNvPr id="184" name="Group 19"/>
            <p:cNvGrpSpPr>
              <a:grpSpLocks/>
            </p:cNvGrpSpPr>
            <p:nvPr/>
          </p:nvGrpSpPr>
          <p:grpSpPr bwMode="auto">
            <a:xfrm>
              <a:off x="1835" y="1903"/>
              <a:ext cx="126" cy="126"/>
              <a:chOff x="1824" y="1902"/>
              <a:chExt cx="144" cy="144"/>
            </a:xfrm>
          </p:grpSpPr>
          <p:sp>
            <p:nvSpPr>
              <p:cNvPr id="185" name="Oval 20"/>
              <p:cNvSpPr>
                <a:spLocks noChangeArrowheads="1"/>
              </p:cNvSpPr>
              <p:nvPr/>
            </p:nvSpPr>
            <p:spPr bwMode="gray">
              <a:xfrm>
                <a:off x="1824" y="1902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chemeClr val="hlink"/>
                  </a:gs>
                  <a:gs pos="100000">
                    <a:srgbClr val="FFFFFF"/>
                  </a:gs>
                </a:gsLst>
                <a:lin ang="5400000" scaled="1"/>
              </a:gradFill>
              <a:ln w="6350" algn="ctr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sp>
            <p:nvSpPr>
              <p:cNvPr id="186" name="Oval 21"/>
              <p:cNvSpPr>
                <a:spLocks noChangeArrowheads="1"/>
              </p:cNvSpPr>
              <p:nvPr/>
            </p:nvSpPr>
            <p:spPr bwMode="gray">
              <a:xfrm>
                <a:off x="1843" y="1922"/>
                <a:ext cx="106" cy="104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</p:grpSp>
      </p:grpSp>
      <p:sp>
        <p:nvSpPr>
          <p:cNvPr id="187" name="AutoShape 12"/>
          <p:cNvSpPr>
            <a:spLocks noChangeArrowheads="1"/>
          </p:cNvSpPr>
          <p:nvPr/>
        </p:nvSpPr>
        <p:spPr bwMode="gray">
          <a:xfrm>
            <a:off x="3395654" y="3028947"/>
            <a:ext cx="3620324" cy="5497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gamma/>
                  <a:tint val="0"/>
                  <a:invGamma/>
                  <a:alpha val="0"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500" b="1" dirty="0">
                <a:latin typeface="휴먼매직체" pitchFamily="18" charset="-127"/>
                <a:ea typeface="휴먼매직체" pitchFamily="18" charset="-127"/>
              </a:rPr>
              <a:t>  Ⅲ. </a:t>
            </a:r>
            <a:r>
              <a:rPr lang="ko-KR" altLang="en-US" sz="2500" b="1" dirty="0">
                <a:latin typeface="휴먼매직체" pitchFamily="18" charset="-127"/>
                <a:ea typeface="휴먼매직체" pitchFamily="18" charset="-127"/>
              </a:rPr>
              <a:t>현황분석</a:t>
            </a:r>
          </a:p>
        </p:txBody>
      </p:sp>
      <p:sp>
        <p:nvSpPr>
          <p:cNvPr id="188" name="AutoShape 16"/>
          <p:cNvSpPr>
            <a:spLocks noChangeArrowheads="1"/>
          </p:cNvSpPr>
          <p:nvPr/>
        </p:nvSpPr>
        <p:spPr bwMode="gray">
          <a:xfrm>
            <a:off x="3357554" y="3000372"/>
            <a:ext cx="3671833" cy="64294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2500" b="1">
              <a:latin typeface="휴먼매직체" pitchFamily="18" charset="-127"/>
              <a:ea typeface="휴먼매직체" pitchFamily="18" charset="-127"/>
            </a:endParaRPr>
          </a:p>
        </p:txBody>
      </p:sp>
      <p:grpSp>
        <p:nvGrpSpPr>
          <p:cNvPr id="189" name="Group 17"/>
          <p:cNvGrpSpPr>
            <a:grpSpLocks/>
          </p:cNvGrpSpPr>
          <p:nvPr/>
        </p:nvGrpSpPr>
        <p:grpSpPr bwMode="auto">
          <a:xfrm>
            <a:off x="3430579" y="3101972"/>
            <a:ext cx="183960" cy="349425"/>
            <a:chOff x="1816" y="1900"/>
            <a:chExt cx="160" cy="160"/>
          </a:xfrm>
        </p:grpSpPr>
        <p:pic>
          <p:nvPicPr>
            <p:cNvPr id="190" name="Picture 18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816" y="1900"/>
              <a:ext cx="160" cy="160"/>
            </a:xfrm>
            <a:prstGeom prst="rect">
              <a:avLst/>
            </a:prstGeom>
            <a:noFill/>
          </p:spPr>
        </p:pic>
        <p:grpSp>
          <p:nvGrpSpPr>
            <p:cNvPr id="191" name="Group 19"/>
            <p:cNvGrpSpPr>
              <a:grpSpLocks/>
            </p:cNvGrpSpPr>
            <p:nvPr/>
          </p:nvGrpSpPr>
          <p:grpSpPr bwMode="auto">
            <a:xfrm>
              <a:off x="1835" y="1903"/>
              <a:ext cx="126" cy="126"/>
              <a:chOff x="1824" y="1902"/>
              <a:chExt cx="144" cy="144"/>
            </a:xfrm>
          </p:grpSpPr>
          <p:sp>
            <p:nvSpPr>
              <p:cNvPr id="192" name="Oval 20"/>
              <p:cNvSpPr>
                <a:spLocks noChangeArrowheads="1"/>
              </p:cNvSpPr>
              <p:nvPr/>
            </p:nvSpPr>
            <p:spPr bwMode="gray">
              <a:xfrm>
                <a:off x="1824" y="1902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chemeClr val="hlink"/>
                  </a:gs>
                  <a:gs pos="100000">
                    <a:srgbClr val="FFFFFF"/>
                  </a:gs>
                </a:gsLst>
                <a:lin ang="5400000" scaled="1"/>
              </a:gradFill>
              <a:ln w="6350" algn="ctr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sp>
            <p:nvSpPr>
              <p:cNvPr id="193" name="Oval 21"/>
              <p:cNvSpPr>
                <a:spLocks noChangeArrowheads="1"/>
              </p:cNvSpPr>
              <p:nvPr/>
            </p:nvSpPr>
            <p:spPr bwMode="gray">
              <a:xfrm>
                <a:off x="1843" y="1922"/>
                <a:ext cx="106" cy="104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</p:grpSp>
      </p:grpSp>
      <p:sp>
        <p:nvSpPr>
          <p:cNvPr id="215" name="AutoShape 12"/>
          <p:cNvSpPr>
            <a:spLocks noChangeArrowheads="1"/>
          </p:cNvSpPr>
          <p:nvPr/>
        </p:nvSpPr>
        <p:spPr bwMode="gray">
          <a:xfrm>
            <a:off x="3438597" y="3886203"/>
            <a:ext cx="3620324" cy="5497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gamma/>
                  <a:tint val="0"/>
                  <a:invGamma/>
                  <a:alpha val="0"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2500" b="1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216" name="AutoShape 16"/>
          <p:cNvSpPr>
            <a:spLocks noChangeArrowheads="1"/>
          </p:cNvSpPr>
          <p:nvPr/>
        </p:nvSpPr>
        <p:spPr bwMode="gray">
          <a:xfrm>
            <a:off x="3400497" y="3857628"/>
            <a:ext cx="3671833" cy="64294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500" b="1" dirty="0">
                <a:latin typeface="휴먼매직체" pitchFamily="18" charset="-127"/>
                <a:ea typeface="휴먼매직체" pitchFamily="18" charset="-127"/>
              </a:rPr>
              <a:t>  Ⅳ. </a:t>
            </a:r>
            <a:r>
              <a:rPr lang="ko-KR" altLang="en-US" sz="2500" b="1" dirty="0">
                <a:latin typeface="휴먼매직체" pitchFamily="18" charset="-127"/>
                <a:ea typeface="휴먼매직체" pitchFamily="18" charset="-127"/>
              </a:rPr>
              <a:t>미래모형정의</a:t>
            </a:r>
          </a:p>
        </p:txBody>
      </p:sp>
      <p:grpSp>
        <p:nvGrpSpPr>
          <p:cNvPr id="217" name="Group 17"/>
          <p:cNvGrpSpPr>
            <a:grpSpLocks/>
          </p:cNvGrpSpPr>
          <p:nvPr/>
        </p:nvGrpSpPr>
        <p:grpSpPr bwMode="auto">
          <a:xfrm>
            <a:off x="3473522" y="3959228"/>
            <a:ext cx="183960" cy="349425"/>
            <a:chOff x="1816" y="1900"/>
            <a:chExt cx="160" cy="160"/>
          </a:xfrm>
        </p:grpSpPr>
        <p:pic>
          <p:nvPicPr>
            <p:cNvPr id="218" name="Picture 18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816" y="1900"/>
              <a:ext cx="160" cy="160"/>
            </a:xfrm>
            <a:prstGeom prst="rect">
              <a:avLst/>
            </a:prstGeom>
            <a:noFill/>
          </p:spPr>
        </p:pic>
        <p:grpSp>
          <p:nvGrpSpPr>
            <p:cNvPr id="219" name="Group 19"/>
            <p:cNvGrpSpPr>
              <a:grpSpLocks/>
            </p:cNvGrpSpPr>
            <p:nvPr/>
          </p:nvGrpSpPr>
          <p:grpSpPr bwMode="auto">
            <a:xfrm>
              <a:off x="1835" y="1903"/>
              <a:ext cx="126" cy="126"/>
              <a:chOff x="1824" y="1902"/>
              <a:chExt cx="144" cy="144"/>
            </a:xfrm>
          </p:grpSpPr>
          <p:sp>
            <p:nvSpPr>
              <p:cNvPr id="220" name="Oval 20"/>
              <p:cNvSpPr>
                <a:spLocks noChangeArrowheads="1"/>
              </p:cNvSpPr>
              <p:nvPr/>
            </p:nvSpPr>
            <p:spPr bwMode="gray">
              <a:xfrm>
                <a:off x="1824" y="1902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chemeClr val="hlink"/>
                  </a:gs>
                  <a:gs pos="100000">
                    <a:srgbClr val="FFFFFF"/>
                  </a:gs>
                </a:gsLst>
                <a:lin ang="5400000" scaled="1"/>
              </a:gradFill>
              <a:ln w="6350" algn="ctr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sp>
            <p:nvSpPr>
              <p:cNvPr id="221" name="Oval 21"/>
              <p:cNvSpPr>
                <a:spLocks noChangeArrowheads="1"/>
              </p:cNvSpPr>
              <p:nvPr/>
            </p:nvSpPr>
            <p:spPr bwMode="gray">
              <a:xfrm>
                <a:off x="1843" y="1922"/>
                <a:ext cx="106" cy="104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</p:grpSp>
      </p:grpSp>
      <p:sp>
        <p:nvSpPr>
          <p:cNvPr id="222" name="AutoShape 12"/>
          <p:cNvSpPr>
            <a:spLocks noChangeArrowheads="1"/>
          </p:cNvSpPr>
          <p:nvPr/>
        </p:nvSpPr>
        <p:spPr bwMode="gray">
          <a:xfrm>
            <a:off x="3438597" y="4743459"/>
            <a:ext cx="3620324" cy="5497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>
                  <a:gamma/>
                  <a:tint val="0"/>
                  <a:invGamma/>
                  <a:alpha val="0"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500" b="1" dirty="0">
                <a:latin typeface="휴먼매직체" pitchFamily="18" charset="-127"/>
                <a:ea typeface="휴먼매직체" pitchFamily="18" charset="-127"/>
              </a:rPr>
              <a:t>  Ⅴ. </a:t>
            </a:r>
            <a:r>
              <a:rPr lang="ko-KR" altLang="en-US" sz="2500" b="1" dirty="0" err="1">
                <a:latin typeface="휴먼매직체" pitchFamily="18" charset="-127"/>
                <a:ea typeface="휴먼매직체" pitchFamily="18" charset="-127"/>
              </a:rPr>
              <a:t>금후계획</a:t>
            </a:r>
            <a:endParaRPr lang="ko-KR" altLang="en-US" sz="2500" b="1" dirty="0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223" name="AutoShape 16"/>
          <p:cNvSpPr>
            <a:spLocks noChangeArrowheads="1"/>
          </p:cNvSpPr>
          <p:nvPr/>
        </p:nvSpPr>
        <p:spPr bwMode="gray">
          <a:xfrm>
            <a:off x="3400497" y="4714884"/>
            <a:ext cx="3671833" cy="64294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2500" b="1">
              <a:latin typeface="휴먼매직체" pitchFamily="18" charset="-127"/>
              <a:ea typeface="휴먼매직체" pitchFamily="18" charset="-127"/>
            </a:endParaRPr>
          </a:p>
        </p:txBody>
      </p:sp>
      <p:grpSp>
        <p:nvGrpSpPr>
          <p:cNvPr id="224" name="Group 17"/>
          <p:cNvGrpSpPr>
            <a:grpSpLocks/>
          </p:cNvGrpSpPr>
          <p:nvPr/>
        </p:nvGrpSpPr>
        <p:grpSpPr bwMode="auto">
          <a:xfrm>
            <a:off x="3473522" y="4816484"/>
            <a:ext cx="183960" cy="349425"/>
            <a:chOff x="1816" y="1900"/>
            <a:chExt cx="160" cy="160"/>
          </a:xfrm>
        </p:grpSpPr>
        <p:pic>
          <p:nvPicPr>
            <p:cNvPr id="225" name="Picture 18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816" y="1900"/>
              <a:ext cx="160" cy="160"/>
            </a:xfrm>
            <a:prstGeom prst="rect">
              <a:avLst/>
            </a:prstGeom>
            <a:noFill/>
          </p:spPr>
        </p:pic>
        <p:grpSp>
          <p:nvGrpSpPr>
            <p:cNvPr id="226" name="Group 19"/>
            <p:cNvGrpSpPr>
              <a:grpSpLocks/>
            </p:cNvGrpSpPr>
            <p:nvPr/>
          </p:nvGrpSpPr>
          <p:grpSpPr bwMode="auto">
            <a:xfrm>
              <a:off x="1835" y="1903"/>
              <a:ext cx="126" cy="126"/>
              <a:chOff x="1824" y="1902"/>
              <a:chExt cx="144" cy="144"/>
            </a:xfrm>
          </p:grpSpPr>
          <p:sp>
            <p:nvSpPr>
              <p:cNvPr id="227" name="Oval 20"/>
              <p:cNvSpPr>
                <a:spLocks noChangeArrowheads="1"/>
              </p:cNvSpPr>
              <p:nvPr/>
            </p:nvSpPr>
            <p:spPr bwMode="gray">
              <a:xfrm>
                <a:off x="1824" y="1902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chemeClr val="hlink"/>
                  </a:gs>
                  <a:gs pos="100000">
                    <a:srgbClr val="FFFFFF"/>
                  </a:gs>
                </a:gsLst>
                <a:lin ang="5400000" scaled="1"/>
              </a:gradFill>
              <a:ln w="6350" algn="ctr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sp>
            <p:nvSpPr>
              <p:cNvPr id="228" name="Oval 21"/>
              <p:cNvSpPr>
                <a:spLocks noChangeArrowheads="1"/>
              </p:cNvSpPr>
              <p:nvPr/>
            </p:nvSpPr>
            <p:spPr bwMode="gray">
              <a:xfrm>
                <a:off x="1843" y="1922"/>
                <a:ext cx="106" cy="104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sz="2500" b="1">
                  <a:latin typeface="휴먼매직체" pitchFamily="18" charset="-127"/>
                  <a:ea typeface="휴먼매직체" pitchFamily="18" charset="-127"/>
                </a:endParaRPr>
              </a:p>
            </p:txBody>
          </p:sp>
        </p:grpSp>
      </p:grpSp>
      <p:sp>
        <p:nvSpPr>
          <p:cNvPr id="261" name="TextBox 260"/>
          <p:cNvSpPr txBox="1"/>
          <p:nvPr/>
        </p:nvSpPr>
        <p:spPr>
          <a:xfrm>
            <a:off x="142876" y="463616"/>
            <a:ext cx="20716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목차 </a:t>
            </a:r>
          </a:p>
        </p:txBody>
      </p:sp>
      <p:pic>
        <p:nvPicPr>
          <p:cNvPr id="95" name="Picture 378" descr="농심엔디에스컨소시엄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" name="Picture 374" descr="기본로고"/>
          <p:cNvPicPr>
            <a:picLocks noChangeAspect="1" noChangeArrowheads="1"/>
          </p:cNvPicPr>
          <p:nvPr/>
        </p:nvPicPr>
        <p:blipFill>
          <a:blip r:embed="rId5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378" descr="농심엔디에스컨소시엄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" name="Picture 374" descr="기본로고"/>
          <p:cNvPicPr>
            <a:picLocks noChangeAspect="1" noChangeArrowheads="1"/>
          </p:cNvPicPr>
          <p:nvPr/>
        </p:nvPicPr>
        <p:blipFill>
          <a:blip r:embed="rId4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/>
          <p:nvPr/>
        </p:nvSpPr>
        <p:spPr>
          <a:xfrm>
            <a:off x="2214546" y="2214554"/>
            <a:ext cx="60007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Ⅰ.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프로젝트 개요</a:t>
            </a:r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1928794" y="71414"/>
            <a:ext cx="3071834" cy="571504"/>
            <a:chOff x="2784" y="624"/>
            <a:chExt cx="2105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105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7" y="71414"/>
            <a:ext cx="28575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추진배경 및 목적</a:t>
            </a:r>
            <a:endParaRPr lang="en-US" altLang="ko-KR" sz="32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40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2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7215206" y="34001"/>
            <a:ext cx="19623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1.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추진 배경 및 목적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428596" y="932736"/>
            <a:ext cx="8358246" cy="78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8350" indent="-228600" defTabSz="838200">
              <a:lnSpc>
                <a:spcPct val="140000"/>
              </a:lnSpc>
            </a:pPr>
            <a:r>
              <a:rPr lang="ko-KR" altLang="en-US" sz="1200" dirty="0">
                <a:ea typeface="휴먼신그래픽"/>
                <a:cs typeface="휴먼신그래픽"/>
              </a:rPr>
              <a:t> 본 프로젝트는 작물 병해충 발생으로 인한 </a:t>
            </a:r>
            <a:r>
              <a:rPr lang="ko-KR" altLang="en-US" sz="1600" b="1" dirty="0">
                <a:ea typeface="휴먼신그래픽"/>
                <a:cs typeface="휴먼신그래픽"/>
              </a:rPr>
              <a:t>피해를 최소화하고 </a:t>
            </a:r>
            <a:r>
              <a:rPr lang="ko-KR" altLang="en-US" sz="1200" dirty="0">
                <a:ea typeface="휴먼신그래픽"/>
                <a:cs typeface="휴먼신그래픽"/>
              </a:rPr>
              <a:t>긴급</a:t>
            </a:r>
            <a:r>
              <a:rPr lang="en-US" altLang="ko-KR" sz="1200" dirty="0">
                <a:ea typeface="휴먼신그래픽"/>
                <a:cs typeface="휴먼신그래픽"/>
              </a:rPr>
              <a:t>,</a:t>
            </a:r>
            <a:r>
              <a:rPr lang="ko-KR" altLang="en-US" sz="1200" dirty="0">
                <a:ea typeface="휴먼신그래픽"/>
                <a:cs typeface="휴먼신그래픽"/>
              </a:rPr>
              <a:t>돌발</a:t>
            </a:r>
            <a:r>
              <a:rPr lang="en-US" altLang="ko-KR" sz="1200" dirty="0">
                <a:ea typeface="휴먼신그래픽"/>
                <a:cs typeface="휴먼신그래픽"/>
              </a:rPr>
              <a:t>,</a:t>
            </a:r>
            <a:r>
              <a:rPr lang="ko-KR" altLang="en-US" sz="1200" dirty="0">
                <a:ea typeface="휴먼신그래픽"/>
                <a:cs typeface="휴먼신그래픽"/>
              </a:rPr>
              <a:t>외래 병해충으로부터 </a:t>
            </a:r>
            <a:endParaRPr lang="en-US" altLang="ko-KR" sz="1200" dirty="0">
              <a:ea typeface="휴먼신그래픽"/>
              <a:cs typeface="휴먼신그래픽"/>
            </a:endParaRPr>
          </a:p>
          <a:p>
            <a:pPr marL="768350" indent="-228600" defTabSz="838200">
              <a:lnSpc>
                <a:spcPct val="140000"/>
              </a:lnSpc>
            </a:pPr>
            <a:r>
              <a:rPr lang="ko-KR" altLang="en-US" sz="1600" b="1" dirty="0">
                <a:ea typeface="휴먼신그래픽"/>
                <a:cs typeface="휴먼신그래픽"/>
              </a:rPr>
              <a:t>신속한 방제를</a:t>
            </a:r>
            <a:r>
              <a:rPr lang="ko-KR" altLang="en-US" sz="1400" b="1" dirty="0">
                <a:ea typeface="휴먼신그래픽"/>
                <a:cs typeface="휴먼신그래픽"/>
              </a:rPr>
              <a:t> </a:t>
            </a:r>
            <a:r>
              <a:rPr lang="ko-KR" altLang="en-US" sz="1200" dirty="0">
                <a:ea typeface="휴먼신그래픽"/>
                <a:cs typeface="휴먼신그래픽"/>
              </a:rPr>
              <a:t>하기 위하여</a:t>
            </a:r>
            <a:r>
              <a:rPr lang="en-US" altLang="ko-KR" sz="1200" dirty="0">
                <a:ea typeface="휴먼신그래픽"/>
                <a:cs typeface="휴먼신그래픽"/>
              </a:rPr>
              <a:t>, </a:t>
            </a:r>
            <a:r>
              <a:rPr lang="ko-KR" altLang="en-US" sz="1200" dirty="0">
                <a:ea typeface="휴먼신그래픽"/>
                <a:cs typeface="휴먼신그래픽"/>
              </a:rPr>
              <a:t>병해충 </a:t>
            </a:r>
            <a:r>
              <a:rPr lang="ko-KR" altLang="en-US" sz="1200" dirty="0" err="1">
                <a:ea typeface="휴먼신그래픽"/>
                <a:cs typeface="휴먼신그래픽"/>
              </a:rPr>
              <a:t>예찰</a:t>
            </a:r>
            <a:r>
              <a:rPr lang="ko-KR" altLang="en-US" sz="1200" dirty="0">
                <a:ea typeface="휴먼신그래픽"/>
                <a:cs typeface="휴먼신그래픽"/>
              </a:rPr>
              <a:t> 방제 </a:t>
            </a:r>
            <a:r>
              <a:rPr lang="ko-KR" altLang="en-US" sz="1400" b="1" dirty="0">
                <a:ea typeface="휴먼신그래픽"/>
                <a:cs typeface="휴먼신그래픽"/>
              </a:rPr>
              <a:t>체계를 구축하기 위한 </a:t>
            </a:r>
            <a:r>
              <a:rPr lang="en-US" altLang="ko-KR" sz="1400" b="1" dirty="0">
                <a:ea typeface="휴먼신그래픽"/>
                <a:cs typeface="휴먼신그래픽"/>
              </a:rPr>
              <a:t>BPR</a:t>
            </a:r>
            <a:r>
              <a:rPr lang="ko-KR" altLang="en-US" sz="1200" dirty="0">
                <a:ea typeface="휴먼신그래픽"/>
                <a:cs typeface="휴먼신그래픽"/>
              </a:rPr>
              <a:t>을 수행하는 작업임</a:t>
            </a:r>
            <a:r>
              <a:rPr lang="en-US" altLang="ko-KR" sz="1200" dirty="0">
                <a:ea typeface="휴먼신그래픽"/>
                <a:cs typeface="휴먼신그래픽"/>
              </a:rPr>
              <a:t>  </a:t>
            </a:r>
          </a:p>
        </p:txBody>
      </p:sp>
      <p:grpSp>
        <p:nvGrpSpPr>
          <p:cNvPr id="107" name="Group 193"/>
          <p:cNvGrpSpPr>
            <a:grpSpLocks/>
          </p:cNvGrpSpPr>
          <p:nvPr/>
        </p:nvGrpSpPr>
        <p:grpSpPr bwMode="auto">
          <a:xfrm>
            <a:off x="756946" y="3344850"/>
            <a:ext cx="7591760" cy="2901950"/>
            <a:chOff x="283" y="3308"/>
            <a:chExt cx="3767" cy="1974"/>
          </a:xfrm>
        </p:grpSpPr>
        <p:grpSp>
          <p:nvGrpSpPr>
            <p:cNvPr id="108" name="Group 171"/>
            <p:cNvGrpSpPr>
              <a:grpSpLocks/>
            </p:cNvGrpSpPr>
            <p:nvPr/>
          </p:nvGrpSpPr>
          <p:grpSpPr bwMode="auto">
            <a:xfrm>
              <a:off x="1295" y="5018"/>
              <a:ext cx="1746" cy="264"/>
              <a:chOff x="1328" y="4929"/>
              <a:chExt cx="1668" cy="215"/>
            </a:xfrm>
          </p:grpSpPr>
          <p:sp>
            <p:nvSpPr>
              <p:cNvPr id="130" name="Arc 147"/>
              <p:cNvSpPr>
                <a:spLocks/>
              </p:cNvSpPr>
              <p:nvPr/>
            </p:nvSpPr>
            <p:spPr bwMode="auto">
              <a:xfrm rot="10800000">
                <a:off x="1328" y="5000"/>
                <a:ext cx="1668" cy="144"/>
              </a:xfrm>
              <a:custGeom>
                <a:avLst/>
                <a:gdLst>
                  <a:gd name="T0" fmla="*/ 0 w 43200"/>
                  <a:gd name="T1" fmla="*/ 0 h 21633"/>
                  <a:gd name="T2" fmla="*/ 0 w 43200"/>
                  <a:gd name="T3" fmla="*/ 0 h 21633"/>
                  <a:gd name="T4" fmla="*/ 0 w 43200"/>
                  <a:gd name="T5" fmla="*/ 0 h 21633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33"/>
                  <a:gd name="T11" fmla="*/ 43200 w 43200"/>
                  <a:gd name="T12" fmla="*/ 21633 h 216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33" fill="none" extrusionOk="0">
                    <a:moveTo>
                      <a:pt x="0" y="21632"/>
                    </a:moveTo>
                    <a:cubicBezTo>
                      <a:pt x="0" y="21621"/>
                      <a:pt x="0" y="21610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1633" stroke="0" extrusionOk="0">
                    <a:moveTo>
                      <a:pt x="0" y="21632"/>
                    </a:moveTo>
                    <a:cubicBezTo>
                      <a:pt x="0" y="21621"/>
                      <a:pt x="0" y="21610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B5CEE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rot="10800000" wrap="none" lIns="83969" tIns="41985" rIns="83969" bIns="41985" anchor="ctr"/>
              <a:lstStyle/>
              <a:p>
                <a:endParaRPr lang="ko-KR" altLang="en-US"/>
              </a:p>
            </p:txBody>
          </p:sp>
          <p:sp>
            <p:nvSpPr>
              <p:cNvPr id="131" name="Arc 148"/>
              <p:cNvSpPr>
                <a:spLocks/>
              </p:cNvSpPr>
              <p:nvPr/>
            </p:nvSpPr>
            <p:spPr bwMode="auto">
              <a:xfrm rot="10800000">
                <a:off x="1556" y="4929"/>
                <a:ext cx="1208" cy="109"/>
              </a:xfrm>
              <a:custGeom>
                <a:avLst/>
                <a:gdLst>
                  <a:gd name="T0" fmla="*/ 0 w 43200"/>
                  <a:gd name="T1" fmla="*/ 0 h 21633"/>
                  <a:gd name="T2" fmla="*/ 0 w 43200"/>
                  <a:gd name="T3" fmla="*/ 0 h 21633"/>
                  <a:gd name="T4" fmla="*/ 0 w 43200"/>
                  <a:gd name="T5" fmla="*/ 0 h 21633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33"/>
                  <a:gd name="T11" fmla="*/ 43200 w 43200"/>
                  <a:gd name="T12" fmla="*/ 21633 h 216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33" fill="none" extrusionOk="0">
                    <a:moveTo>
                      <a:pt x="0" y="21632"/>
                    </a:moveTo>
                    <a:cubicBezTo>
                      <a:pt x="0" y="21621"/>
                      <a:pt x="0" y="21610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1633" stroke="0" extrusionOk="0">
                    <a:moveTo>
                      <a:pt x="0" y="21632"/>
                    </a:moveTo>
                    <a:cubicBezTo>
                      <a:pt x="0" y="21621"/>
                      <a:pt x="0" y="21610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B5CEE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rot="10800000" wrap="none" lIns="83969" tIns="41985" rIns="83969" bIns="41985" anchor="ctr"/>
              <a:lstStyle/>
              <a:p>
                <a:endParaRPr lang="ko-KR" altLang="en-US"/>
              </a:p>
            </p:txBody>
          </p:sp>
        </p:grpSp>
        <p:sp>
          <p:nvSpPr>
            <p:cNvPr id="109" name="Freeform 146"/>
            <p:cNvSpPr>
              <a:spLocks/>
            </p:cNvSpPr>
            <p:nvPr/>
          </p:nvSpPr>
          <p:spPr bwMode="auto">
            <a:xfrm>
              <a:off x="288" y="3317"/>
              <a:ext cx="3753" cy="181"/>
            </a:xfrm>
            <a:custGeom>
              <a:avLst/>
              <a:gdLst>
                <a:gd name="T0" fmla="*/ 0 w 3753"/>
                <a:gd name="T1" fmla="*/ 174 h 181"/>
                <a:gd name="T2" fmla="*/ 1277 w 3753"/>
                <a:gd name="T3" fmla="*/ 176 h 181"/>
                <a:gd name="T4" fmla="*/ 1884 w 3753"/>
                <a:gd name="T5" fmla="*/ 7 h 181"/>
                <a:gd name="T6" fmla="*/ 2405 w 3753"/>
                <a:gd name="T7" fmla="*/ 178 h 181"/>
                <a:gd name="T8" fmla="*/ 3753 w 3753"/>
                <a:gd name="T9" fmla="*/ 181 h 181"/>
                <a:gd name="T10" fmla="*/ 3224 w 3753"/>
                <a:gd name="T11" fmla="*/ 0 h 181"/>
                <a:gd name="T12" fmla="*/ 740 w 3753"/>
                <a:gd name="T13" fmla="*/ 0 h 181"/>
                <a:gd name="T14" fmla="*/ 0 w 3753"/>
                <a:gd name="T15" fmla="*/ 174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53"/>
                <a:gd name="T25" fmla="*/ 0 h 181"/>
                <a:gd name="T26" fmla="*/ 3753 w 3753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53" h="181">
                  <a:moveTo>
                    <a:pt x="0" y="174"/>
                  </a:moveTo>
                  <a:lnTo>
                    <a:pt x="1277" y="176"/>
                  </a:lnTo>
                  <a:lnTo>
                    <a:pt x="1884" y="7"/>
                  </a:lnTo>
                  <a:lnTo>
                    <a:pt x="2405" y="178"/>
                  </a:lnTo>
                  <a:lnTo>
                    <a:pt x="3753" y="181"/>
                  </a:lnTo>
                  <a:lnTo>
                    <a:pt x="3224" y="0"/>
                  </a:lnTo>
                  <a:lnTo>
                    <a:pt x="740" y="0"/>
                  </a:lnTo>
                  <a:lnTo>
                    <a:pt x="0" y="174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FDFE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10" name="Freeform 149"/>
            <p:cNvSpPr>
              <a:spLocks/>
            </p:cNvSpPr>
            <p:nvPr/>
          </p:nvSpPr>
          <p:spPr bwMode="auto">
            <a:xfrm flipH="1">
              <a:off x="2193" y="4206"/>
              <a:ext cx="551" cy="1018"/>
            </a:xfrm>
            <a:custGeom>
              <a:avLst/>
              <a:gdLst>
                <a:gd name="T0" fmla="*/ 0 w 528"/>
                <a:gd name="T1" fmla="*/ 70 h 1104"/>
                <a:gd name="T2" fmla="*/ 2249 w 528"/>
                <a:gd name="T3" fmla="*/ 58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70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solidFill>
              <a:srgbClr val="91B6DB"/>
            </a:soli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11" name="Freeform 150"/>
            <p:cNvSpPr>
              <a:spLocks/>
            </p:cNvSpPr>
            <p:nvPr/>
          </p:nvSpPr>
          <p:spPr bwMode="auto">
            <a:xfrm>
              <a:off x="1601" y="4206"/>
              <a:ext cx="550" cy="1018"/>
            </a:xfrm>
            <a:custGeom>
              <a:avLst/>
              <a:gdLst>
                <a:gd name="T0" fmla="*/ 0 w 528"/>
                <a:gd name="T1" fmla="*/ 70 h 1104"/>
                <a:gd name="T2" fmla="*/ 2116 w 528"/>
                <a:gd name="T3" fmla="*/ 58 h 1104"/>
                <a:gd name="T4" fmla="*/ 2116 w 528"/>
                <a:gd name="T5" fmla="*/ 0 h 1104"/>
                <a:gd name="T6" fmla="*/ 0 w 528"/>
                <a:gd name="T7" fmla="*/ 13 h 1104"/>
                <a:gd name="T8" fmla="*/ 0 w 528"/>
                <a:gd name="T9" fmla="*/ 70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solidFill>
              <a:srgbClr val="91B6DB"/>
            </a:soli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12" name="Freeform 151"/>
            <p:cNvSpPr>
              <a:spLocks/>
            </p:cNvSpPr>
            <p:nvPr/>
          </p:nvSpPr>
          <p:spPr bwMode="auto">
            <a:xfrm flipH="1">
              <a:off x="2197" y="3313"/>
              <a:ext cx="551" cy="1017"/>
            </a:xfrm>
            <a:custGeom>
              <a:avLst/>
              <a:gdLst>
                <a:gd name="T0" fmla="*/ 0 w 528"/>
                <a:gd name="T1" fmla="*/ 68 h 1104"/>
                <a:gd name="T2" fmla="*/ 2249 w 528"/>
                <a:gd name="T3" fmla="*/ 55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68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solidFill>
              <a:srgbClr val="91B6DB"/>
            </a:soli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13" name="Freeform 152"/>
            <p:cNvSpPr>
              <a:spLocks/>
            </p:cNvSpPr>
            <p:nvPr/>
          </p:nvSpPr>
          <p:spPr bwMode="auto">
            <a:xfrm>
              <a:off x="1589" y="3308"/>
              <a:ext cx="551" cy="1020"/>
            </a:xfrm>
            <a:custGeom>
              <a:avLst/>
              <a:gdLst>
                <a:gd name="T0" fmla="*/ 0 w 528"/>
                <a:gd name="T1" fmla="*/ 74 h 1104"/>
                <a:gd name="T2" fmla="*/ 2249 w 528"/>
                <a:gd name="T3" fmla="*/ 62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74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solidFill>
              <a:srgbClr val="91B6DB"/>
            </a:soli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14" name="Freeform 153"/>
            <p:cNvSpPr>
              <a:spLocks/>
            </p:cNvSpPr>
            <p:nvPr/>
          </p:nvSpPr>
          <p:spPr bwMode="auto">
            <a:xfrm>
              <a:off x="1607" y="3320"/>
              <a:ext cx="551" cy="1019"/>
            </a:xfrm>
            <a:custGeom>
              <a:avLst/>
              <a:gdLst>
                <a:gd name="T0" fmla="*/ 0 w 528"/>
                <a:gd name="T1" fmla="*/ 72 h 1104"/>
                <a:gd name="T2" fmla="*/ 2249 w 528"/>
                <a:gd name="T3" fmla="*/ 61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72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gradFill rotWithShape="0">
              <a:gsLst>
                <a:gs pos="0">
                  <a:srgbClr val="E8F0F7"/>
                </a:gs>
                <a:gs pos="100000">
                  <a:srgbClr val="D2E1F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 sz="2000"/>
            </a:p>
          </p:txBody>
        </p:sp>
        <p:sp>
          <p:nvSpPr>
            <p:cNvPr id="115" name="AutoShape 154"/>
            <p:cNvSpPr>
              <a:spLocks noChangeArrowheads="1"/>
            </p:cNvSpPr>
            <p:nvPr/>
          </p:nvSpPr>
          <p:spPr bwMode="auto">
            <a:xfrm rot="-5400000">
              <a:off x="537" y="3242"/>
              <a:ext cx="843" cy="1351"/>
            </a:xfrm>
            <a:prstGeom prst="roundRect">
              <a:avLst>
                <a:gd name="adj" fmla="val 4273"/>
              </a:avLst>
            </a:prstGeom>
            <a:solidFill>
              <a:srgbClr val="D2E1F0"/>
            </a:solidFill>
            <a:ln w="9525">
              <a:solidFill>
                <a:srgbClr val="94B8DC"/>
              </a:solidFill>
              <a:round/>
              <a:headEnd/>
              <a:tailEnd/>
            </a:ln>
          </p:spPr>
          <p:txBody>
            <a:bodyPr rot="10800000" wrap="none" lIns="83969" tIns="41985" rIns="83969" bIns="41985" anchor="ctr"/>
            <a:lstStyle/>
            <a:p>
              <a:pPr defTabSz="839788" eaLnBrk="0" hangingPunct="0">
                <a:buFontTx/>
                <a:buChar char="•"/>
              </a:pPr>
              <a:endParaRPr kumimoji="0" lang="ko-KR" altLang="ko-KR" sz="1000">
                <a:latin typeface="HY울릉도B" pitchFamily="18" charset="-127"/>
                <a:ea typeface="HY울릉도B" pitchFamily="18" charset="-127"/>
              </a:endParaRPr>
            </a:p>
          </p:txBody>
        </p:sp>
        <p:sp>
          <p:nvSpPr>
            <p:cNvPr id="116" name="AutoShape 155"/>
            <p:cNvSpPr>
              <a:spLocks noChangeArrowheads="1"/>
            </p:cNvSpPr>
            <p:nvPr/>
          </p:nvSpPr>
          <p:spPr bwMode="gray">
            <a:xfrm rot="-5400000">
              <a:off x="574" y="3279"/>
              <a:ext cx="770" cy="1276"/>
            </a:xfrm>
            <a:prstGeom prst="roundRect">
              <a:avLst>
                <a:gd name="adj" fmla="val 4273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prstShdw prst="shdw17" dist="17961" dir="2700000">
                <a:srgbClr val="B3D9E7"/>
              </a:prstShdw>
            </a:effectLst>
          </p:spPr>
          <p:txBody>
            <a:bodyPr rot="10800000" wrap="none" lIns="83969" tIns="41985" rIns="83969" bIns="41985" anchor="ctr"/>
            <a:lstStyle/>
            <a:p>
              <a:pPr defTabSz="839788" eaLnBrk="0" latinLnBrk="0" hangingPunct="0"/>
              <a:endParaRPr kumimoji="0" lang="ko-KR" altLang="ko-KR" sz="10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Freeform 156"/>
            <p:cNvSpPr>
              <a:spLocks/>
            </p:cNvSpPr>
            <p:nvPr/>
          </p:nvSpPr>
          <p:spPr bwMode="auto">
            <a:xfrm>
              <a:off x="1607" y="4216"/>
              <a:ext cx="551" cy="1020"/>
            </a:xfrm>
            <a:custGeom>
              <a:avLst/>
              <a:gdLst>
                <a:gd name="T0" fmla="*/ 0 w 528"/>
                <a:gd name="T1" fmla="*/ 74 h 1104"/>
                <a:gd name="T2" fmla="*/ 2249 w 528"/>
                <a:gd name="T3" fmla="*/ 62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74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gradFill rotWithShape="0">
              <a:gsLst>
                <a:gs pos="0">
                  <a:srgbClr val="E8F0F7"/>
                </a:gs>
                <a:gs pos="100000">
                  <a:srgbClr val="D2E1F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18" name="AutoShape 157"/>
            <p:cNvSpPr>
              <a:spLocks noChangeArrowheads="1"/>
            </p:cNvSpPr>
            <p:nvPr/>
          </p:nvSpPr>
          <p:spPr bwMode="auto">
            <a:xfrm rot="-5400000">
              <a:off x="535" y="4142"/>
              <a:ext cx="849" cy="1351"/>
            </a:xfrm>
            <a:prstGeom prst="roundRect">
              <a:avLst>
                <a:gd name="adj" fmla="val 4273"/>
              </a:avLst>
            </a:prstGeom>
            <a:solidFill>
              <a:srgbClr val="D2E1F0"/>
            </a:solidFill>
            <a:ln w="9525">
              <a:solidFill>
                <a:srgbClr val="94B8DC"/>
              </a:solidFill>
              <a:round/>
              <a:headEnd/>
              <a:tailEnd/>
            </a:ln>
          </p:spPr>
          <p:txBody>
            <a:bodyPr rot="10800000" wrap="none" lIns="83969" tIns="41985" rIns="83969" bIns="41985" anchor="ctr"/>
            <a:lstStyle/>
            <a:p>
              <a:pPr defTabSz="839788" eaLnBrk="0" hangingPunct="0">
                <a:buFontTx/>
                <a:buChar char="•"/>
              </a:pPr>
              <a:endParaRPr kumimoji="0" lang="ko-KR" altLang="ko-KR" sz="1000">
                <a:latin typeface="HY울릉도B" pitchFamily="18" charset="-127"/>
                <a:ea typeface="HY울릉도B" pitchFamily="18" charset="-127"/>
              </a:endParaRPr>
            </a:p>
          </p:txBody>
        </p:sp>
        <p:sp>
          <p:nvSpPr>
            <p:cNvPr id="119" name="AutoShape 158"/>
            <p:cNvSpPr>
              <a:spLocks noChangeArrowheads="1"/>
            </p:cNvSpPr>
            <p:nvPr/>
          </p:nvSpPr>
          <p:spPr bwMode="gray">
            <a:xfrm rot="-5400000">
              <a:off x="567" y="4183"/>
              <a:ext cx="782" cy="1276"/>
            </a:xfrm>
            <a:prstGeom prst="roundRect">
              <a:avLst>
                <a:gd name="adj" fmla="val 4273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prstShdw prst="shdw17" dist="17961" dir="2700000">
                <a:srgbClr val="B3D9E7"/>
              </a:prstShdw>
            </a:effectLst>
          </p:spPr>
          <p:txBody>
            <a:bodyPr rot="10800000" wrap="none" lIns="83969" tIns="41985" rIns="83969" bIns="41985" anchor="ctr"/>
            <a:lstStyle/>
            <a:p>
              <a:pPr defTabSz="839788" eaLnBrk="0" latinLnBrk="0" hangingPunct="0"/>
              <a:endParaRPr kumimoji="0" lang="ko-KR" altLang="ko-KR" sz="10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0" name="Freeform 159"/>
            <p:cNvSpPr>
              <a:spLocks/>
            </p:cNvSpPr>
            <p:nvPr/>
          </p:nvSpPr>
          <p:spPr bwMode="auto">
            <a:xfrm flipH="1">
              <a:off x="2178" y="3320"/>
              <a:ext cx="551" cy="1019"/>
            </a:xfrm>
            <a:custGeom>
              <a:avLst/>
              <a:gdLst>
                <a:gd name="T0" fmla="*/ 0 w 528"/>
                <a:gd name="T1" fmla="*/ 72 h 1104"/>
                <a:gd name="T2" fmla="*/ 2249 w 528"/>
                <a:gd name="T3" fmla="*/ 61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72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gradFill rotWithShape="0">
              <a:gsLst>
                <a:gs pos="0">
                  <a:srgbClr val="D2E1F0"/>
                </a:gs>
                <a:gs pos="100000">
                  <a:srgbClr val="E8F0F7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21" name="AutoShape 160"/>
            <p:cNvSpPr>
              <a:spLocks noChangeArrowheads="1"/>
            </p:cNvSpPr>
            <p:nvPr/>
          </p:nvSpPr>
          <p:spPr bwMode="auto">
            <a:xfrm rot="5400000" flipH="1">
              <a:off x="2952" y="3242"/>
              <a:ext cx="843" cy="1351"/>
            </a:xfrm>
            <a:prstGeom prst="roundRect">
              <a:avLst>
                <a:gd name="adj" fmla="val 4273"/>
              </a:avLst>
            </a:prstGeom>
            <a:solidFill>
              <a:srgbClr val="D2E1F0"/>
            </a:solidFill>
            <a:ln w="9525">
              <a:solidFill>
                <a:srgbClr val="94B8DC"/>
              </a:solidFill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pPr defTabSz="839788" eaLnBrk="0" hangingPunct="0">
                <a:buFontTx/>
                <a:buChar char="•"/>
              </a:pPr>
              <a:endParaRPr kumimoji="0" lang="ko-KR" altLang="ko-KR" sz="1000">
                <a:latin typeface="HY울릉도B" pitchFamily="18" charset="-127"/>
                <a:ea typeface="HY울릉도B" pitchFamily="18" charset="-127"/>
              </a:endParaRPr>
            </a:p>
          </p:txBody>
        </p:sp>
        <p:sp>
          <p:nvSpPr>
            <p:cNvPr id="122" name="AutoShape 161"/>
            <p:cNvSpPr>
              <a:spLocks noChangeArrowheads="1"/>
            </p:cNvSpPr>
            <p:nvPr/>
          </p:nvSpPr>
          <p:spPr bwMode="gray">
            <a:xfrm rot="5400000" flipH="1">
              <a:off x="2988" y="3279"/>
              <a:ext cx="770" cy="1276"/>
            </a:xfrm>
            <a:prstGeom prst="roundRect">
              <a:avLst>
                <a:gd name="adj" fmla="val 4273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prstShdw prst="shdw17" dist="17961" dir="2700000">
                <a:srgbClr val="B3D9E7"/>
              </a:prstShdw>
            </a:effectLst>
          </p:spPr>
          <p:txBody>
            <a:bodyPr wrap="none" lIns="83969" tIns="41985" rIns="83969" bIns="41985" anchor="ctr"/>
            <a:lstStyle/>
            <a:p>
              <a:pPr defTabSz="839788" eaLnBrk="0" latinLnBrk="0" hangingPunct="0"/>
              <a:endParaRPr kumimoji="0" lang="ko-KR" altLang="ko-KR" sz="10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Freeform 162"/>
            <p:cNvSpPr>
              <a:spLocks/>
            </p:cNvSpPr>
            <p:nvPr/>
          </p:nvSpPr>
          <p:spPr bwMode="auto">
            <a:xfrm flipH="1">
              <a:off x="2176" y="4216"/>
              <a:ext cx="551" cy="1020"/>
            </a:xfrm>
            <a:custGeom>
              <a:avLst/>
              <a:gdLst>
                <a:gd name="T0" fmla="*/ 0 w 528"/>
                <a:gd name="T1" fmla="*/ 74 h 1104"/>
                <a:gd name="T2" fmla="*/ 2249 w 528"/>
                <a:gd name="T3" fmla="*/ 62 h 1104"/>
                <a:gd name="T4" fmla="*/ 2249 w 528"/>
                <a:gd name="T5" fmla="*/ 0 h 1104"/>
                <a:gd name="T6" fmla="*/ 0 w 528"/>
                <a:gd name="T7" fmla="*/ 13 h 1104"/>
                <a:gd name="T8" fmla="*/ 0 w 528"/>
                <a:gd name="T9" fmla="*/ 74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04"/>
                <a:gd name="T17" fmla="*/ 528 w 528"/>
                <a:gd name="T18" fmla="*/ 1104 h 1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04">
                  <a:moveTo>
                    <a:pt x="0" y="1104"/>
                  </a:moveTo>
                  <a:lnTo>
                    <a:pt x="528" y="912"/>
                  </a:lnTo>
                  <a:lnTo>
                    <a:pt x="528" y="0"/>
                  </a:lnTo>
                  <a:lnTo>
                    <a:pt x="0" y="192"/>
                  </a:lnTo>
                  <a:lnTo>
                    <a:pt x="0" y="1104"/>
                  </a:lnTo>
                  <a:close/>
                </a:path>
              </a:pathLst>
            </a:custGeom>
            <a:gradFill rotWithShape="0">
              <a:gsLst>
                <a:gs pos="0">
                  <a:srgbClr val="D2E1F0"/>
                </a:gs>
                <a:gs pos="100000">
                  <a:srgbClr val="E8F0F7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24" name="AutoShape 163"/>
            <p:cNvSpPr>
              <a:spLocks noChangeArrowheads="1"/>
            </p:cNvSpPr>
            <p:nvPr/>
          </p:nvSpPr>
          <p:spPr bwMode="auto">
            <a:xfrm rot="5400000" flipH="1">
              <a:off x="2941" y="4151"/>
              <a:ext cx="867" cy="1351"/>
            </a:xfrm>
            <a:prstGeom prst="roundRect">
              <a:avLst>
                <a:gd name="adj" fmla="val 4273"/>
              </a:avLst>
            </a:prstGeom>
            <a:solidFill>
              <a:srgbClr val="D2E1F0"/>
            </a:solidFill>
            <a:ln w="9525">
              <a:solidFill>
                <a:srgbClr val="94B8DC"/>
              </a:solidFill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pPr defTabSz="839788" eaLnBrk="0" hangingPunct="0">
                <a:buFontTx/>
                <a:buChar char="•"/>
              </a:pPr>
              <a:endParaRPr kumimoji="0" lang="ko-KR" altLang="ko-KR" sz="1000">
                <a:latin typeface="HY울릉도B" pitchFamily="18" charset="-127"/>
                <a:ea typeface="HY울릉도B" pitchFamily="18" charset="-127"/>
              </a:endParaRPr>
            </a:p>
          </p:txBody>
        </p:sp>
        <p:sp>
          <p:nvSpPr>
            <p:cNvPr id="125" name="AutoShape 164"/>
            <p:cNvSpPr>
              <a:spLocks noChangeArrowheads="1"/>
            </p:cNvSpPr>
            <p:nvPr/>
          </p:nvSpPr>
          <p:spPr bwMode="gray">
            <a:xfrm rot="5400000" flipH="1">
              <a:off x="2973" y="4191"/>
              <a:ext cx="799" cy="1276"/>
            </a:xfrm>
            <a:prstGeom prst="roundRect">
              <a:avLst>
                <a:gd name="adj" fmla="val 4273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prstShdw prst="shdw17" dist="17961" dir="2700000">
                <a:srgbClr val="B3D9E7"/>
              </a:prstShdw>
            </a:effectLst>
          </p:spPr>
          <p:txBody>
            <a:bodyPr wrap="none" lIns="83969" tIns="41985" rIns="83969" bIns="41985" anchor="ctr"/>
            <a:lstStyle/>
            <a:p>
              <a:pPr defTabSz="839788" eaLnBrk="0" latinLnBrk="0" hangingPunct="0"/>
              <a:endParaRPr kumimoji="0" lang="ko-KR" altLang="ko-KR" sz="10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6" name="Rectangle 165"/>
            <p:cNvSpPr>
              <a:spLocks noChangeArrowheads="1"/>
            </p:cNvSpPr>
            <p:nvPr/>
          </p:nvSpPr>
          <p:spPr bwMode="auto">
            <a:xfrm>
              <a:off x="1626" y="3664"/>
              <a:ext cx="413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pPr algn="ctr" defTabSz="839788" eaLnBrk="0" latinLnBrk="0" hangingPunct="0"/>
              <a:r>
                <a:rPr lang="en-US" altLang="ko-KR" sz="900" b="1" dirty="0">
                  <a:latin typeface="휴먼신그래픽"/>
                  <a:ea typeface="휴먼신그래픽"/>
                  <a:cs typeface="휴먼신그래픽"/>
                </a:rPr>
                <a:t>1. </a:t>
              </a:r>
              <a:r>
                <a:rPr lang="ko-KR" altLang="en-US" sz="900" b="1" dirty="0">
                  <a:latin typeface="휴먼신그래픽"/>
                  <a:ea typeface="휴먼신그래픽"/>
                  <a:cs typeface="휴먼신그래픽"/>
                </a:rPr>
                <a:t>환경분석</a:t>
              </a:r>
            </a:p>
          </p:txBody>
        </p:sp>
        <p:sp>
          <p:nvSpPr>
            <p:cNvPr id="127" name="Rectangle 166"/>
            <p:cNvSpPr>
              <a:spLocks noChangeArrowheads="1"/>
            </p:cNvSpPr>
            <p:nvPr/>
          </p:nvSpPr>
          <p:spPr bwMode="auto">
            <a:xfrm>
              <a:off x="2173" y="3636"/>
              <a:ext cx="412" cy="3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pPr algn="ctr" defTabSz="839788" eaLnBrk="0" latinLnBrk="0" hangingPunct="0"/>
              <a:r>
                <a:rPr kumimoji="0" lang="en-US" altLang="ko-KR" sz="900" b="1" dirty="0">
                  <a:latin typeface="휴먼신그래픽"/>
                  <a:ea typeface="휴먼신그래픽"/>
                  <a:cs typeface="휴먼신그래픽"/>
                </a:rPr>
                <a:t>2. </a:t>
              </a:r>
              <a:r>
                <a:rPr kumimoji="0" lang="ko-KR" altLang="en-US" sz="900" b="1" dirty="0">
                  <a:latin typeface="휴먼신그래픽"/>
                  <a:ea typeface="휴먼신그래픽"/>
                  <a:cs typeface="휴먼신그래픽"/>
                </a:rPr>
                <a:t>현황분석</a:t>
              </a:r>
            </a:p>
          </p:txBody>
        </p:sp>
        <p:sp>
          <p:nvSpPr>
            <p:cNvPr id="128" name="Rectangle 167"/>
            <p:cNvSpPr>
              <a:spLocks noChangeArrowheads="1"/>
            </p:cNvSpPr>
            <p:nvPr/>
          </p:nvSpPr>
          <p:spPr bwMode="auto">
            <a:xfrm>
              <a:off x="1621" y="4570"/>
              <a:ext cx="580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pPr algn="ctr" defTabSz="839788" eaLnBrk="0" latinLnBrk="0" hangingPunct="0"/>
              <a:r>
                <a:rPr lang="en-US" altLang="ko-KR" sz="900" b="1" dirty="0">
                  <a:latin typeface="휴먼신그래픽"/>
                  <a:ea typeface="휴먼신그래픽"/>
                  <a:cs typeface="휴먼신그래픽"/>
                </a:rPr>
                <a:t>3. </a:t>
              </a:r>
              <a:r>
                <a:rPr lang="ko-KR" altLang="en-US" sz="900" b="1" dirty="0">
                  <a:latin typeface="휴먼신그래픽"/>
                  <a:ea typeface="휴먼신그래픽"/>
                  <a:cs typeface="휴먼신그래픽"/>
                </a:rPr>
                <a:t>목표모델 </a:t>
              </a:r>
            </a:p>
          </p:txBody>
        </p:sp>
        <p:sp>
          <p:nvSpPr>
            <p:cNvPr id="129" name="Rectangle 168"/>
            <p:cNvSpPr>
              <a:spLocks noChangeArrowheads="1"/>
            </p:cNvSpPr>
            <p:nvPr/>
          </p:nvSpPr>
          <p:spPr bwMode="auto">
            <a:xfrm>
              <a:off x="2176" y="4580"/>
              <a:ext cx="412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pPr algn="ctr" defTabSz="839788" eaLnBrk="0" latinLnBrk="0" hangingPunct="0"/>
              <a:r>
                <a:rPr lang="en-US" altLang="ko-KR" sz="900" b="1" dirty="0">
                  <a:latin typeface="휴먼신그래픽"/>
                  <a:ea typeface="휴먼신그래픽"/>
                  <a:cs typeface="휴먼신그래픽"/>
                </a:rPr>
                <a:t>4. </a:t>
              </a:r>
              <a:r>
                <a:rPr lang="ko-KR" altLang="en-US" sz="900" b="1" dirty="0">
                  <a:latin typeface="휴먼신그래픽"/>
                  <a:ea typeface="휴먼신그래픽"/>
                  <a:cs typeface="휴먼신그래픽"/>
                </a:rPr>
                <a:t>이행계획</a:t>
              </a:r>
            </a:p>
            <a:p>
              <a:pPr defTabSz="839788" eaLnBrk="0" latinLnBrk="0" hangingPunct="0"/>
              <a:endParaRPr kumimoji="0" lang="ko-KR" altLang="en-US" sz="900" dirty="0">
                <a:latin typeface="휴먼신그래픽"/>
                <a:ea typeface="휴먼신그래픽"/>
                <a:cs typeface="휴먼신그래픽"/>
              </a:endParaRPr>
            </a:p>
          </p:txBody>
        </p:sp>
      </p:grpSp>
      <p:grpSp>
        <p:nvGrpSpPr>
          <p:cNvPr id="135" name="Group 183"/>
          <p:cNvGrpSpPr>
            <a:grpSpLocks/>
          </p:cNvGrpSpPr>
          <p:nvPr/>
        </p:nvGrpSpPr>
        <p:grpSpPr bwMode="auto">
          <a:xfrm>
            <a:off x="1710482" y="1643050"/>
            <a:ext cx="5753140" cy="966558"/>
            <a:chOff x="785" y="1904"/>
            <a:chExt cx="2854" cy="1007"/>
          </a:xfrm>
        </p:grpSpPr>
        <p:grpSp>
          <p:nvGrpSpPr>
            <p:cNvPr id="146" name="Group 184"/>
            <p:cNvGrpSpPr>
              <a:grpSpLocks/>
            </p:cNvGrpSpPr>
            <p:nvPr/>
          </p:nvGrpSpPr>
          <p:grpSpPr bwMode="auto">
            <a:xfrm>
              <a:off x="785" y="2191"/>
              <a:ext cx="2854" cy="720"/>
              <a:chOff x="1080" y="3000"/>
              <a:chExt cx="912" cy="543"/>
            </a:xfrm>
          </p:grpSpPr>
          <p:sp>
            <p:nvSpPr>
              <p:cNvPr id="150" name="AutoShape 185"/>
              <p:cNvSpPr>
                <a:spLocks/>
              </p:cNvSpPr>
              <p:nvPr/>
            </p:nvSpPr>
            <p:spPr bwMode="auto">
              <a:xfrm rot="-5400000">
                <a:off x="1392" y="2943"/>
                <a:ext cx="288" cy="912"/>
              </a:xfrm>
              <a:prstGeom prst="leftBracket">
                <a:avLst>
                  <a:gd name="adj" fmla="val 158333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ABC7E3"/>
                  </a:gs>
                </a:gsLst>
                <a:lin ang="5400000" scaled="1"/>
              </a:gradFill>
              <a:ln w="19050">
                <a:noFill/>
                <a:prstDash val="sysDot"/>
                <a:round/>
                <a:headEnd/>
                <a:tailEnd/>
              </a:ln>
            </p:spPr>
            <p:txBody>
              <a:bodyPr vert="eaVert" wrap="none" lIns="83969" tIns="41985" rIns="83969" bIns="41985" anchor="ctr"/>
              <a:lstStyle/>
              <a:p>
                <a:pPr defTabSz="839788" eaLnBrk="0" latinLnBrk="0" hangingPunct="0">
                  <a:lnSpc>
                    <a:spcPct val="130000"/>
                  </a:lnSpc>
                  <a:buFont typeface="Wingdings" pitchFamily="2" charset="2"/>
                  <a:buChar char=""/>
                </a:pPr>
                <a:endParaRPr kumimoji="0" lang="ko-KR" altLang="ko-KR" sz="100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51" name="AutoShape 186"/>
              <p:cNvSpPr>
                <a:spLocks/>
              </p:cNvSpPr>
              <p:nvPr/>
            </p:nvSpPr>
            <p:spPr bwMode="auto">
              <a:xfrm rot="-5400000">
                <a:off x="1392" y="2799"/>
                <a:ext cx="288" cy="690"/>
              </a:xfrm>
              <a:prstGeom prst="leftBracket">
                <a:avLst>
                  <a:gd name="adj" fmla="val 119792"/>
                </a:avLst>
              </a:prstGeom>
              <a:solidFill>
                <a:schemeClr val="bg1"/>
              </a:solidFill>
              <a:ln w="19050">
                <a:noFill/>
                <a:prstDash val="sysDot"/>
                <a:round/>
                <a:headEnd/>
                <a:tailEnd/>
              </a:ln>
            </p:spPr>
            <p:txBody>
              <a:bodyPr vert="eaVert" wrap="none" lIns="83969" tIns="41985" rIns="83969" bIns="41985" anchor="ctr"/>
              <a:lstStyle/>
              <a:p>
                <a:pPr defTabSz="839788" eaLnBrk="0" latinLnBrk="0" hangingPunct="0">
                  <a:lnSpc>
                    <a:spcPct val="130000"/>
                  </a:lnSpc>
                  <a:buFont typeface="Wingdings" pitchFamily="2" charset="2"/>
                  <a:buChar char=""/>
                </a:pPr>
                <a:endParaRPr kumimoji="0" lang="ko-KR" altLang="ko-KR" sz="100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grpSp>
          <p:nvGrpSpPr>
            <p:cNvPr id="147" name="Group 187"/>
            <p:cNvGrpSpPr>
              <a:grpSpLocks/>
            </p:cNvGrpSpPr>
            <p:nvPr/>
          </p:nvGrpSpPr>
          <p:grpSpPr bwMode="auto">
            <a:xfrm>
              <a:off x="1051" y="1904"/>
              <a:ext cx="2322" cy="678"/>
              <a:chOff x="1080" y="3000"/>
              <a:chExt cx="912" cy="288"/>
            </a:xfrm>
          </p:grpSpPr>
          <p:sp>
            <p:nvSpPr>
              <p:cNvPr id="148" name="AutoShape 188"/>
              <p:cNvSpPr>
                <a:spLocks/>
              </p:cNvSpPr>
              <p:nvPr/>
            </p:nvSpPr>
            <p:spPr bwMode="auto">
              <a:xfrm rot="-5400000">
                <a:off x="1392" y="2688"/>
                <a:ext cx="288" cy="912"/>
              </a:xfrm>
              <a:prstGeom prst="leftBracket">
                <a:avLst>
                  <a:gd name="adj" fmla="val 158333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ABC7E3"/>
                  </a:gs>
                </a:gsLst>
                <a:lin ang="5400000" scaled="1"/>
              </a:gradFill>
              <a:ln w="19050">
                <a:noFill/>
                <a:prstDash val="sysDot"/>
                <a:round/>
                <a:headEnd/>
                <a:tailEnd/>
              </a:ln>
            </p:spPr>
            <p:txBody>
              <a:bodyPr vert="eaVert" wrap="none" lIns="83969" tIns="41985" rIns="83969" bIns="41985" anchor="ctr"/>
              <a:lstStyle/>
              <a:p>
                <a:pPr defTabSz="839788" eaLnBrk="0" latinLnBrk="0" hangingPunct="0">
                  <a:lnSpc>
                    <a:spcPct val="130000"/>
                  </a:lnSpc>
                  <a:buFont typeface="Wingdings" pitchFamily="2" charset="2"/>
                  <a:buChar char=""/>
                </a:pPr>
                <a:endParaRPr kumimoji="0" lang="ko-KR" altLang="ko-KR" sz="100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9" name="AutoShape 189"/>
              <p:cNvSpPr>
                <a:spLocks/>
              </p:cNvSpPr>
              <p:nvPr/>
            </p:nvSpPr>
            <p:spPr bwMode="auto">
              <a:xfrm rot="-5400000">
                <a:off x="1392" y="2799"/>
                <a:ext cx="288" cy="690"/>
              </a:xfrm>
              <a:prstGeom prst="leftBracket">
                <a:avLst>
                  <a:gd name="adj" fmla="val 119792"/>
                </a:avLst>
              </a:prstGeom>
              <a:solidFill>
                <a:schemeClr val="bg1"/>
              </a:solidFill>
              <a:ln w="19050">
                <a:noFill/>
                <a:prstDash val="sysDot"/>
                <a:round/>
                <a:headEnd/>
                <a:tailEnd/>
              </a:ln>
            </p:spPr>
            <p:txBody>
              <a:bodyPr vert="eaVert" wrap="none" lIns="83969" tIns="41985" rIns="83969" bIns="41985" anchor="ctr"/>
              <a:lstStyle/>
              <a:p>
                <a:pPr defTabSz="839788" eaLnBrk="0" latinLnBrk="0" hangingPunct="0">
                  <a:lnSpc>
                    <a:spcPct val="130000"/>
                  </a:lnSpc>
                  <a:buFont typeface="Wingdings" pitchFamily="2" charset="2"/>
                  <a:buChar char=""/>
                </a:pPr>
                <a:endParaRPr kumimoji="0" lang="ko-KR" altLang="ko-KR" sz="100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  <p:grpSp>
        <p:nvGrpSpPr>
          <p:cNvPr id="134" name="Group 179"/>
          <p:cNvGrpSpPr>
            <a:grpSpLocks/>
          </p:cNvGrpSpPr>
          <p:nvPr/>
        </p:nvGrpSpPr>
        <p:grpSpPr bwMode="auto">
          <a:xfrm>
            <a:off x="980756" y="2071678"/>
            <a:ext cx="7212590" cy="1281251"/>
            <a:chOff x="365" y="544"/>
            <a:chExt cx="3578" cy="1476"/>
          </a:xfrm>
        </p:grpSpPr>
        <p:sp>
          <p:nvSpPr>
            <p:cNvPr id="152" name="Arc 180"/>
            <p:cNvSpPr>
              <a:spLocks/>
            </p:cNvSpPr>
            <p:nvPr/>
          </p:nvSpPr>
          <p:spPr bwMode="auto">
            <a:xfrm>
              <a:off x="365" y="722"/>
              <a:ext cx="3578" cy="1298"/>
            </a:xfrm>
            <a:custGeom>
              <a:avLst/>
              <a:gdLst>
                <a:gd name="T0" fmla="*/ 0 w 43162"/>
                <a:gd name="T1" fmla="*/ 0 h 21600"/>
                <a:gd name="T2" fmla="*/ 0 w 43162"/>
                <a:gd name="T3" fmla="*/ 0 h 21600"/>
                <a:gd name="T4" fmla="*/ 0 w 43162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62"/>
                <a:gd name="T10" fmla="*/ 0 h 21600"/>
                <a:gd name="T11" fmla="*/ 43162 w 4316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62" h="21600" fill="none" extrusionOk="0">
                  <a:moveTo>
                    <a:pt x="0" y="20642"/>
                  </a:moveTo>
                  <a:cubicBezTo>
                    <a:pt x="512" y="9096"/>
                    <a:pt x="10022" y="-1"/>
                    <a:pt x="21579" y="0"/>
                  </a:cubicBezTo>
                  <a:cubicBezTo>
                    <a:pt x="33174" y="0"/>
                    <a:pt x="42701" y="9155"/>
                    <a:pt x="43161" y="20742"/>
                  </a:cubicBezTo>
                </a:path>
                <a:path w="43162" h="21600" stroke="0" extrusionOk="0">
                  <a:moveTo>
                    <a:pt x="0" y="20642"/>
                  </a:moveTo>
                  <a:cubicBezTo>
                    <a:pt x="512" y="9096"/>
                    <a:pt x="10022" y="-1"/>
                    <a:pt x="21579" y="0"/>
                  </a:cubicBezTo>
                  <a:cubicBezTo>
                    <a:pt x="33174" y="0"/>
                    <a:pt x="42701" y="9155"/>
                    <a:pt x="43161" y="20742"/>
                  </a:cubicBezTo>
                  <a:lnTo>
                    <a:pt x="21579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7CAFE8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53" name="Arc 181"/>
            <p:cNvSpPr>
              <a:spLocks/>
            </p:cNvSpPr>
            <p:nvPr/>
          </p:nvSpPr>
          <p:spPr bwMode="auto">
            <a:xfrm>
              <a:off x="624" y="544"/>
              <a:ext cx="3048" cy="1300"/>
            </a:xfrm>
            <a:custGeom>
              <a:avLst/>
              <a:gdLst>
                <a:gd name="T0" fmla="*/ 0 w 43192"/>
                <a:gd name="T1" fmla="*/ 0 h 21600"/>
                <a:gd name="T2" fmla="*/ 0 w 43192"/>
                <a:gd name="T3" fmla="*/ 0 h 21600"/>
                <a:gd name="T4" fmla="*/ 0 w 43192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92"/>
                <a:gd name="T10" fmla="*/ 0 h 21600"/>
                <a:gd name="T11" fmla="*/ 43192 w 4319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2" h="21600" fill="none" extrusionOk="0">
                  <a:moveTo>
                    <a:pt x="0" y="21000"/>
                  </a:moveTo>
                  <a:cubicBezTo>
                    <a:pt x="325" y="9308"/>
                    <a:pt x="9896" y="-1"/>
                    <a:pt x="21592" y="0"/>
                  </a:cubicBezTo>
                  <a:cubicBezTo>
                    <a:pt x="33521" y="0"/>
                    <a:pt x="43192" y="9670"/>
                    <a:pt x="43192" y="21600"/>
                  </a:cubicBezTo>
                </a:path>
                <a:path w="43192" h="21600" stroke="0" extrusionOk="0">
                  <a:moveTo>
                    <a:pt x="0" y="21000"/>
                  </a:moveTo>
                  <a:cubicBezTo>
                    <a:pt x="325" y="9308"/>
                    <a:pt x="9896" y="-1"/>
                    <a:pt x="21592" y="0"/>
                  </a:cubicBezTo>
                  <a:cubicBezTo>
                    <a:pt x="33521" y="0"/>
                    <a:pt x="43192" y="9670"/>
                    <a:pt x="43192" y="21600"/>
                  </a:cubicBezTo>
                  <a:lnTo>
                    <a:pt x="21592" y="2160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  <p:sp>
          <p:nvSpPr>
            <p:cNvPr id="154" name="Arc 182"/>
            <p:cNvSpPr>
              <a:spLocks/>
            </p:cNvSpPr>
            <p:nvPr/>
          </p:nvSpPr>
          <p:spPr bwMode="auto">
            <a:xfrm>
              <a:off x="980" y="548"/>
              <a:ext cx="2353" cy="1105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560"/>
                  </a:moveTo>
                  <a:cubicBezTo>
                    <a:pt x="22" y="9646"/>
                    <a:pt x="9686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560"/>
                  </a:moveTo>
                  <a:cubicBezTo>
                    <a:pt x="22" y="9646"/>
                    <a:pt x="9686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D5E3F1"/>
                </a:gs>
                <a:gs pos="100000">
                  <a:srgbClr val="FFFFFF"/>
                </a:gs>
              </a:gsLst>
              <a:lin ang="5400000" scaled="1"/>
            </a:gradFill>
            <a:ln w="28575">
              <a:noFill/>
              <a:round/>
              <a:headEnd/>
              <a:tailEnd/>
            </a:ln>
          </p:spPr>
          <p:txBody>
            <a:bodyPr wrap="none" lIns="83969" tIns="41985" rIns="83969" bIns="41985" anchor="ctr"/>
            <a:lstStyle/>
            <a:p>
              <a:endParaRPr lang="ko-KR" altLang="en-US"/>
            </a:p>
          </p:txBody>
        </p:sp>
      </p:grpSp>
      <p:sp>
        <p:nvSpPr>
          <p:cNvPr id="136" name="Rectangle 190"/>
          <p:cNvSpPr>
            <a:spLocks noChangeArrowheads="1"/>
          </p:cNvSpPr>
          <p:nvPr/>
        </p:nvSpPr>
        <p:spPr bwMode="auto">
          <a:xfrm>
            <a:off x="1240798" y="1994766"/>
            <a:ext cx="6571561" cy="3305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83969" tIns="41985" rIns="83969" bIns="41985" anchor="ctr">
            <a:spAutoFit/>
          </a:bodyPr>
          <a:lstStyle/>
          <a:p>
            <a:pPr algn="ctr" defTabSz="839788" eaLnBrk="0" latinLnBrk="0" hangingPunct="0"/>
            <a:r>
              <a:rPr kumimoji="0" lang="ko-KR" altLang="en-US" sz="1600" b="1" dirty="0">
                <a:latin typeface="휴먼신그래픽"/>
                <a:ea typeface="휴먼신그래픽"/>
                <a:cs typeface="휴먼신그래픽"/>
              </a:rPr>
              <a:t>병해충 발생상황의 실시간 파악으로</a:t>
            </a:r>
            <a:r>
              <a:rPr kumimoji="0" lang="en-US" altLang="ko-KR" sz="1600" b="1" dirty="0">
                <a:latin typeface="휴먼신그래픽"/>
                <a:ea typeface="휴먼신그래픽"/>
                <a:cs typeface="휴먼신그래픽"/>
              </a:rPr>
              <a:t>,</a:t>
            </a:r>
            <a:r>
              <a:rPr kumimoji="0" lang="ko-KR" altLang="en-US" sz="1600" b="1" dirty="0">
                <a:latin typeface="휴먼신그래픽"/>
                <a:ea typeface="휴먼신그래픽"/>
                <a:cs typeface="휴먼신그래픽"/>
              </a:rPr>
              <a:t> 피해경감 마련</a:t>
            </a:r>
          </a:p>
        </p:txBody>
      </p:sp>
      <p:sp>
        <p:nvSpPr>
          <p:cNvPr id="137" name="Rectangle 192"/>
          <p:cNvSpPr>
            <a:spLocks noChangeArrowheads="1"/>
          </p:cNvSpPr>
          <p:nvPr/>
        </p:nvSpPr>
        <p:spPr bwMode="auto">
          <a:xfrm>
            <a:off x="1434315" y="2428461"/>
            <a:ext cx="6184524" cy="638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3969" tIns="41985" rIns="83969" bIns="41985" anchor="ctr">
            <a:spAutoFit/>
          </a:bodyPr>
          <a:lstStyle/>
          <a:p>
            <a:pPr algn="ctr" defTabSz="839788" eaLnBrk="0" latinLnBrk="0" hangingPunct="0">
              <a:buFontTx/>
              <a:buChar char="-"/>
            </a:pPr>
            <a:r>
              <a:rPr kumimoji="0" lang="ko-KR" altLang="en-US" sz="1100" dirty="0">
                <a:latin typeface="휴먼신그래픽"/>
                <a:ea typeface="휴먼신그래픽"/>
                <a:cs typeface="휴먼신그래픽"/>
              </a:rPr>
              <a:t>  </a:t>
            </a:r>
            <a:r>
              <a:rPr kumimoji="0" lang="ko-KR" altLang="en-US" sz="1200" b="1" dirty="0">
                <a:latin typeface="휴먼신그래픽"/>
                <a:ea typeface="휴먼신그래픽"/>
                <a:cs typeface="휴먼신그래픽"/>
              </a:rPr>
              <a:t>미래지향적 체계구축 및 활용을 위한 업무개선방안 수립</a:t>
            </a:r>
            <a:endParaRPr kumimoji="0" lang="en-US" altLang="ko-KR" sz="1200" b="1" dirty="0">
              <a:latin typeface="휴먼신그래픽"/>
              <a:ea typeface="휴먼신그래픽"/>
              <a:cs typeface="휴먼신그래픽"/>
            </a:endParaRPr>
          </a:p>
          <a:p>
            <a:pPr defTabSz="839788" eaLnBrk="0" latinLnBrk="0" hangingPunct="0">
              <a:buFontTx/>
              <a:buChar char="-"/>
            </a:pPr>
            <a:endParaRPr kumimoji="0" lang="en-US" altLang="ko-KR" sz="1200" b="1" dirty="0">
              <a:latin typeface="휴먼신그래픽"/>
              <a:ea typeface="휴먼신그래픽"/>
              <a:cs typeface="휴먼신그래픽"/>
            </a:endParaRPr>
          </a:p>
          <a:p>
            <a:pPr algn="ctr" defTabSz="839788" eaLnBrk="0" latinLnBrk="0" hangingPunct="0">
              <a:buFontTx/>
              <a:buChar char="-"/>
            </a:pPr>
            <a:r>
              <a:rPr lang="ko-KR" altLang="en-US" sz="1200" b="1" dirty="0">
                <a:latin typeface="휴먼신그래픽"/>
                <a:ea typeface="휴먼신그래픽"/>
                <a:cs typeface="휴먼신그래픽"/>
              </a:rPr>
              <a:t> 체계적인 병해충 </a:t>
            </a:r>
            <a:r>
              <a:rPr lang="ko-KR" altLang="en-US" sz="1200" b="1" dirty="0" err="1">
                <a:latin typeface="휴먼신그래픽"/>
                <a:ea typeface="휴먼신그래픽"/>
                <a:cs typeface="휴먼신그래픽"/>
              </a:rPr>
              <a:t>예찰</a:t>
            </a:r>
            <a:r>
              <a:rPr lang="ko-KR" altLang="en-US" sz="1200" b="1" dirty="0">
                <a:latin typeface="휴먼신그래픽"/>
                <a:ea typeface="휴먼신그래픽"/>
                <a:cs typeface="휴먼신그래픽"/>
              </a:rPr>
              <a:t> 방제 네트워크  </a:t>
            </a:r>
            <a:r>
              <a:rPr lang="ko-KR" altLang="en-US" sz="1200" b="1" dirty="0" err="1">
                <a:latin typeface="휴먼신그래픽"/>
                <a:ea typeface="휴먼신그래픽"/>
                <a:cs typeface="휴먼신그래픽"/>
              </a:rPr>
              <a:t>원뷰</a:t>
            </a:r>
            <a:r>
              <a:rPr lang="ko-KR" altLang="en-US" sz="1200" b="1" dirty="0">
                <a:latin typeface="휴먼신그래픽"/>
                <a:ea typeface="휴먼신그래픽"/>
                <a:cs typeface="휴먼신그래픽"/>
              </a:rPr>
              <a:t> 정보시스템</a:t>
            </a:r>
            <a:endParaRPr kumimoji="0" lang="ko-KR" altLang="en-US" sz="1200" b="1" dirty="0">
              <a:latin typeface="휴먼신그래픽"/>
              <a:ea typeface="휴먼신그래픽"/>
              <a:cs typeface="휴먼신그래픽"/>
            </a:endParaRPr>
          </a:p>
        </p:txBody>
      </p:sp>
      <p:sp>
        <p:nvSpPr>
          <p:cNvPr id="138" name="AutoShape 196"/>
          <p:cNvSpPr>
            <a:spLocks noChangeArrowheads="1"/>
          </p:cNvSpPr>
          <p:nvPr/>
        </p:nvSpPr>
        <p:spPr bwMode="auto">
          <a:xfrm>
            <a:off x="859901" y="3703345"/>
            <a:ext cx="2491549" cy="309404"/>
          </a:xfrm>
          <a:prstGeom prst="roundRect">
            <a:avLst>
              <a:gd name="adj" fmla="val 16667"/>
            </a:avLst>
          </a:prstGeom>
          <a:solidFill>
            <a:srgbClr val="5990C7"/>
          </a:solidFill>
          <a:ln w="9525" algn="ctr">
            <a:noFill/>
            <a:round/>
            <a:headEnd/>
            <a:tailEnd/>
          </a:ln>
        </p:spPr>
        <p:txBody>
          <a:bodyPr lIns="83969" tIns="41985" rIns="83969" bIns="41985" anchor="ctr"/>
          <a:lstStyle/>
          <a:p>
            <a:pPr algn="ctr" defTabSz="839788" eaLnBrk="0" latinLnBrk="0" hangingPunct="0"/>
            <a:r>
              <a:rPr kumimoji="0" lang="ko-KR" altLang="en-US" sz="1000" dirty="0" err="1">
                <a:solidFill>
                  <a:schemeClr val="bg1"/>
                </a:solidFill>
                <a:latin typeface="휴먼신그래픽"/>
                <a:ea typeface="휴먼신그래픽"/>
                <a:cs typeface="휴먼신그래픽"/>
              </a:rPr>
              <a:t>병해충예찰</a:t>
            </a:r>
            <a:r>
              <a:rPr kumimoji="0" lang="ko-KR" altLang="en-US" sz="1000" dirty="0">
                <a:solidFill>
                  <a:schemeClr val="bg1"/>
                </a:solidFill>
                <a:latin typeface="휴먼신그래픽"/>
                <a:ea typeface="휴먼신그래픽"/>
                <a:cs typeface="휴먼신그래픽"/>
              </a:rPr>
              <a:t> 방제 체계 관련 국내외  환경분석</a:t>
            </a:r>
          </a:p>
        </p:txBody>
      </p:sp>
      <p:sp>
        <p:nvSpPr>
          <p:cNvPr id="139" name="AutoShape 197"/>
          <p:cNvSpPr>
            <a:spLocks noChangeArrowheads="1"/>
          </p:cNvSpPr>
          <p:nvPr/>
        </p:nvSpPr>
        <p:spPr bwMode="auto">
          <a:xfrm>
            <a:off x="5713460" y="3690645"/>
            <a:ext cx="2491549" cy="309404"/>
          </a:xfrm>
          <a:prstGeom prst="roundRect">
            <a:avLst>
              <a:gd name="adj" fmla="val 16667"/>
            </a:avLst>
          </a:prstGeom>
          <a:solidFill>
            <a:srgbClr val="5990C7"/>
          </a:solidFill>
          <a:ln w="9525" algn="ctr">
            <a:noFill/>
            <a:round/>
            <a:headEnd/>
            <a:tailEnd/>
          </a:ln>
        </p:spPr>
        <p:txBody>
          <a:bodyPr lIns="83969" tIns="41985" rIns="83969" bIns="41985" anchor="ctr"/>
          <a:lstStyle/>
          <a:p>
            <a:pPr algn="ctr" defTabSz="839788" eaLnBrk="0" latinLnBrk="0" hangingPunct="0">
              <a:buFont typeface="Wingdings" pitchFamily="2" charset="2"/>
              <a:buNone/>
            </a:pPr>
            <a:r>
              <a:rPr kumimoji="0" lang="ko-KR" altLang="en-US" sz="1000" dirty="0" err="1">
                <a:solidFill>
                  <a:srgbClr val="FFFFFF"/>
                </a:solidFill>
                <a:latin typeface="휴먼신그래픽"/>
                <a:ea typeface="휴먼신그래픽"/>
                <a:cs typeface="휴먼신그래픽"/>
              </a:rPr>
              <a:t>병해충예찰</a:t>
            </a:r>
            <a:r>
              <a:rPr kumimoji="0" lang="ko-KR" altLang="en-US" sz="1000" dirty="0">
                <a:solidFill>
                  <a:srgbClr val="FFFFFF"/>
                </a:solidFill>
                <a:latin typeface="휴먼신그래픽"/>
                <a:ea typeface="휴먼신그래픽"/>
                <a:cs typeface="휴먼신그래픽"/>
              </a:rPr>
              <a:t> 방제 네트워크 체계 현황분석</a:t>
            </a:r>
          </a:p>
        </p:txBody>
      </p:sp>
      <p:sp>
        <p:nvSpPr>
          <p:cNvPr id="140" name="AutoShape 198"/>
          <p:cNvSpPr>
            <a:spLocks noChangeArrowheads="1"/>
          </p:cNvSpPr>
          <p:nvPr/>
        </p:nvSpPr>
        <p:spPr bwMode="auto">
          <a:xfrm>
            <a:off x="849000" y="5013336"/>
            <a:ext cx="2491549" cy="309404"/>
          </a:xfrm>
          <a:prstGeom prst="roundRect">
            <a:avLst>
              <a:gd name="adj" fmla="val 16667"/>
            </a:avLst>
          </a:prstGeom>
          <a:solidFill>
            <a:srgbClr val="5990C7"/>
          </a:solidFill>
          <a:ln w="9525" algn="ctr">
            <a:noFill/>
            <a:round/>
            <a:headEnd/>
            <a:tailEnd/>
          </a:ln>
        </p:spPr>
        <p:txBody>
          <a:bodyPr lIns="83969" tIns="41985" rIns="83969" bIns="41985" anchor="ctr"/>
          <a:lstStyle/>
          <a:p>
            <a:pPr algn="ctr" defTabSz="839788" eaLnBrk="0" latinLnBrk="0" hangingPunct="0"/>
            <a:r>
              <a:rPr kumimoji="0" lang="ko-KR" altLang="en-US" sz="1000" dirty="0">
                <a:solidFill>
                  <a:schemeClr val="bg1"/>
                </a:solidFill>
                <a:latin typeface="휴먼신그래픽"/>
                <a:ea typeface="휴먼신그래픽"/>
                <a:cs typeface="휴먼신그래픽"/>
              </a:rPr>
              <a:t>병해충체계의 개선방향 및 구축방향 제시</a:t>
            </a:r>
          </a:p>
        </p:txBody>
      </p:sp>
      <p:sp>
        <p:nvSpPr>
          <p:cNvPr id="141" name="AutoShape 199"/>
          <p:cNvSpPr>
            <a:spLocks noChangeArrowheads="1"/>
          </p:cNvSpPr>
          <p:nvPr/>
        </p:nvSpPr>
        <p:spPr bwMode="auto">
          <a:xfrm>
            <a:off x="5803643" y="5000636"/>
            <a:ext cx="2491549" cy="495158"/>
          </a:xfrm>
          <a:prstGeom prst="roundRect">
            <a:avLst>
              <a:gd name="adj" fmla="val 16667"/>
            </a:avLst>
          </a:prstGeom>
          <a:solidFill>
            <a:srgbClr val="5990C7"/>
          </a:solidFill>
          <a:ln w="9525" algn="ctr">
            <a:noFill/>
            <a:round/>
            <a:headEnd/>
            <a:tailEnd/>
          </a:ln>
        </p:spPr>
        <p:txBody>
          <a:bodyPr lIns="83969" tIns="41985" rIns="83969" bIns="41985" anchor="ctr"/>
          <a:lstStyle/>
          <a:p>
            <a:pPr algn="ctr" defTabSz="839788" eaLnBrk="0" latinLnBrk="0" hangingPunct="0"/>
            <a:r>
              <a:rPr kumimoji="0" lang="ko-KR" altLang="en-US" sz="1000" dirty="0">
                <a:solidFill>
                  <a:schemeClr val="bg1"/>
                </a:solidFill>
                <a:latin typeface="휴먼신그래픽"/>
                <a:ea typeface="휴먼신그래픽"/>
                <a:cs typeface="휴먼신그래픽"/>
              </a:rPr>
              <a:t>효율적 </a:t>
            </a:r>
            <a:r>
              <a:rPr kumimoji="0" lang="ko-KR" altLang="en-US" sz="1000" dirty="0" err="1">
                <a:solidFill>
                  <a:schemeClr val="bg1"/>
                </a:solidFill>
                <a:latin typeface="휴먼신그래픽"/>
                <a:ea typeface="휴먼신그래픽"/>
                <a:cs typeface="휴먼신그래픽"/>
              </a:rPr>
              <a:t>병해충예찰</a:t>
            </a:r>
            <a:r>
              <a:rPr kumimoji="0" lang="ko-KR" altLang="en-US" sz="1000" dirty="0">
                <a:solidFill>
                  <a:schemeClr val="bg1"/>
                </a:solidFill>
                <a:latin typeface="휴먼신그래픽"/>
                <a:ea typeface="휴먼신그래픽"/>
                <a:cs typeface="휴먼신그래픽"/>
              </a:rPr>
              <a:t> 방제 네트워크 마련을 위한 이행계획수립</a:t>
            </a:r>
          </a:p>
        </p:txBody>
      </p:sp>
      <p:sp>
        <p:nvSpPr>
          <p:cNvPr id="142" name="Rectangle 200"/>
          <p:cNvSpPr>
            <a:spLocks noChangeArrowheads="1"/>
          </p:cNvSpPr>
          <p:nvPr/>
        </p:nvSpPr>
        <p:spPr bwMode="auto">
          <a:xfrm>
            <a:off x="823523" y="4054816"/>
            <a:ext cx="2537913" cy="528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3059" tIns="33059" rIns="33059" bIns="33059" anchor="ctr">
            <a:spAutoFit/>
          </a:bodyPr>
          <a:lstStyle/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국내 병해충 관련 환경분석</a:t>
            </a:r>
          </a:p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 err="1">
                <a:latin typeface="HY그래픽M" pitchFamily="18" charset="-127"/>
                <a:ea typeface="HY그래픽M" pitchFamily="18" charset="-127"/>
              </a:rPr>
              <a:t>정보화기술동향</a:t>
            </a:r>
            <a:r>
              <a:rPr kumimoji="0" lang="en-US" altLang="ko-KR" sz="1000" dirty="0">
                <a:latin typeface="HY그래픽M" pitchFamily="18" charset="-127"/>
                <a:ea typeface="HY그래픽M" pitchFamily="18" charset="-127"/>
              </a:rPr>
              <a:t>(</a:t>
            </a: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벤치마킹</a:t>
            </a:r>
            <a:r>
              <a:rPr kumimoji="0" lang="en-US" altLang="ko-KR" sz="1000" dirty="0">
                <a:latin typeface="HY그래픽M" pitchFamily="18" charset="-127"/>
                <a:ea typeface="HY그래픽M" pitchFamily="18" charset="-127"/>
              </a:rPr>
              <a:t>)</a:t>
            </a:r>
          </a:p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lang="en-US" altLang="ko-KR" sz="1000" dirty="0">
                <a:latin typeface="HY그래픽M" pitchFamily="18" charset="-127"/>
                <a:ea typeface="HY그래픽M" pitchFamily="18" charset="-127"/>
              </a:rPr>
              <a:t> 3C, SWOT</a:t>
            </a:r>
            <a:r>
              <a:rPr lang="ko-KR" altLang="en-US" sz="1000" dirty="0">
                <a:latin typeface="HY그래픽M" pitchFamily="18" charset="-127"/>
                <a:ea typeface="HY그래픽M" pitchFamily="18" charset="-127"/>
              </a:rPr>
              <a:t>등</a:t>
            </a:r>
            <a:endParaRPr kumimoji="0" lang="ko-KR" altLang="en-US" sz="1000" dirty="0">
              <a:latin typeface="HY그래픽M" pitchFamily="18" charset="-127"/>
              <a:ea typeface="HY그래픽M" pitchFamily="18" charset="-127"/>
            </a:endParaRPr>
          </a:p>
        </p:txBody>
      </p:sp>
      <p:sp>
        <p:nvSpPr>
          <p:cNvPr id="143" name="Rectangle 201"/>
          <p:cNvSpPr>
            <a:spLocks noChangeArrowheads="1"/>
          </p:cNvSpPr>
          <p:nvPr/>
        </p:nvSpPr>
        <p:spPr bwMode="auto">
          <a:xfrm>
            <a:off x="5701798" y="4123573"/>
            <a:ext cx="2537913" cy="682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3059" tIns="33059" rIns="33059" bIns="33059" anchor="ctr">
            <a:spAutoFit/>
          </a:bodyPr>
          <a:lstStyle/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병해충 관련 업무 분석</a:t>
            </a:r>
          </a:p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병해충관련 정보화 현황 분석</a:t>
            </a:r>
          </a:p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현행 병해충체계에 대한 핵심 이슈 및 추진과제 도출</a:t>
            </a:r>
          </a:p>
        </p:txBody>
      </p:sp>
      <p:sp>
        <p:nvSpPr>
          <p:cNvPr id="144" name="Rectangle 202"/>
          <p:cNvSpPr>
            <a:spLocks noChangeArrowheads="1"/>
          </p:cNvSpPr>
          <p:nvPr/>
        </p:nvSpPr>
        <p:spPr bwMode="auto">
          <a:xfrm>
            <a:off x="823523" y="5292433"/>
            <a:ext cx="2537913" cy="682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3059" tIns="33059" rIns="33059" bIns="33059" anchor="ctr">
            <a:spAutoFit/>
          </a:bodyPr>
          <a:lstStyle/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병해충체계 개선을 위한 조직 인력 개선방안</a:t>
            </a:r>
            <a:endParaRPr kumimoji="0" lang="en-US" altLang="ko-KR" sz="1000" dirty="0">
              <a:latin typeface="HY그래픽M" pitchFamily="18" charset="-127"/>
              <a:ea typeface="HY그래픽M" pitchFamily="18" charset="-127"/>
            </a:endParaRPr>
          </a:p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품목 확장에 따른 방안제시</a:t>
            </a:r>
          </a:p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</a:rPr>
              <a:t>미래지향적 체계 구축 모델 </a:t>
            </a:r>
          </a:p>
        </p:txBody>
      </p:sp>
      <p:sp>
        <p:nvSpPr>
          <p:cNvPr id="145" name="Rectangle 203"/>
          <p:cNvSpPr>
            <a:spLocks noChangeArrowheads="1"/>
          </p:cNvSpPr>
          <p:nvPr/>
        </p:nvSpPr>
        <p:spPr bwMode="auto">
          <a:xfrm>
            <a:off x="5655435" y="5477547"/>
            <a:ext cx="2537913" cy="368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3059" tIns="33059" rIns="33059" bIns="33059" anchor="ctr">
            <a:spAutoFit/>
          </a:bodyPr>
          <a:lstStyle/>
          <a:p>
            <a:pPr marL="93663" indent="-93663" defTabSz="839788" eaLnBrk="0" latinLnBrk="0" hangingPunct="0">
              <a:buFont typeface="Wingdings" pitchFamily="2" charset="2"/>
              <a:buChar char="§"/>
            </a:pPr>
            <a:r>
              <a:rPr kumimoji="0" lang="ko-KR" altLang="en-US" sz="1000" dirty="0">
                <a:latin typeface="HY그래픽M" pitchFamily="18" charset="-127"/>
                <a:ea typeface="HY그래픽M" pitchFamily="18" charset="-127"/>
                <a:sym typeface="Wingdings" pitchFamily="2" charset="2"/>
              </a:rPr>
              <a:t>목표모델 실행을 위한 단계별 이행계획 수립</a:t>
            </a:r>
          </a:p>
        </p:txBody>
      </p:sp>
      <p:sp>
        <p:nvSpPr>
          <p:cNvPr id="160" name="AutoShape 714"/>
          <p:cNvSpPr>
            <a:spLocks noChangeArrowheads="1"/>
          </p:cNvSpPr>
          <p:nvPr/>
        </p:nvSpPr>
        <p:spPr bwMode="auto">
          <a:xfrm>
            <a:off x="256546" y="1714488"/>
            <a:ext cx="8618514" cy="4571999"/>
          </a:xfrm>
          <a:prstGeom prst="roundRect">
            <a:avLst>
              <a:gd name="adj" fmla="val 213"/>
            </a:avLst>
          </a:prstGeom>
          <a:noFill/>
          <a:ln w="12700">
            <a:solidFill>
              <a:srgbClr val="9CB7D0"/>
            </a:solidFill>
            <a:round/>
            <a:headEnd/>
            <a:tailEnd/>
          </a:ln>
        </p:spPr>
        <p:txBody>
          <a:bodyPr wrap="none" lIns="91434" tIns="45718" rIns="91434" bIns="45718" anchor="ctr"/>
          <a:lstStyle/>
          <a:p>
            <a:endParaRPr kumimoji="0" lang="ko-KR" altLang="ko-KR">
              <a:latin typeface="산돌고딕 L"/>
              <a:ea typeface="산돌고딕 L"/>
              <a:cs typeface="산돌고딕 L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Ⅰ.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프로젝트 개요</a:t>
            </a:r>
          </a:p>
        </p:txBody>
      </p:sp>
      <p:grpSp>
        <p:nvGrpSpPr>
          <p:cNvPr id="133" name="Group 205"/>
          <p:cNvGrpSpPr>
            <a:grpSpLocks/>
          </p:cNvGrpSpPr>
          <p:nvPr/>
        </p:nvGrpSpPr>
        <p:grpSpPr bwMode="auto">
          <a:xfrm>
            <a:off x="2799023" y="3110565"/>
            <a:ext cx="3354318" cy="454853"/>
            <a:chOff x="1313" y="3126"/>
            <a:chExt cx="1664" cy="344"/>
          </a:xfrm>
        </p:grpSpPr>
        <p:sp>
          <p:nvSpPr>
            <p:cNvPr id="155" name="AutoShape 204"/>
            <p:cNvSpPr>
              <a:spLocks noChangeArrowheads="1"/>
            </p:cNvSpPr>
            <p:nvPr/>
          </p:nvSpPr>
          <p:spPr bwMode="auto">
            <a:xfrm>
              <a:off x="1313" y="3126"/>
              <a:ext cx="1640" cy="83"/>
            </a:xfrm>
            <a:prstGeom prst="roundRect">
              <a:avLst>
                <a:gd name="adj" fmla="val 48806"/>
              </a:avLst>
            </a:prstGeom>
            <a:gradFill rotWithShape="0">
              <a:gsLst>
                <a:gs pos="0">
                  <a:srgbClr val="D2E1F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</p:spPr>
          <p:txBody>
            <a:bodyPr lIns="83969" tIns="41985" rIns="83969" bIns="41985" anchor="ctr"/>
            <a:lstStyle/>
            <a:p>
              <a:pPr defTabSz="839788" eaLnBrk="0" latinLnBrk="0" hangingPunct="0">
                <a:lnSpc>
                  <a:spcPct val="130000"/>
                </a:lnSpc>
                <a:buFont typeface="Wingdings" pitchFamily="2" charset="2"/>
                <a:buChar char=""/>
              </a:pPr>
              <a:endParaRPr kumimoji="0" lang="ko-KR" altLang="ko-KR" sz="1000">
                <a:latin typeface="휴먼신그래픽"/>
                <a:ea typeface="휴먼신그래픽"/>
                <a:cs typeface="휴먼신그래픽"/>
              </a:endParaRPr>
            </a:p>
          </p:txBody>
        </p:sp>
        <p:grpSp>
          <p:nvGrpSpPr>
            <p:cNvPr id="156" name="Group 173"/>
            <p:cNvGrpSpPr>
              <a:grpSpLocks/>
            </p:cNvGrpSpPr>
            <p:nvPr/>
          </p:nvGrpSpPr>
          <p:grpSpPr bwMode="auto">
            <a:xfrm>
              <a:off x="1340" y="3172"/>
              <a:ext cx="1637" cy="298"/>
              <a:chOff x="7275" y="1622"/>
              <a:chExt cx="1372" cy="316"/>
            </a:xfrm>
          </p:grpSpPr>
          <p:sp>
            <p:nvSpPr>
              <p:cNvPr id="157" name="AutoShape 174"/>
              <p:cNvSpPr>
                <a:spLocks noChangeArrowheads="1"/>
              </p:cNvSpPr>
              <p:nvPr/>
            </p:nvSpPr>
            <p:spPr bwMode="auto">
              <a:xfrm>
                <a:off x="7275" y="1622"/>
                <a:ext cx="1372" cy="316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7BA7D3"/>
                  </a:gs>
                  <a:gs pos="100000">
                    <a:srgbClr val="D7E4F2"/>
                  </a:gs>
                </a:gsLst>
                <a:lin ang="5400000" scaled="1"/>
              </a:gradFill>
              <a:ln w="9525">
                <a:solidFill>
                  <a:srgbClr val="488CCA"/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6699"/>
                </a:outerShdw>
              </a:effectLst>
            </p:spPr>
            <p:txBody>
              <a:bodyPr wrap="none" lIns="83969" tIns="41985" rIns="83969" bIns="41985" anchor="ctr"/>
              <a:lstStyle/>
              <a:p>
                <a:pPr defTabSz="839788" eaLnBrk="0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"/>
                  <a:defRPr/>
                </a:pPr>
                <a:endParaRPr kumimoji="0" lang="ko-KR" altLang="en-US" sz="1000" dirty="0">
                  <a:latin typeface="휴먼신그래픽" pitchFamily="2" charset="-127"/>
                  <a:ea typeface="휴먼신그래픽" pitchFamily="2" charset="-127"/>
                </a:endParaRPr>
              </a:p>
            </p:txBody>
          </p:sp>
          <p:sp>
            <p:nvSpPr>
              <p:cNvPr id="158" name="AutoShape 175"/>
              <p:cNvSpPr>
                <a:spLocks noChangeArrowheads="1"/>
              </p:cNvSpPr>
              <p:nvPr/>
            </p:nvSpPr>
            <p:spPr bwMode="auto">
              <a:xfrm>
                <a:off x="7332" y="1637"/>
                <a:ext cx="1266" cy="9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AAC7E4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83969" tIns="41985" rIns="83969" bIns="41985" anchor="ctr"/>
              <a:lstStyle/>
              <a:p>
                <a:pPr defTabSz="839788" eaLnBrk="0" latinLnBrk="0" hangingPunct="0">
                  <a:lnSpc>
                    <a:spcPct val="130000"/>
                  </a:lnSpc>
                  <a:buFont typeface="Wingdings" pitchFamily="2" charset="2"/>
                  <a:buChar char=""/>
                </a:pPr>
                <a:endParaRPr kumimoji="0" lang="ko-KR" altLang="ko-KR" sz="1000">
                  <a:latin typeface="휴먼신그래픽"/>
                  <a:ea typeface="휴먼신그래픽"/>
                  <a:cs typeface="휴먼신그래픽"/>
                </a:endParaRPr>
              </a:p>
            </p:txBody>
          </p:sp>
          <p:sp>
            <p:nvSpPr>
              <p:cNvPr id="159" name="Text Box 176"/>
              <p:cNvSpPr txBox="1">
                <a:spLocks noChangeArrowheads="1"/>
              </p:cNvSpPr>
              <p:nvPr/>
            </p:nvSpPr>
            <p:spPr bwMode="auto">
              <a:xfrm>
                <a:off x="7733" y="1673"/>
                <a:ext cx="467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83969" tIns="41985" rIns="83969" bIns="41985" anchor="ctr">
                <a:spAutoFit/>
              </a:bodyPr>
              <a:lstStyle/>
              <a:p>
                <a:pPr algn="ctr" defTabSz="839788" eaLnBrk="0" latinLnBrk="0" hangingPunct="0"/>
                <a:r>
                  <a:rPr kumimoji="0" lang="ko-KR" altLang="en-US" sz="1200" b="1" dirty="0">
                    <a:latin typeface="휴먼신그래픽"/>
                    <a:ea typeface="휴먼신그래픽"/>
                    <a:cs typeface="휴먼신그래픽"/>
                  </a:rPr>
                  <a:t>과제 추진방향</a:t>
                </a:r>
              </a:p>
            </p:txBody>
          </p:sp>
        </p:grp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378" descr="농심엔디에스컨소시엄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" name="Picture 374" descr="기본로고"/>
          <p:cNvPicPr>
            <a:picLocks noChangeAspect="1" noChangeArrowheads="1"/>
          </p:cNvPicPr>
          <p:nvPr/>
        </p:nvPicPr>
        <p:blipFill>
          <a:blip r:embed="rId4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/>
          <p:nvPr/>
        </p:nvSpPr>
        <p:spPr>
          <a:xfrm>
            <a:off x="2214546" y="2214554"/>
            <a:ext cx="65722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Ⅱ.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사업방향 설정</a:t>
            </a:r>
            <a:endParaRPr lang="en-US" altLang="ko-KR" sz="6600" dirty="0">
              <a:latin typeface="휴먼매직체" pitchFamily="18" charset="-127"/>
              <a:ea typeface="휴먼매직체" pitchFamily="18" charset="-127"/>
            </a:endParaRPr>
          </a:p>
          <a:p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(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내</a:t>
            </a:r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·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외부 환경분석</a:t>
            </a:r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)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14340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7671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현행 비전 및 추진 전략</a:t>
            </a:r>
            <a:endParaRPr lang="en-US" altLang="ko-KR" sz="32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6826466" y="34001"/>
            <a:ext cx="22461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1.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현행비전 및 추진전략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28596" y="928670"/>
            <a:ext cx="8286750" cy="5612972"/>
            <a:chOff x="270" y="709"/>
            <a:chExt cx="5220" cy="3399"/>
          </a:xfrm>
        </p:grpSpPr>
        <p:sp>
          <p:nvSpPr>
            <p:cNvPr id="71" name="직사각형 70"/>
            <p:cNvSpPr/>
            <p:nvPr/>
          </p:nvSpPr>
          <p:spPr>
            <a:xfrm>
              <a:off x="270" y="752"/>
              <a:ext cx="5220" cy="3356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" name="그룹 75"/>
            <p:cNvGrpSpPr>
              <a:grpSpLocks/>
            </p:cNvGrpSpPr>
            <p:nvPr/>
          </p:nvGrpSpPr>
          <p:grpSpPr bwMode="auto">
            <a:xfrm>
              <a:off x="450" y="709"/>
              <a:ext cx="4860" cy="570"/>
              <a:chOff x="714348" y="1204380"/>
              <a:chExt cx="7715304" cy="903344"/>
            </a:xfrm>
          </p:grpSpPr>
          <p:sp>
            <p:nvSpPr>
              <p:cNvPr id="80" name="모서리가 둥근 직사각형 79"/>
              <p:cNvSpPr/>
              <p:nvPr/>
            </p:nvSpPr>
            <p:spPr>
              <a:xfrm>
                <a:off x="714348" y="1478616"/>
                <a:ext cx="7715304" cy="629108"/>
              </a:xfrm>
              <a:prstGeom prst="roundRect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600" b="1" dirty="0">
                    <a:solidFill>
                      <a:schemeClr val="tx1"/>
                    </a:solidFill>
                  </a:rPr>
                  <a:t>병해충 위험으로부터 안전적 보호를 통한 식량 안보 정착</a:t>
                </a:r>
                <a:endParaRPr kumimoji="0" lang="en-US" altLang="ko-KR" sz="1600" b="1" dirty="0">
                  <a:solidFill>
                    <a:schemeClr val="tx1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600" b="1" dirty="0">
                    <a:solidFill>
                      <a:schemeClr val="tx1"/>
                    </a:solidFill>
                  </a:rPr>
                  <a:t>및 지속 가능한 농업 환경조성</a:t>
                </a:r>
              </a:p>
            </p:txBody>
          </p:sp>
          <p:sp>
            <p:nvSpPr>
              <p:cNvPr id="81" name="직사각형 80"/>
              <p:cNvSpPr/>
              <p:nvPr/>
            </p:nvSpPr>
            <p:spPr>
              <a:xfrm>
                <a:off x="3786183" y="1204380"/>
                <a:ext cx="1214445" cy="274237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400" b="1" dirty="0"/>
                  <a:t>비  전</a:t>
                </a:r>
              </a:p>
            </p:txBody>
          </p:sp>
        </p:grpSp>
        <p:grpSp>
          <p:nvGrpSpPr>
            <p:cNvPr id="7" name="그룹 76"/>
            <p:cNvGrpSpPr>
              <a:grpSpLocks/>
            </p:cNvGrpSpPr>
            <p:nvPr/>
          </p:nvGrpSpPr>
          <p:grpSpPr bwMode="auto">
            <a:xfrm>
              <a:off x="450" y="1466"/>
              <a:ext cx="4860" cy="588"/>
              <a:chOff x="714348" y="2685037"/>
              <a:chExt cx="7715304" cy="1089210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714348" y="3058689"/>
                <a:ext cx="7715304" cy="715558"/>
              </a:xfrm>
              <a:prstGeom prst="roundRect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indent="-342900">
                  <a:buFontTx/>
                  <a:buAutoNum type="arabicPeriod"/>
                  <a:defRPr/>
                </a:pPr>
                <a:r>
                  <a:rPr lang="ko-KR" altLang="en-US" sz="1300" b="1" dirty="0">
                    <a:solidFill>
                      <a:schemeClr val="tx1"/>
                    </a:solidFill>
                  </a:rPr>
                  <a:t>범국가적 신속 정밀한 </a:t>
                </a:r>
                <a:r>
                  <a:rPr lang="ko-KR" altLang="en-US" sz="1300" b="1" dirty="0" err="1">
                    <a:solidFill>
                      <a:schemeClr val="tx1"/>
                    </a:solidFill>
                  </a:rPr>
                  <a:t>예찰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 및 방제 시스템 구축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돌발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긴급 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이동성 병해충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)</a:t>
                </a:r>
              </a:p>
              <a:p>
                <a:pPr indent="-342900">
                  <a:buFontTx/>
                  <a:buAutoNum type="arabicPeriod"/>
                  <a:defRPr/>
                </a:pPr>
                <a:r>
                  <a:rPr lang="ko-KR" altLang="en-US" sz="1300" b="1" dirty="0">
                    <a:solidFill>
                      <a:schemeClr val="tx1"/>
                    </a:solidFill>
                  </a:rPr>
                  <a:t>개별 농업인의 </a:t>
                </a:r>
                <a:r>
                  <a:rPr lang="ko-KR" altLang="en-US" sz="1300" b="1" dirty="0" err="1">
                    <a:solidFill>
                      <a:schemeClr val="tx1"/>
                    </a:solidFill>
                  </a:rPr>
                  <a:t>예찰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진단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방제 능력 향상</a:t>
                </a:r>
                <a:endParaRPr lang="en-US" altLang="ko-KR" sz="1300" b="1" dirty="0">
                  <a:solidFill>
                    <a:schemeClr val="tx1"/>
                  </a:solidFill>
                </a:endParaRPr>
              </a:p>
              <a:p>
                <a:pPr indent="-342900">
                  <a:buFontTx/>
                  <a:buAutoNum type="arabicPeriod"/>
                  <a:defRPr/>
                </a:pPr>
                <a:r>
                  <a:rPr lang="ko-KR" altLang="en-US" sz="1300" b="1" dirty="0" err="1">
                    <a:solidFill>
                      <a:schemeClr val="tx1"/>
                    </a:solidFill>
                  </a:rPr>
                  <a:t>예찰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진단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방제 시스템 정보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기술</a:t>
                </a:r>
                <a:r>
                  <a:rPr lang="en-US" altLang="ko-KR" sz="13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300" b="1" dirty="0" err="1">
                    <a:solidFill>
                      <a:schemeClr val="tx1"/>
                    </a:solidFill>
                  </a:rPr>
                  <a:t>시계열</a:t>
                </a:r>
                <a:r>
                  <a:rPr lang="ko-KR" altLang="en-US" sz="1300" b="1" dirty="0">
                    <a:solidFill>
                      <a:schemeClr val="tx1"/>
                    </a:solidFill>
                  </a:rPr>
                  <a:t> 자료 축척</a:t>
                </a:r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3801173" y="2685037"/>
                <a:ext cx="1214445" cy="357848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1400" b="1" dirty="0"/>
                  <a:t>목  표</a:t>
                </a:r>
              </a:p>
            </p:txBody>
          </p:sp>
        </p:grpSp>
        <p:sp>
          <p:nvSpPr>
            <p:cNvPr id="74" name="모서리가 둥근 직사각형 73"/>
            <p:cNvSpPr/>
            <p:nvPr/>
          </p:nvSpPr>
          <p:spPr>
            <a:xfrm>
              <a:off x="450" y="3564"/>
              <a:ext cx="4860" cy="470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indent="-342900" fontAlgn="auto">
                <a:spcBef>
                  <a:spcPts val="0"/>
                </a:spcBef>
                <a:spcAft>
                  <a:spcPts val="0"/>
                </a:spcAft>
                <a:buFontTx/>
                <a:buAutoNum type="arabicPeriod"/>
                <a:defRPr/>
              </a:pPr>
              <a:r>
                <a:rPr lang="ko-KR" altLang="en-US" sz="1300" b="1" dirty="0" err="1">
                  <a:solidFill>
                    <a:schemeClr val="tx1"/>
                  </a:solidFill>
                </a:rPr>
                <a:t>예찰과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 방제 현장요원의 능력향상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( 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교육커리큘럼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,  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보급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홍보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)</a:t>
              </a:r>
            </a:p>
            <a:p>
              <a:pPr indent="-342900" fontAlgn="auto">
                <a:spcBef>
                  <a:spcPts val="0"/>
                </a:spcBef>
                <a:spcAft>
                  <a:spcPts val="0"/>
                </a:spcAft>
                <a:buFontTx/>
                <a:buAutoNum type="arabicPeriod"/>
                <a:defRPr/>
              </a:pPr>
              <a:r>
                <a:rPr lang="ko-KR" altLang="en-US" sz="1300" b="1" dirty="0" err="1">
                  <a:solidFill>
                    <a:schemeClr val="tx1"/>
                  </a:solidFill>
                </a:rPr>
                <a:t>예찰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 방제 기술의 적극적 개발 및 발굴을 위한</a:t>
              </a:r>
              <a:br>
                <a:rPr lang="en-US" altLang="ko-KR" sz="1300" b="1" dirty="0">
                  <a:solidFill>
                    <a:schemeClr val="tx1"/>
                  </a:solidFill>
                </a:rPr>
              </a:br>
              <a:r>
                <a:rPr lang="ko-KR" altLang="en-US" sz="1300" b="1" dirty="0">
                  <a:solidFill>
                    <a:schemeClr val="tx1"/>
                  </a:solidFill>
                </a:rPr>
                <a:t>산업계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학계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연구기관</a:t>
              </a:r>
              <a:r>
                <a:rPr lang="en-US" altLang="ko-KR" sz="13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300" b="1" dirty="0">
                  <a:solidFill>
                    <a:schemeClr val="tx1"/>
                  </a:solidFill>
                </a:rPr>
                <a:t>현장 농업인과의 긴말한 협력체계 구축</a:t>
              </a:r>
            </a:p>
          </p:txBody>
        </p:sp>
        <p:sp>
          <p:nvSpPr>
            <p:cNvPr id="75" name="줄무늬가 있는 오른쪽 화살표 74"/>
            <p:cNvSpPr/>
            <p:nvPr/>
          </p:nvSpPr>
          <p:spPr>
            <a:xfrm rot="16200000" flipV="1">
              <a:off x="2703" y="1099"/>
              <a:ext cx="144" cy="540"/>
            </a:xfrm>
            <a:prstGeom prst="stripedRightArrow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  <p:sp>
          <p:nvSpPr>
            <p:cNvPr id="76" name="줄무늬가 있는 오른쪽 화살표 75"/>
            <p:cNvSpPr/>
            <p:nvPr/>
          </p:nvSpPr>
          <p:spPr>
            <a:xfrm rot="16200000" flipV="1">
              <a:off x="2709" y="1881"/>
              <a:ext cx="144" cy="540"/>
            </a:xfrm>
            <a:prstGeom prst="stripedRightArrow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  <p:sp>
          <p:nvSpPr>
            <p:cNvPr id="77" name="줄무늬가 있는 오른쪽 화살표 76"/>
            <p:cNvSpPr/>
            <p:nvPr/>
          </p:nvSpPr>
          <p:spPr>
            <a:xfrm rot="16200000" flipV="1">
              <a:off x="2727" y="3071"/>
              <a:ext cx="143" cy="540"/>
            </a:xfrm>
            <a:prstGeom prst="stripedRightArrow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</p:grpSp>
      <p:sp>
        <p:nvSpPr>
          <p:cNvPr id="82" name="직사각형 81"/>
          <p:cNvSpPr/>
          <p:nvPr/>
        </p:nvSpPr>
        <p:spPr>
          <a:xfrm>
            <a:off x="1330346" y="3643314"/>
            <a:ext cx="357188" cy="15001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rPr>
              <a:t>병해충체계강화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1758971" y="3787280"/>
            <a:ext cx="2644775" cy="5715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예찰</a:t>
            </a:r>
            <a:r>
              <a:rPr lang="ko-KR" altLang="en-US" sz="12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 방제 체계 강화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1758971" y="4430218"/>
            <a:ext cx="2644775" cy="5715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제도</a:t>
            </a:r>
            <a:r>
              <a:rPr lang="en-US" altLang="ko-KR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조직</a:t>
            </a:r>
            <a:r>
              <a:rPr lang="en-US" altLang="ko-KR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법령 정비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7215209" y="3643314"/>
            <a:ext cx="357187" cy="15001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rPr>
              <a:t>정보</a:t>
            </a:r>
            <a:r>
              <a:rPr kumimoji="0" lang="en-US" altLang="ko-KR" sz="1200" b="1" dirty="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rPr>
              <a:t>·</a:t>
            </a:r>
            <a:r>
              <a:rPr kumimoji="0" lang="ko-KR" altLang="en-US" sz="1200" b="1" dirty="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rPr>
              <a:t>방제기술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4475184" y="3787280"/>
            <a:ext cx="2665412" cy="5715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개발기술의 조기 현장 보급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475184" y="4430218"/>
            <a:ext cx="2665412" cy="5715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원뷰 정보시스템 구축</a:t>
            </a:r>
          </a:p>
        </p:txBody>
      </p:sp>
      <p:sp>
        <p:nvSpPr>
          <p:cNvPr id="88" name="직사각형 87"/>
          <p:cNvSpPr/>
          <p:nvPr/>
        </p:nvSpPr>
        <p:spPr bwMode="auto">
          <a:xfrm>
            <a:off x="3786182" y="3400110"/>
            <a:ext cx="1214437" cy="35718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/>
              <a:t>중 점 전 </a:t>
            </a:r>
            <a:r>
              <a:rPr lang="ko-KR" altLang="en-US" sz="1400" b="1" dirty="0" err="1"/>
              <a:t>략</a:t>
            </a:r>
            <a:endParaRPr lang="ko-KR" altLang="en-US" sz="1400" b="1" dirty="0"/>
          </a:p>
        </p:txBody>
      </p:sp>
      <p:sp>
        <p:nvSpPr>
          <p:cNvPr id="89" name="직사각형 88"/>
          <p:cNvSpPr/>
          <p:nvPr/>
        </p:nvSpPr>
        <p:spPr bwMode="auto">
          <a:xfrm>
            <a:off x="3843316" y="5290993"/>
            <a:ext cx="1214437" cy="35718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/>
              <a:t>핵 심 요 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Ⅱ</a:t>
            </a:r>
            <a:r>
              <a:rPr lang="en-US" altLang="ko-KR" sz="1500" b="1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사업방향 설정</a:t>
            </a:r>
          </a:p>
        </p:txBody>
      </p:sp>
      <p:cxnSp>
        <p:nvCxnSpPr>
          <p:cNvPr id="40" name="직선 연결선 39"/>
          <p:cNvCxnSpPr/>
          <p:nvPr/>
        </p:nvCxnSpPr>
        <p:spPr bwMode="auto">
          <a:xfrm rot="5400000">
            <a:off x="5464975" y="6036487"/>
            <a:ext cx="64294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887248" y="5929330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농작물 병해충 관련 환경분석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14340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7671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외부환경분석</a:t>
            </a:r>
            <a:endParaRPr lang="en-US" altLang="ko-KR" sz="32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6286512" y="34001"/>
            <a:ext cx="28761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농작물 병해충 관련 환경분석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844" y="714356"/>
            <a:ext cx="53783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정책환경을 분석하여 도출한 전략적 개선방향은 아래와 같음</a:t>
            </a:r>
          </a:p>
        </p:txBody>
      </p:sp>
      <p:sp>
        <p:nvSpPr>
          <p:cNvPr id="133" name="AutoShape 30"/>
          <p:cNvSpPr>
            <a:spLocks noChangeArrowheads="1"/>
          </p:cNvSpPr>
          <p:nvPr/>
        </p:nvSpPr>
        <p:spPr bwMode="auto">
          <a:xfrm>
            <a:off x="6732588" y="1431908"/>
            <a:ext cx="2232025" cy="4968875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134" name="AutoShape 29"/>
          <p:cNvSpPr>
            <a:spLocks noChangeArrowheads="1"/>
          </p:cNvSpPr>
          <p:nvPr/>
        </p:nvSpPr>
        <p:spPr bwMode="auto">
          <a:xfrm>
            <a:off x="3708400" y="4527533"/>
            <a:ext cx="2665413" cy="18716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135" name="AutoShape 27"/>
          <p:cNvSpPr>
            <a:spLocks noChangeArrowheads="1"/>
          </p:cNvSpPr>
          <p:nvPr/>
        </p:nvSpPr>
        <p:spPr bwMode="auto">
          <a:xfrm>
            <a:off x="179388" y="4527533"/>
            <a:ext cx="2665412" cy="18716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146" name="AutoShape 28"/>
          <p:cNvSpPr>
            <a:spLocks noChangeArrowheads="1"/>
          </p:cNvSpPr>
          <p:nvPr/>
        </p:nvSpPr>
        <p:spPr bwMode="auto">
          <a:xfrm>
            <a:off x="3635375" y="2008171"/>
            <a:ext cx="2665413" cy="187166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147" name="AutoShape 26"/>
          <p:cNvSpPr>
            <a:spLocks noChangeArrowheads="1"/>
          </p:cNvSpPr>
          <p:nvPr/>
        </p:nvSpPr>
        <p:spPr bwMode="auto">
          <a:xfrm>
            <a:off x="179388" y="2008171"/>
            <a:ext cx="2665412" cy="187166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61" name="Text Box 7"/>
          <p:cNvSpPr txBox="1">
            <a:spLocks noChangeArrowheads="1"/>
          </p:cNvSpPr>
          <p:nvPr/>
        </p:nvSpPr>
        <p:spPr bwMode="auto">
          <a:xfrm>
            <a:off x="6719268" y="1237968"/>
            <a:ext cx="2272332" cy="3508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700" b="1" u="sng" dirty="0"/>
              <a:t>시사점</a:t>
            </a:r>
          </a:p>
        </p:txBody>
      </p:sp>
      <p:sp>
        <p:nvSpPr>
          <p:cNvPr id="162" name="AutoShape 9"/>
          <p:cNvSpPr>
            <a:spLocks noChangeArrowheads="1"/>
          </p:cNvSpPr>
          <p:nvPr/>
        </p:nvSpPr>
        <p:spPr bwMode="auto">
          <a:xfrm>
            <a:off x="179388" y="1523615"/>
            <a:ext cx="1892282" cy="431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63" name="AutoShape 10"/>
          <p:cNvSpPr>
            <a:spLocks noChangeArrowheads="1"/>
          </p:cNvSpPr>
          <p:nvPr/>
        </p:nvSpPr>
        <p:spPr bwMode="auto">
          <a:xfrm>
            <a:off x="4500563" y="1509340"/>
            <a:ext cx="1727200" cy="431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r>
              <a:rPr lang="ko-KR" altLang="en-US" b="1" dirty="0">
                <a:solidFill>
                  <a:schemeClr val="bg1"/>
                </a:solidFill>
              </a:rPr>
              <a:t>경제환경</a:t>
            </a:r>
          </a:p>
        </p:txBody>
      </p:sp>
      <p:sp>
        <p:nvSpPr>
          <p:cNvPr id="164" name="AutoShape 11"/>
          <p:cNvSpPr>
            <a:spLocks noChangeArrowheads="1"/>
          </p:cNvSpPr>
          <p:nvPr/>
        </p:nvSpPr>
        <p:spPr bwMode="auto">
          <a:xfrm>
            <a:off x="179388" y="4024296"/>
            <a:ext cx="1727200" cy="431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r>
              <a:rPr lang="ko-KR" altLang="en-US" b="1" dirty="0">
                <a:solidFill>
                  <a:schemeClr val="bg1"/>
                </a:solidFill>
              </a:rPr>
              <a:t>사회</a:t>
            </a:r>
            <a:r>
              <a:rPr lang="en-US" altLang="ko-KR" b="1" dirty="0">
                <a:solidFill>
                  <a:schemeClr val="bg1"/>
                </a:solidFill>
              </a:rPr>
              <a:t>/</a:t>
            </a:r>
            <a:r>
              <a:rPr lang="ko-KR" altLang="en-US" b="1" dirty="0">
                <a:solidFill>
                  <a:schemeClr val="bg1"/>
                </a:solidFill>
              </a:rPr>
              <a:t>문화환경</a:t>
            </a:r>
          </a:p>
        </p:txBody>
      </p:sp>
      <p:sp>
        <p:nvSpPr>
          <p:cNvPr id="165" name="AutoShape 12"/>
          <p:cNvSpPr>
            <a:spLocks noChangeArrowheads="1"/>
          </p:cNvSpPr>
          <p:nvPr/>
        </p:nvSpPr>
        <p:spPr bwMode="auto">
          <a:xfrm>
            <a:off x="4500563" y="4024296"/>
            <a:ext cx="1727200" cy="431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r>
              <a:rPr lang="ko-KR" altLang="en-US" b="1" dirty="0">
                <a:solidFill>
                  <a:schemeClr val="bg1"/>
                </a:solidFill>
              </a:rPr>
              <a:t>기술환경</a:t>
            </a:r>
          </a:p>
        </p:txBody>
      </p:sp>
      <p:sp>
        <p:nvSpPr>
          <p:cNvPr id="166" name="Text Box 13"/>
          <p:cNvSpPr txBox="1">
            <a:spLocks noChangeArrowheads="1"/>
          </p:cNvSpPr>
          <p:nvPr/>
        </p:nvSpPr>
        <p:spPr bwMode="auto">
          <a:xfrm>
            <a:off x="250825" y="2133398"/>
            <a:ext cx="2520950" cy="99257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>
                <a:latin typeface="Arial"/>
              </a:rPr>
              <a:t> 국가 병해충 </a:t>
            </a:r>
            <a:r>
              <a:rPr lang="ko-KR" altLang="en-US" sz="1300" dirty="0" err="1">
                <a:latin typeface="Arial"/>
              </a:rPr>
              <a:t>예찰</a:t>
            </a:r>
            <a:r>
              <a:rPr lang="en-US" altLang="ko-KR" sz="1300" dirty="0">
                <a:latin typeface="Arial"/>
              </a:rPr>
              <a:t>,</a:t>
            </a:r>
            <a:r>
              <a:rPr lang="ko-KR" altLang="en-US" sz="1300" dirty="0">
                <a:latin typeface="Arial"/>
              </a:rPr>
              <a:t>진단</a:t>
            </a:r>
            <a:r>
              <a:rPr lang="en-US" altLang="ko-KR" sz="1300" dirty="0">
                <a:latin typeface="Arial"/>
              </a:rPr>
              <a:t>,</a:t>
            </a:r>
            <a:r>
              <a:rPr lang="ko-KR" altLang="en-US" sz="1300" dirty="0">
                <a:latin typeface="Arial"/>
              </a:rPr>
              <a:t>방제  관련주체들 간의 원활한 업무연계 미흡</a:t>
            </a:r>
            <a:endParaRPr lang="en-US" altLang="ko-KR" sz="1300" dirty="0">
              <a:latin typeface="Arial"/>
            </a:endParaRPr>
          </a:p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>
                <a:latin typeface="Arial"/>
              </a:rPr>
              <a:t> 조직의 약화</a:t>
            </a:r>
            <a:endParaRPr lang="ko-KR" altLang="en-US" sz="1300" dirty="0"/>
          </a:p>
        </p:txBody>
      </p:sp>
      <p:sp>
        <p:nvSpPr>
          <p:cNvPr id="167" name="Text Box 15"/>
          <p:cNvSpPr txBox="1">
            <a:spLocks noChangeArrowheads="1"/>
          </p:cNvSpPr>
          <p:nvPr/>
        </p:nvSpPr>
        <p:spPr bwMode="auto">
          <a:xfrm>
            <a:off x="265101" y="4571807"/>
            <a:ext cx="2592387" cy="199285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>
                <a:latin typeface="Arial"/>
              </a:rPr>
              <a:t>원예작물의 소비증가 추세로 벼에서 원예작물로  </a:t>
            </a:r>
            <a:r>
              <a:rPr lang="ko-KR" altLang="en-US" sz="1300" dirty="0" err="1">
                <a:latin typeface="Arial"/>
              </a:rPr>
              <a:t>예찰</a:t>
            </a:r>
            <a:r>
              <a:rPr lang="en-US" altLang="ko-KR" sz="1300" dirty="0">
                <a:latin typeface="Arial"/>
              </a:rPr>
              <a:t>/</a:t>
            </a:r>
            <a:r>
              <a:rPr lang="ko-KR" altLang="en-US" sz="1300" dirty="0">
                <a:latin typeface="Arial"/>
              </a:rPr>
              <a:t>진단 작목 확대</a:t>
            </a:r>
            <a:endParaRPr lang="en-US" altLang="ko-KR" sz="1300" dirty="0">
              <a:latin typeface="Arial"/>
            </a:endParaRPr>
          </a:p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>
                <a:latin typeface="Arial"/>
              </a:rPr>
              <a:t>친환경 안전 농산물 소비 증가 추세</a:t>
            </a:r>
            <a:endParaRPr lang="en-US" altLang="ko-KR" sz="1300" dirty="0">
              <a:latin typeface="Arial"/>
            </a:endParaRPr>
          </a:p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>
                <a:latin typeface="Arial"/>
              </a:rPr>
              <a:t>쌀 중심에서 과수</a:t>
            </a:r>
            <a:r>
              <a:rPr lang="en-US" altLang="ko-KR" sz="1300" dirty="0">
                <a:latin typeface="Arial"/>
              </a:rPr>
              <a:t>, </a:t>
            </a:r>
            <a:r>
              <a:rPr lang="ko-KR" altLang="en-US" sz="1300" dirty="0">
                <a:latin typeface="Arial"/>
              </a:rPr>
              <a:t>채소 등 건강식품선호도 증가추세</a:t>
            </a:r>
            <a:endParaRPr lang="en-US" altLang="ko-KR" sz="1300" dirty="0">
              <a:latin typeface="Arial"/>
            </a:endParaRPr>
          </a:p>
          <a:p>
            <a:pPr>
              <a:spcBef>
                <a:spcPct val="50000"/>
              </a:spcBef>
              <a:defRPr/>
            </a:pPr>
            <a:endParaRPr lang="ko-KR" altLang="en-US" sz="1300" dirty="0"/>
          </a:p>
        </p:txBody>
      </p:sp>
      <p:sp>
        <p:nvSpPr>
          <p:cNvPr id="168" name="Text Box 19"/>
          <p:cNvSpPr txBox="1">
            <a:spLocks noChangeArrowheads="1"/>
          </p:cNvSpPr>
          <p:nvPr/>
        </p:nvSpPr>
        <p:spPr bwMode="auto">
          <a:xfrm>
            <a:off x="3635375" y="2133398"/>
            <a:ext cx="2735263" cy="109260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/>
              <a:t>돌발 </a:t>
            </a:r>
            <a:r>
              <a:rPr lang="ko-KR" altLang="en-US" sz="1300" dirty="0" err="1"/>
              <a:t>병해충등으로</a:t>
            </a:r>
            <a:r>
              <a:rPr lang="ko-KR" altLang="en-US" sz="1300" dirty="0"/>
              <a:t> 인한 막대한 사회</a:t>
            </a:r>
            <a:r>
              <a:rPr lang="en-US" altLang="ko-KR" sz="1300" dirty="0"/>
              <a:t>/</a:t>
            </a:r>
            <a:r>
              <a:rPr lang="ko-KR" altLang="en-US" sz="1300" dirty="0"/>
              <a:t>경제적 비용발생</a:t>
            </a:r>
            <a:endParaRPr lang="en-US" altLang="ko-KR" sz="1300" dirty="0"/>
          </a:p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/>
              <a:t>친환경 농산물 생산 증가</a:t>
            </a:r>
          </a:p>
          <a:p>
            <a:pPr>
              <a:spcBef>
                <a:spcPct val="50000"/>
              </a:spcBef>
              <a:defRPr/>
            </a:pPr>
            <a:endParaRPr lang="ko-KR" altLang="en-US" sz="1300" dirty="0"/>
          </a:p>
        </p:txBody>
      </p:sp>
      <p:sp>
        <p:nvSpPr>
          <p:cNvPr id="169" name="Text Box 20"/>
          <p:cNvSpPr txBox="1">
            <a:spLocks noChangeArrowheads="1"/>
          </p:cNvSpPr>
          <p:nvPr/>
        </p:nvSpPr>
        <p:spPr bwMode="auto">
          <a:xfrm>
            <a:off x="3851275" y="4725786"/>
            <a:ext cx="2376488" cy="89255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ko-KR" altLang="en-US" sz="1300" dirty="0" err="1"/>
              <a:t>모바일</a:t>
            </a:r>
            <a:r>
              <a:rPr lang="en-US" altLang="ko-KR" sz="1300" dirty="0"/>
              <a:t>, GIS</a:t>
            </a:r>
            <a:r>
              <a:rPr lang="ko-KR" altLang="en-US" sz="1300" dirty="0"/>
              <a:t>등 정보기술의 발달과 </a:t>
            </a:r>
            <a:r>
              <a:rPr lang="ko-KR" altLang="en-US" sz="1300" dirty="0" err="1"/>
              <a:t>타산업과의</a:t>
            </a:r>
            <a:r>
              <a:rPr lang="ko-KR" altLang="en-US" sz="1300" dirty="0"/>
              <a:t> 융합을 기반으로 한  국가 위기관리 시스템의 진화</a:t>
            </a:r>
          </a:p>
        </p:txBody>
      </p:sp>
      <p:sp>
        <p:nvSpPr>
          <p:cNvPr id="170" name="Text Box 22"/>
          <p:cNvSpPr txBox="1">
            <a:spLocks noChangeArrowheads="1"/>
          </p:cNvSpPr>
          <p:nvPr/>
        </p:nvSpPr>
        <p:spPr bwMode="auto">
          <a:xfrm>
            <a:off x="6786095" y="1609305"/>
            <a:ext cx="2160588" cy="379334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300" dirty="0"/>
              <a:t>병해충 </a:t>
            </a:r>
            <a:r>
              <a:rPr lang="ko-KR" altLang="en-US" sz="1300" dirty="0" err="1"/>
              <a:t>예찰</a:t>
            </a:r>
            <a:r>
              <a:rPr lang="en-US" altLang="ko-KR" sz="1300" dirty="0"/>
              <a:t>/</a:t>
            </a:r>
            <a:r>
              <a:rPr lang="ko-KR" altLang="en-US" sz="1300" dirty="0"/>
              <a:t>진단</a:t>
            </a:r>
            <a:r>
              <a:rPr lang="en-US" altLang="ko-KR" sz="1300" dirty="0"/>
              <a:t>/</a:t>
            </a:r>
            <a:r>
              <a:rPr lang="ko-KR" altLang="en-US" sz="1300" dirty="0"/>
              <a:t>방제 기관의 업무기능 정의와 체계화 필요</a:t>
            </a:r>
            <a:endParaRPr lang="en-US" altLang="ko-KR" sz="1300" dirty="0"/>
          </a:p>
          <a:p>
            <a:pPr marL="342900" indent="-342900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300" dirty="0"/>
              <a:t> 신속한</a:t>
            </a:r>
            <a:r>
              <a:rPr lang="en-US" altLang="ko-KR" sz="1300" dirty="0"/>
              <a:t>(</a:t>
            </a:r>
            <a:r>
              <a:rPr lang="ko-KR" altLang="en-US" sz="1300" dirty="0"/>
              <a:t>돌발</a:t>
            </a:r>
            <a:r>
              <a:rPr lang="en-US" altLang="ko-KR" sz="1300" dirty="0"/>
              <a:t>)</a:t>
            </a:r>
            <a:r>
              <a:rPr lang="ko-KR" altLang="en-US" sz="1300" dirty="0"/>
              <a:t>병해충 대응을 위하여 기관 간 방역활동 협업체계 강화 필요</a:t>
            </a:r>
          </a:p>
          <a:p>
            <a:pPr marL="342900" indent="-342900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300" dirty="0"/>
              <a:t>농가병해충 피해 감소를 위한 사전예방 및 통합 병해충 </a:t>
            </a:r>
            <a:r>
              <a:rPr lang="ko-KR" altLang="en-US" sz="1300" dirty="0" err="1"/>
              <a:t>예찰</a:t>
            </a:r>
            <a:r>
              <a:rPr lang="en-US" altLang="ko-KR" sz="1300" dirty="0"/>
              <a:t>/</a:t>
            </a:r>
            <a:r>
              <a:rPr lang="ko-KR" altLang="en-US" sz="1300" dirty="0"/>
              <a:t>진단</a:t>
            </a:r>
            <a:r>
              <a:rPr lang="en-US" altLang="ko-KR" sz="1300" dirty="0"/>
              <a:t>/</a:t>
            </a:r>
            <a:r>
              <a:rPr lang="ko-KR" altLang="en-US" sz="1300" dirty="0"/>
              <a:t>방제 시스템 필요</a:t>
            </a:r>
          </a:p>
          <a:p>
            <a:pPr marL="342900" indent="-342900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300" dirty="0"/>
              <a:t>최신 정보기술의 활용과  타 산업 및 기술과의 융합으로 병해충 </a:t>
            </a:r>
            <a:r>
              <a:rPr lang="ko-KR" altLang="en-US" sz="1300" dirty="0" err="1"/>
              <a:t>예찰</a:t>
            </a:r>
            <a:r>
              <a:rPr lang="en-US" altLang="ko-KR" sz="1300" dirty="0"/>
              <a:t>/</a:t>
            </a:r>
            <a:r>
              <a:rPr lang="ko-KR" altLang="en-US" sz="1300" dirty="0"/>
              <a:t>진단</a:t>
            </a:r>
            <a:r>
              <a:rPr lang="en-US" altLang="ko-KR" sz="1300" dirty="0"/>
              <a:t>/</a:t>
            </a:r>
            <a:r>
              <a:rPr lang="ko-KR" altLang="en-US" sz="1300" dirty="0"/>
              <a:t>방제 시스템의 고도화가 요구됨</a:t>
            </a:r>
            <a:r>
              <a:rPr lang="en-US" altLang="ko-KR" sz="1300" dirty="0"/>
              <a:t>(</a:t>
            </a:r>
            <a:r>
              <a:rPr lang="ko-KR" altLang="en-US" sz="1300" dirty="0" err="1"/>
              <a:t>자동화등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171" name="AutoShape 23"/>
          <p:cNvSpPr>
            <a:spLocks noChangeArrowheads="1"/>
          </p:cNvSpPr>
          <p:nvPr/>
        </p:nvSpPr>
        <p:spPr bwMode="auto">
          <a:xfrm rot="5400000">
            <a:off x="5110957" y="3556777"/>
            <a:ext cx="2881312" cy="215900"/>
          </a:xfrm>
          <a:prstGeom prst="triangle">
            <a:avLst>
              <a:gd name="adj" fmla="val 50000"/>
            </a:avLst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72" name="Text Box 24"/>
          <p:cNvSpPr txBox="1">
            <a:spLocks noChangeArrowheads="1"/>
          </p:cNvSpPr>
          <p:nvPr/>
        </p:nvSpPr>
        <p:spPr bwMode="auto">
          <a:xfrm>
            <a:off x="250824" y="1523615"/>
            <a:ext cx="1892283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b="1" dirty="0">
                <a:solidFill>
                  <a:schemeClr val="bg1"/>
                </a:solidFill>
              </a:rPr>
              <a:t>정치</a:t>
            </a:r>
            <a:r>
              <a:rPr lang="en-US" altLang="ko-KR" b="1" dirty="0">
                <a:solidFill>
                  <a:schemeClr val="bg1"/>
                </a:solidFill>
              </a:rPr>
              <a:t>/</a:t>
            </a:r>
            <a:r>
              <a:rPr lang="ko-KR" altLang="en-US" b="1" dirty="0">
                <a:solidFill>
                  <a:schemeClr val="bg1"/>
                </a:solidFill>
              </a:rPr>
              <a:t>정책환경</a:t>
            </a:r>
          </a:p>
        </p:txBody>
      </p:sp>
      <p:sp>
        <p:nvSpPr>
          <p:cNvPr id="173" name="Oval 16"/>
          <p:cNvSpPr>
            <a:spLocks noChangeArrowheads="1"/>
          </p:cNvSpPr>
          <p:nvPr/>
        </p:nvSpPr>
        <p:spPr bwMode="auto">
          <a:xfrm>
            <a:off x="2416172" y="3592496"/>
            <a:ext cx="1655762" cy="10795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algn="ctr">
              <a:defRPr/>
            </a:pPr>
            <a:r>
              <a:rPr lang="ko-KR" altLang="en-US" b="1" dirty="0"/>
              <a:t>정책환경 분석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Ⅱ</a:t>
            </a:r>
            <a:r>
              <a:rPr lang="en-US" altLang="ko-KR" sz="1500" b="1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사업방향 설정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529213" y="1077898"/>
            <a:ext cx="3569466" cy="3508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700" b="1" u="sng" dirty="0"/>
              <a:t>주요 이슈사항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378" descr="농심엔디에스컨소시엄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" name="Picture 374" descr="기본로고"/>
          <p:cNvPicPr>
            <a:picLocks noChangeAspect="1" noChangeArrowheads="1"/>
          </p:cNvPicPr>
          <p:nvPr/>
        </p:nvPicPr>
        <p:blipFill>
          <a:blip r:embed="rId4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/>
          <p:nvPr/>
        </p:nvSpPr>
        <p:spPr>
          <a:xfrm>
            <a:off x="2214546" y="2214554"/>
            <a:ext cx="657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Ⅲ.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현황분석</a:t>
            </a:r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14340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76716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현황분석 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Framework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6944391" y="34001"/>
            <a:ext cx="21996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1.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 </a:t>
            </a: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Framework</a:t>
            </a:r>
            <a:endParaRPr lang="ko-KR" altLang="en-US" sz="15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142844" y="1000108"/>
            <a:ext cx="7704741" cy="537213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1406" y="6429396"/>
            <a:ext cx="2544678" cy="3197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Ⅲ.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</a:t>
            </a:r>
          </a:p>
        </p:txBody>
      </p:sp>
      <p:sp>
        <p:nvSpPr>
          <p:cNvPr id="71" name="Text Box 7"/>
          <p:cNvSpPr txBox="1">
            <a:spLocks noChangeArrowheads="1"/>
          </p:cNvSpPr>
          <p:nvPr/>
        </p:nvSpPr>
        <p:spPr bwMode="auto">
          <a:xfrm>
            <a:off x="2981425" y="1101533"/>
            <a:ext cx="2351471" cy="350217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700" b="1" u="sng" dirty="0">
                <a:solidFill>
                  <a:schemeClr val="lt1"/>
                </a:solidFill>
              </a:rPr>
              <a:t>현황분석 </a:t>
            </a:r>
            <a:r>
              <a:rPr lang="en-US" altLang="ko-KR" sz="1700" b="1" u="sng" dirty="0">
                <a:solidFill>
                  <a:schemeClr val="lt1"/>
                </a:solidFill>
              </a:rPr>
              <a:t>Framework</a:t>
            </a:r>
          </a:p>
        </p:txBody>
      </p:sp>
      <p:sp>
        <p:nvSpPr>
          <p:cNvPr id="74" name="AutoShape 8"/>
          <p:cNvSpPr>
            <a:spLocks noChangeArrowheads="1"/>
          </p:cNvSpPr>
          <p:nvPr/>
        </p:nvSpPr>
        <p:spPr bwMode="auto">
          <a:xfrm>
            <a:off x="1053525" y="1548636"/>
            <a:ext cx="1709018" cy="499511"/>
          </a:xfrm>
          <a:prstGeom prst="homePlate">
            <a:avLst>
              <a:gd name="adj" fmla="val 85535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tx1"/>
                </a:solidFill>
              </a:rPr>
              <a:t>요구사항 분석</a:t>
            </a:r>
          </a:p>
        </p:txBody>
      </p:sp>
      <p:sp>
        <p:nvSpPr>
          <p:cNvPr id="75" name="AutoShape 9"/>
          <p:cNvSpPr>
            <a:spLocks noChangeArrowheads="1"/>
          </p:cNvSpPr>
          <p:nvPr/>
        </p:nvSpPr>
        <p:spPr bwMode="auto">
          <a:xfrm>
            <a:off x="199016" y="1548636"/>
            <a:ext cx="783824" cy="499511"/>
          </a:xfrm>
          <a:prstGeom prst="homePlate">
            <a:avLst>
              <a:gd name="adj" fmla="val 3923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tx1"/>
                </a:solidFill>
              </a:rPr>
              <a:t>수행작업</a:t>
            </a:r>
          </a:p>
        </p:txBody>
      </p:sp>
      <p:sp>
        <p:nvSpPr>
          <p:cNvPr id="76" name="AutoShape 10"/>
          <p:cNvSpPr>
            <a:spLocks noChangeArrowheads="1"/>
          </p:cNvSpPr>
          <p:nvPr/>
        </p:nvSpPr>
        <p:spPr bwMode="auto">
          <a:xfrm>
            <a:off x="2834799" y="1548636"/>
            <a:ext cx="4845884" cy="499511"/>
          </a:xfrm>
          <a:prstGeom prst="homePlate">
            <a:avLst>
              <a:gd name="adj" fmla="val 242531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tx1"/>
                </a:solidFill>
              </a:rPr>
              <a:t>내부역량 분석</a:t>
            </a:r>
          </a:p>
        </p:txBody>
      </p:sp>
      <p:sp>
        <p:nvSpPr>
          <p:cNvPr id="77" name="Rectangle 13"/>
          <p:cNvSpPr>
            <a:spLocks noChangeArrowheads="1"/>
          </p:cNvSpPr>
          <p:nvPr/>
        </p:nvSpPr>
        <p:spPr bwMode="auto">
          <a:xfrm>
            <a:off x="2834799" y="2189518"/>
            <a:ext cx="4845884" cy="370549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8" name="Text Box 23"/>
          <p:cNvSpPr txBox="1">
            <a:spLocks noChangeArrowheads="1"/>
          </p:cNvSpPr>
          <p:nvPr/>
        </p:nvSpPr>
        <p:spPr bwMode="auto">
          <a:xfrm>
            <a:off x="2907055" y="3543537"/>
            <a:ext cx="1638333" cy="61889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관리체계</a:t>
            </a:r>
            <a:r>
              <a:rPr lang="en-US" altLang="ko-KR" sz="1000" b="0"/>
              <a:t>, </a:t>
            </a:r>
            <a:r>
              <a:rPr lang="ko-KR" altLang="en-US" sz="1000" b="0"/>
              <a:t>조직체계 및 </a:t>
            </a:r>
            <a:r>
              <a:rPr lang="en-US" altLang="ko-KR" sz="1000" b="0"/>
              <a:t>R&amp;R </a:t>
            </a:r>
            <a:r>
              <a:rPr lang="ko-KR" altLang="en-US" sz="1000" b="0"/>
              <a:t>현황</a:t>
            </a:r>
          </a:p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조직측면의 이슈 파악</a:t>
            </a:r>
          </a:p>
        </p:txBody>
      </p:sp>
      <p:sp>
        <p:nvSpPr>
          <p:cNvPr id="79" name="Text Box 24"/>
          <p:cNvSpPr txBox="1">
            <a:spLocks noChangeArrowheads="1"/>
          </p:cNvSpPr>
          <p:nvPr/>
        </p:nvSpPr>
        <p:spPr bwMode="auto">
          <a:xfrm>
            <a:off x="4545388" y="3543537"/>
            <a:ext cx="1638332" cy="61889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업무프로세스 현황</a:t>
            </a:r>
          </a:p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업무프로세스 관점의 이슈파악</a:t>
            </a:r>
          </a:p>
        </p:txBody>
      </p:sp>
      <p:sp>
        <p:nvSpPr>
          <p:cNvPr id="80" name="Text Box 25"/>
          <p:cNvSpPr txBox="1">
            <a:spLocks noChangeArrowheads="1"/>
          </p:cNvSpPr>
          <p:nvPr/>
        </p:nvSpPr>
        <p:spPr bwMode="auto">
          <a:xfrm>
            <a:off x="3049998" y="5432271"/>
            <a:ext cx="1709018" cy="46809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이해관계자 정의</a:t>
            </a:r>
          </a:p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이해관계자 니즈 파악</a:t>
            </a:r>
          </a:p>
        </p:txBody>
      </p:sp>
      <p:sp>
        <p:nvSpPr>
          <p:cNvPr id="81" name="Text Box 26"/>
          <p:cNvSpPr txBox="1">
            <a:spLocks noChangeArrowheads="1"/>
          </p:cNvSpPr>
          <p:nvPr/>
        </p:nvSpPr>
        <p:spPr bwMode="auto">
          <a:xfrm>
            <a:off x="4545388" y="5432271"/>
            <a:ext cx="1638332" cy="46809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 dirty="0"/>
              <a:t>관련 법제도 현황</a:t>
            </a:r>
          </a:p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 dirty="0"/>
              <a:t>법제도 측면의 이슈파악</a:t>
            </a:r>
          </a:p>
        </p:txBody>
      </p: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6397348" y="4468732"/>
            <a:ext cx="1283335" cy="3926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000" b="0"/>
              <a:t>이슈 및 원인 분석 결과 종합</a:t>
            </a:r>
          </a:p>
        </p:txBody>
      </p:sp>
      <p:sp>
        <p:nvSpPr>
          <p:cNvPr id="83" name="Rectangle 15"/>
          <p:cNvSpPr>
            <a:spLocks noChangeArrowheads="1"/>
          </p:cNvSpPr>
          <p:nvPr/>
        </p:nvSpPr>
        <p:spPr bwMode="auto">
          <a:xfrm>
            <a:off x="4616073" y="2260204"/>
            <a:ext cx="1496962" cy="28588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>
                <a:solidFill>
                  <a:schemeClr val="bg1"/>
                </a:solidFill>
              </a:rPr>
              <a:t>업무측면</a:t>
            </a:r>
          </a:p>
        </p:txBody>
      </p:sp>
      <p:sp>
        <p:nvSpPr>
          <p:cNvPr id="84" name="Rectangle 20"/>
          <p:cNvSpPr>
            <a:spLocks noChangeArrowheads="1"/>
          </p:cNvSpPr>
          <p:nvPr/>
        </p:nvSpPr>
        <p:spPr bwMode="auto">
          <a:xfrm>
            <a:off x="4616073" y="2616772"/>
            <a:ext cx="1496962" cy="92676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85" name="Picture 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88330" y="2616772"/>
            <a:ext cx="1354020" cy="85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Rectangle 16"/>
          <p:cNvSpPr>
            <a:spLocks noChangeArrowheads="1"/>
          </p:cNvSpPr>
          <p:nvPr/>
        </p:nvSpPr>
        <p:spPr bwMode="auto">
          <a:xfrm>
            <a:off x="2919610" y="4184419"/>
            <a:ext cx="1625778" cy="28588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bg1"/>
                </a:solidFill>
              </a:rPr>
              <a:t>이해관계자측면</a:t>
            </a:r>
          </a:p>
        </p:txBody>
      </p:sp>
      <p:sp>
        <p:nvSpPr>
          <p:cNvPr id="87" name="Rectangle 21"/>
          <p:cNvSpPr>
            <a:spLocks noChangeArrowheads="1"/>
          </p:cNvSpPr>
          <p:nvPr/>
        </p:nvSpPr>
        <p:spPr bwMode="auto">
          <a:xfrm>
            <a:off x="2919610" y="4556275"/>
            <a:ext cx="1496961" cy="92676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88" name="Picture 3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90296" y="4611673"/>
            <a:ext cx="1354019" cy="76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" name="Rectangle 17"/>
          <p:cNvSpPr>
            <a:spLocks noChangeArrowheads="1"/>
          </p:cNvSpPr>
          <p:nvPr/>
        </p:nvSpPr>
        <p:spPr bwMode="auto">
          <a:xfrm>
            <a:off x="4616073" y="4184419"/>
            <a:ext cx="1496962" cy="28588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>
                <a:solidFill>
                  <a:schemeClr val="bg1"/>
                </a:solidFill>
              </a:rPr>
              <a:t>법</a:t>
            </a:r>
            <a:r>
              <a:rPr lang="en-US" altLang="ko-KR" sz="1300" b="1">
                <a:solidFill>
                  <a:schemeClr val="bg1"/>
                </a:solidFill>
              </a:rPr>
              <a:t>·</a:t>
            </a:r>
            <a:r>
              <a:rPr lang="ko-KR" altLang="en-US" sz="1300" b="1">
                <a:solidFill>
                  <a:schemeClr val="bg1"/>
                </a:solidFill>
              </a:rPr>
              <a:t>제도 측면</a:t>
            </a:r>
          </a:p>
        </p:txBody>
      </p:sp>
      <p:sp>
        <p:nvSpPr>
          <p:cNvPr id="116" name="Rectangle 22"/>
          <p:cNvSpPr>
            <a:spLocks noChangeArrowheads="1"/>
          </p:cNvSpPr>
          <p:nvPr/>
        </p:nvSpPr>
        <p:spPr bwMode="auto">
          <a:xfrm>
            <a:off x="4616073" y="4540988"/>
            <a:ext cx="1496962" cy="92676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17" name="Picture 3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88330" y="4556275"/>
            <a:ext cx="1354020" cy="854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" name="Rectangle 18"/>
          <p:cNvSpPr>
            <a:spLocks noChangeArrowheads="1"/>
          </p:cNvSpPr>
          <p:nvPr/>
        </p:nvSpPr>
        <p:spPr bwMode="auto">
          <a:xfrm>
            <a:off x="6397348" y="2930497"/>
            <a:ext cx="1140393" cy="49480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bg1"/>
                </a:solidFill>
              </a:rPr>
              <a:t>현황분석</a:t>
            </a:r>
          </a:p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bg1"/>
                </a:solidFill>
              </a:rPr>
              <a:t>종합</a:t>
            </a:r>
          </a:p>
        </p:txBody>
      </p:sp>
      <p:sp>
        <p:nvSpPr>
          <p:cNvPr id="119" name="Rectangle 27"/>
          <p:cNvSpPr>
            <a:spLocks noChangeArrowheads="1"/>
          </p:cNvSpPr>
          <p:nvPr/>
        </p:nvSpPr>
        <p:spPr bwMode="auto">
          <a:xfrm>
            <a:off x="6397348" y="3472852"/>
            <a:ext cx="1138822" cy="92676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20" name="Picture 3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69604" y="3543537"/>
            <a:ext cx="997451" cy="854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1" name="Group 37"/>
          <p:cNvGrpSpPr>
            <a:grpSpLocks/>
          </p:cNvGrpSpPr>
          <p:nvPr/>
        </p:nvGrpSpPr>
        <p:grpSpPr bwMode="auto">
          <a:xfrm>
            <a:off x="982840" y="2189518"/>
            <a:ext cx="1710588" cy="3705490"/>
            <a:chOff x="203" y="1571"/>
            <a:chExt cx="1089" cy="2313"/>
          </a:xfrm>
        </p:grpSpPr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249" y="1571"/>
              <a:ext cx="1043" cy="2313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3" name="Text Box 12"/>
            <p:cNvSpPr txBox="1">
              <a:spLocks noChangeArrowheads="1"/>
            </p:cNvSpPr>
            <p:nvPr/>
          </p:nvSpPr>
          <p:spPr bwMode="auto">
            <a:xfrm>
              <a:off x="203" y="3113"/>
              <a:ext cx="1089" cy="7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ko-KR" altLang="en-US" sz="1200" dirty="0"/>
                <a:t> 병해충 </a:t>
              </a:r>
              <a:r>
                <a:rPr lang="ko-KR" altLang="en-US" sz="1200" dirty="0" err="1"/>
                <a:t>예찰방제</a:t>
              </a:r>
              <a:r>
                <a:rPr lang="ko-KR" altLang="en-US" sz="1200" dirty="0"/>
                <a:t> 조직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관련기관의 </a:t>
              </a:r>
              <a:r>
                <a:rPr lang="ko-KR" altLang="en-US" sz="1600" b="1" dirty="0"/>
                <a:t>인터뷰 수행</a:t>
              </a:r>
              <a:r>
                <a:rPr lang="en-US" altLang="ko-KR" sz="1600" b="1" dirty="0"/>
                <a:t>/</a:t>
              </a:r>
              <a:r>
                <a:rPr lang="ko-KR" altLang="en-US" sz="1600" b="1" dirty="0"/>
                <a:t>설문</a:t>
              </a:r>
            </a:p>
            <a:p>
              <a:pPr algn="l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ko-KR" altLang="en-US" sz="1200" dirty="0"/>
                <a:t>기간 </a:t>
              </a:r>
              <a:r>
                <a:rPr lang="en-US" altLang="ko-KR" sz="1200" dirty="0"/>
                <a:t>: 09/7/1~09//30   </a:t>
              </a:r>
            </a:p>
          </p:txBody>
        </p:sp>
        <p:pic>
          <p:nvPicPr>
            <p:cNvPr id="124" name="Picture 36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295" y="1616"/>
              <a:ext cx="860" cy="1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5" name="Rectangle 14"/>
          <p:cNvSpPr>
            <a:spLocks noChangeArrowheads="1"/>
          </p:cNvSpPr>
          <p:nvPr/>
        </p:nvSpPr>
        <p:spPr bwMode="auto">
          <a:xfrm>
            <a:off x="2919610" y="2260204"/>
            <a:ext cx="1555093" cy="28588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bg1"/>
                </a:solidFill>
              </a:rPr>
              <a:t>조직측면</a:t>
            </a:r>
          </a:p>
        </p:txBody>
      </p:sp>
      <p:sp>
        <p:nvSpPr>
          <p:cNvPr id="126" name="Rectangle 38"/>
          <p:cNvSpPr>
            <a:spLocks noChangeArrowheads="1"/>
          </p:cNvSpPr>
          <p:nvPr/>
        </p:nvSpPr>
        <p:spPr bwMode="auto">
          <a:xfrm>
            <a:off x="2919610" y="2616772"/>
            <a:ext cx="1555093" cy="949899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27" name="Picture 3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990296" y="2689028"/>
            <a:ext cx="1412151" cy="76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" name="AutoShape 45"/>
          <p:cNvSpPr>
            <a:spLocks noChangeArrowheads="1"/>
          </p:cNvSpPr>
          <p:nvPr/>
        </p:nvSpPr>
        <p:spPr bwMode="auto">
          <a:xfrm rot="5400000">
            <a:off x="4580732" y="3935449"/>
            <a:ext cx="3348921" cy="14294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29" name="AutoShape 46"/>
          <p:cNvSpPr>
            <a:spLocks noChangeArrowheads="1"/>
          </p:cNvSpPr>
          <p:nvPr/>
        </p:nvSpPr>
        <p:spPr bwMode="auto">
          <a:xfrm rot="16200000">
            <a:off x="4528094" y="3721036"/>
            <a:ext cx="356569" cy="4845884"/>
          </a:xfrm>
          <a:prstGeom prst="homePlate">
            <a:avLst>
              <a:gd name="adj" fmla="val 2500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30" name="AutoShape 49"/>
          <p:cNvSpPr>
            <a:spLocks noChangeArrowheads="1"/>
          </p:cNvSpPr>
          <p:nvPr/>
        </p:nvSpPr>
        <p:spPr bwMode="auto">
          <a:xfrm>
            <a:off x="162856" y="6037541"/>
            <a:ext cx="989604" cy="285884"/>
          </a:xfrm>
          <a:prstGeom prst="homePlate">
            <a:avLst>
              <a:gd name="adj" fmla="val 68544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tx1"/>
                </a:solidFill>
              </a:rPr>
              <a:t>수행방법</a:t>
            </a:r>
          </a:p>
        </p:txBody>
      </p:sp>
      <p:cxnSp>
        <p:nvCxnSpPr>
          <p:cNvPr id="131" name="직선 연결선 130"/>
          <p:cNvCxnSpPr/>
          <p:nvPr/>
        </p:nvCxnSpPr>
        <p:spPr>
          <a:xfrm rot="5400000">
            <a:off x="-896635" y="4060674"/>
            <a:ext cx="3675645" cy="1571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 rot="5400000">
            <a:off x="4334117" y="4034409"/>
            <a:ext cx="3675645" cy="1571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 flipV="1">
            <a:off x="940402" y="2198942"/>
            <a:ext cx="5230752" cy="24695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 flipV="1">
            <a:off x="940402" y="5874587"/>
            <a:ext cx="5230752" cy="24721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 Box 34"/>
          <p:cNvSpPr txBox="1">
            <a:spLocks noChangeArrowheads="1"/>
          </p:cNvSpPr>
          <p:nvPr/>
        </p:nvSpPr>
        <p:spPr bwMode="auto">
          <a:xfrm>
            <a:off x="7894310" y="3221526"/>
            <a:ext cx="570196" cy="7068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/>
              <a:t>개선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/>
              <a:t>과제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/>
              <a:t>선정</a:t>
            </a:r>
          </a:p>
        </p:txBody>
      </p:sp>
      <p:sp>
        <p:nvSpPr>
          <p:cNvPr id="142" name="Text Box 35"/>
          <p:cNvSpPr txBox="1">
            <a:spLocks noChangeArrowheads="1"/>
          </p:cNvSpPr>
          <p:nvPr/>
        </p:nvSpPr>
        <p:spPr bwMode="auto">
          <a:xfrm>
            <a:off x="7894310" y="4718487"/>
            <a:ext cx="570196" cy="7232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>
                <a:solidFill>
                  <a:schemeClr val="dk1"/>
                </a:solidFill>
              </a:rPr>
              <a:t>실천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>
                <a:solidFill>
                  <a:schemeClr val="dk1"/>
                </a:solidFill>
              </a:rPr>
              <a:t>과제 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>
                <a:solidFill>
                  <a:schemeClr val="dk1"/>
                </a:solidFill>
              </a:rPr>
              <a:t>도출</a:t>
            </a:r>
          </a:p>
        </p:txBody>
      </p:sp>
      <p:sp>
        <p:nvSpPr>
          <p:cNvPr id="143" name="Line 48"/>
          <p:cNvSpPr>
            <a:spLocks noChangeShapeType="1"/>
          </p:cNvSpPr>
          <p:nvPr/>
        </p:nvSpPr>
        <p:spPr bwMode="auto">
          <a:xfrm>
            <a:off x="8178622" y="4005349"/>
            <a:ext cx="0" cy="5701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144" name="AutoShape 50"/>
          <p:cNvCxnSpPr>
            <a:cxnSpLocks noChangeShapeType="1"/>
            <a:endCxn id="141" idx="1"/>
          </p:cNvCxnSpPr>
          <p:nvPr/>
        </p:nvCxnSpPr>
        <p:spPr bwMode="auto">
          <a:xfrm flipV="1">
            <a:off x="7680683" y="3574953"/>
            <a:ext cx="213627" cy="645595"/>
          </a:xfrm>
          <a:prstGeom prst="bentConnector3">
            <a:avLst>
              <a:gd name="adj1" fmla="val 49264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45" name="AutoShape 52"/>
          <p:cNvCxnSpPr>
            <a:cxnSpLocks noChangeShapeType="1"/>
            <a:endCxn id="142" idx="1"/>
          </p:cNvCxnSpPr>
          <p:nvPr/>
        </p:nvCxnSpPr>
        <p:spPr bwMode="auto">
          <a:xfrm rot="16200000" flipH="1">
            <a:off x="7357708" y="4543522"/>
            <a:ext cx="859577" cy="213627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6" name="Text Box 53"/>
          <p:cNvSpPr txBox="1">
            <a:spLocks noChangeArrowheads="1"/>
          </p:cNvSpPr>
          <p:nvPr/>
        </p:nvSpPr>
        <p:spPr bwMode="auto">
          <a:xfrm>
            <a:off x="8107937" y="4077605"/>
            <a:ext cx="534068" cy="46809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/>
              <a:t>현업</a:t>
            </a:r>
          </a:p>
          <a:p>
            <a:pPr>
              <a:spcBef>
                <a:spcPct val="50000"/>
              </a:spcBef>
            </a:pPr>
            <a:r>
              <a:rPr lang="ko-KR" altLang="en-US" sz="1000"/>
              <a:t>조율</a:t>
            </a:r>
          </a:p>
        </p:txBody>
      </p:sp>
      <p:sp>
        <p:nvSpPr>
          <p:cNvPr id="147" name="Text Box 54"/>
          <p:cNvSpPr txBox="1">
            <a:spLocks noChangeArrowheads="1"/>
          </p:cNvSpPr>
          <p:nvPr/>
        </p:nvSpPr>
        <p:spPr bwMode="auto">
          <a:xfrm>
            <a:off x="8678133" y="3791722"/>
            <a:ext cx="320441" cy="92883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 dirty="0">
                <a:solidFill>
                  <a:schemeClr val="dk1"/>
                </a:solidFill>
              </a:rPr>
              <a:t>이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 dirty="0">
                <a:solidFill>
                  <a:schemeClr val="dk1"/>
                </a:solidFill>
              </a:rPr>
              <a:t>행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 dirty="0">
                <a:solidFill>
                  <a:schemeClr val="dk1"/>
                </a:solidFill>
              </a:rPr>
              <a:t>계</a:t>
            </a:r>
          </a:p>
          <a:p>
            <a:pPr marL="88900" indent="-88900" fontAlgn="ctr" latinLnBrk="0">
              <a:spcBef>
                <a:spcPct val="50000"/>
              </a:spcBef>
              <a:defRPr/>
            </a:pPr>
            <a:r>
              <a:rPr lang="ko-KR" altLang="en-US" sz="1000" dirty="0">
                <a:solidFill>
                  <a:schemeClr val="dk1"/>
                </a:solidFill>
              </a:rPr>
              <a:t>획</a:t>
            </a:r>
          </a:p>
        </p:txBody>
      </p:sp>
      <p:cxnSp>
        <p:nvCxnSpPr>
          <p:cNvPr id="148" name="AutoShape 55"/>
          <p:cNvCxnSpPr>
            <a:cxnSpLocks noChangeShapeType="1"/>
            <a:stCxn id="141" idx="3"/>
            <a:endCxn id="147" idx="1"/>
          </p:cNvCxnSpPr>
          <p:nvPr/>
        </p:nvCxnSpPr>
        <p:spPr bwMode="auto">
          <a:xfrm>
            <a:off x="8464506" y="3574954"/>
            <a:ext cx="213627" cy="68118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49" name="AutoShape 56"/>
          <p:cNvCxnSpPr>
            <a:cxnSpLocks noChangeShapeType="1"/>
            <a:stCxn id="142" idx="3"/>
            <a:endCxn id="147" idx="1"/>
          </p:cNvCxnSpPr>
          <p:nvPr/>
        </p:nvCxnSpPr>
        <p:spPr bwMode="auto">
          <a:xfrm flipV="1">
            <a:off x="8464506" y="4256141"/>
            <a:ext cx="213627" cy="82398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64" name="직사각형 63"/>
          <p:cNvSpPr/>
          <p:nvPr/>
        </p:nvSpPr>
        <p:spPr>
          <a:xfrm>
            <a:off x="2424840" y="6018887"/>
            <a:ext cx="4523871" cy="28931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tx1"/>
                </a:solidFill>
              </a:rPr>
              <a:t>인터뷰 </a:t>
            </a:r>
            <a:r>
              <a:rPr lang="en-US" altLang="ko-KR" sz="1300" b="1" dirty="0">
                <a:solidFill>
                  <a:schemeClr val="tx1"/>
                </a:solidFill>
              </a:rPr>
              <a:t>/ </a:t>
            </a:r>
            <a:r>
              <a:rPr lang="ko-KR" altLang="en-US" sz="1300" b="1" dirty="0">
                <a:solidFill>
                  <a:schemeClr val="tx1"/>
                </a:solidFill>
              </a:rPr>
              <a:t>설문 </a:t>
            </a:r>
            <a:r>
              <a:rPr lang="en-US" altLang="ko-KR" sz="1300" b="1" dirty="0">
                <a:solidFill>
                  <a:schemeClr val="tx1"/>
                </a:solidFill>
              </a:rPr>
              <a:t>/ </a:t>
            </a:r>
            <a:r>
              <a:rPr lang="ko-KR" altLang="en-US" sz="1300" b="1" dirty="0">
                <a:solidFill>
                  <a:schemeClr val="tx1"/>
                </a:solidFill>
              </a:rPr>
              <a:t>현황자료 조사 </a:t>
            </a:r>
            <a:r>
              <a:rPr lang="en-US" altLang="ko-KR" sz="1300" b="1" dirty="0">
                <a:solidFill>
                  <a:schemeClr val="tx1"/>
                </a:solidFill>
              </a:rPr>
              <a:t>· </a:t>
            </a:r>
            <a:r>
              <a:rPr lang="ko-KR" altLang="en-US" sz="1300" b="1" dirty="0">
                <a:solidFill>
                  <a:schemeClr val="tx1"/>
                </a:solidFill>
              </a:rPr>
              <a:t>분석</a:t>
            </a:r>
            <a:r>
              <a:rPr lang="en-US" altLang="ko-KR" sz="1300" b="1" dirty="0">
                <a:solidFill>
                  <a:schemeClr val="tx1"/>
                </a:solidFill>
              </a:rPr>
              <a:t>, </a:t>
            </a:r>
            <a:r>
              <a:rPr lang="ko-KR" altLang="en-US" sz="1300" b="1" dirty="0">
                <a:solidFill>
                  <a:schemeClr val="tx1"/>
                </a:solidFill>
              </a:rPr>
              <a:t>관계기관방문</a:t>
            </a:r>
            <a:endParaRPr lang="en-US" altLang="ko-KR" sz="13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337216"/>
            <a:ext cx="414340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337216"/>
            <a:ext cx="376716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인터뷰 결과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509909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7393929" y="34001"/>
            <a:ext cx="167866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요구사항 분석</a:t>
            </a: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 </a:t>
            </a:r>
            <a:endParaRPr lang="ko-KR" altLang="en-US" sz="15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Ⅲ.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162254" y="1635102"/>
            <a:ext cx="8867026" cy="342608"/>
            <a:chOff x="162254" y="1465811"/>
            <a:chExt cx="7820840" cy="302185"/>
          </a:xfrm>
        </p:grpSpPr>
        <p:sp>
          <p:nvSpPr>
            <p:cNvPr id="24" name="AutoShape 9"/>
            <p:cNvSpPr>
              <a:spLocks noChangeArrowheads="1"/>
            </p:cNvSpPr>
            <p:nvPr/>
          </p:nvSpPr>
          <p:spPr bwMode="auto">
            <a:xfrm>
              <a:off x="5544694" y="1466371"/>
              <a:ext cx="2438400" cy="295275"/>
            </a:xfrm>
            <a:prstGeom prst="chevron">
              <a:avLst>
                <a:gd name="adj" fmla="val 69849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300" b="1"/>
                <a:t>개선 방향</a:t>
              </a:r>
              <a:r>
                <a:rPr lang="en-US" altLang="ko-KR" sz="1300" b="1"/>
                <a:t>(</a:t>
              </a:r>
              <a:r>
                <a:rPr lang="ko-KR" altLang="en-US" sz="1300" b="1"/>
                <a:t>안</a:t>
              </a:r>
              <a:r>
                <a:rPr lang="en-US" altLang="ko-KR" sz="1300" b="1"/>
                <a:t>)</a:t>
              </a:r>
            </a:p>
          </p:txBody>
        </p:sp>
        <p:sp>
          <p:nvSpPr>
            <p:cNvPr id="25" name="AutoShape 10"/>
            <p:cNvSpPr>
              <a:spLocks noChangeArrowheads="1"/>
            </p:cNvSpPr>
            <p:nvPr/>
          </p:nvSpPr>
          <p:spPr bwMode="auto">
            <a:xfrm>
              <a:off x="2870517" y="1465811"/>
              <a:ext cx="2771775" cy="295275"/>
            </a:xfrm>
            <a:prstGeom prst="chevron">
              <a:avLst>
                <a:gd name="adj" fmla="val 72297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300" b="1" dirty="0"/>
                <a:t>주요이슈</a:t>
              </a:r>
            </a:p>
          </p:txBody>
        </p:sp>
        <p:sp>
          <p:nvSpPr>
            <p:cNvPr id="26" name="AutoShape 11"/>
            <p:cNvSpPr>
              <a:spLocks noChangeArrowheads="1"/>
            </p:cNvSpPr>
            <p:nvPr/>
          </p:nvSpPr>
          <p:spPr bwMode="auto">
            <a:xfrm>
              <a:off x="162254" y="1474309"/>
              <a:ext cx="2811462" cy="293687"/>
            </a:xfrm>
            <a:prstGeom prst="homePlate">
              <a:avLst>
                <a:gd name="adj" fmla="val 71066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300" b="1" dirty="0"/>
                <a:t>현황  분석</a:t>
              </a:r>
            </a:p>
          </p:txBody>
        </p:sp>
      </p:grpSp>
      <p:sp>
        <p:nvSpPr>
          <p:cNvPr id="75" name="직사각형 74"/>
          <p:cNvSpPr/>
          <p:nvPr/>
        </p:nvSpPr>
        <p:spPr>
          <a:xfrm>
            <a:off x="71406" y="924069"/>
            <a:ext cx="8715436" cy="1363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/>
              <a:t>□ 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인터뷰조사 대상 </a:t>
            </a:r>
            <a:r>
              <a:rPr lang="en-US" altLang="ko-KR" sz="1400" b="1" dirty="0"/>
              <a:t>: </a:t>
            </a:r>
            <a:r>
              <a:rPr lang="ko-KR" altLang="en-US" sz="1400" b="1" dirty="0" err="1"/>
              <a:t>농림</a:t>
            </a:r>
            <a:r>
              <a:rPr lang="ko-KR" altLang="en-US" sz="1400" b="1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수산식품부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농촌진흥청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농촌지원국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국립농업과학원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시험장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  <a:p>
            <a:pPr lvl="0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                  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도 농업기술원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시군 농업기술센터 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화성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안성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영동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예산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천안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정읍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영천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</a:t>
            </a:r>
            <a:r>
              <a:rPr lang="ko-KR" altLang="en-US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안동</a:t>
            </a:r>
            <a:r>
              <a:rPr lang="en-US" altLang="ko-KR" sz="14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  <a:p>
            <a:pPr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b="1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  <a:p>
            <a:pPr lvl="0" algn="ctr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400" b="1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  <a:p>
            <a:pPr>
              <a:spcBef>
                <a:spcPct val="50000"/>
              </a:spcBef>
              <a:defRPr/>
            </a:pPr>
            <a:endParaRPr lang="ko-KR" altLang="en-US" sz="1400" b="1" dirty="0"/>
          </a:p>
        </p:txBody>
      </p:sp>
      <p:grpSp>
        <p:nvGrpSpPr>
          <p:cNvPr id="66" name="그룹 65"/>
          <p:cNvGrpSpPr/>
          <p:nvPr/>
        </p:nvGrpSpPr>
        <p:grpSpPr>
          <a:xfrm>
            <a:off x="142844" y="2060724"/>
            <a:ext cx="8856662" cy="4392612"/>
            <a:chOff x="142844" y="1851011"/>
            <a:chExt cx="8856662" cy="4392612"/>
          </a:xfrm>
        </p:grpSpPr>
        <p:sp>
          <p:nvSpPr>
            <p:cNvPr id="23" name="Rectangle 45"/>
            <p:cNvSpPr>
              <a:spLocks noChangeArrowheads="1"/>
            </p:cNvSpPr>
            <p:nvPr/>
          </p:nvSpPr>
          <p:spPr bwMode="auto">
            <a:xfrm>
              <a:off x="142844" y="1851011"/>
              <a:ext cx="8856662" cy="439261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6992906" y="2116123"/>
              <a:ext cx="1935163" cy="5921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 b="1" dirty="0">
                  <a:solidFill>
                    <a:schemeClr val="bg1"/>
                  </a:solidFill>
                </a:rPr>
                <a:t> </a:t>
              </a:r>
              <a:r>
                <a:rPr kumimoji="0" lang="ko-KR" altLang="en-US" sz="1000" b="1" dirty="0">
                  <a:solidFill>
                    <a:schemeClr val="bg1"/>
                  </a:solidFill>
                </a:rPr>
                <a:t>품목확대에 따른 인력 및</a:t>
              </a:r>
              <a:endParaRPr kumimoji="0" lang="en-US" altLang="ko-KR" sz="1000" b="1" dirty="0">
                <a:solidFill>
                  <a:schemeClr val="bg1"/>
                </a:solidFill>
              </a:endParaRPr>
            </a:p>
            <a:p>
              <a:pPr marL="88900" indent="-88900" fontAlgn="ctr" latinLnBrk="0"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  </a:t>
              </a:r>
              <a:r>
                <a:rPr kumimoji="0" lang="ko-KR" altLang="en-US" sz="1000" b="1" dirty="0">
                  <a:solidFill>
                    <a:schemeClr val="bg1"/>
                  </a:solidFill>
                </a:rPr>
                <a:t> 예산 확보</a:t>
              </a: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6992906" y="5402248"/>
              <a:ext cx="1935163" cy="50165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관계기관  협업체계</a:t>
              </a: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6992906" y="4138622"/>
              <a:ext cx="1935163" cy="6477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 업무 프로세스의 표준화와 </a:t>
              </a:r>
              <a:br>
                <a:rPr lang="en-US" altLang="ko-KR" sz="1000" b="1" dirty="0">
                  <a:solidFill>
                    <a:schemeClr val="bg1"/>
                  </a:solidFill>
                </a:rPr>
              </a:br>
              <a:r>
                <a:rPr lang="en-US" altLang="ko-KR" sz="1000" b="1" dirty="0">
                  <a:solidFill>
                    <a:schemeClr val="bg1"/>
                  </a:solidFill>
                </a:rPr>
                <a:t> 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시스템화</a:t>
              </a:r>
            </a:p>
          </p:txBody>
        </p:sp>
        <p:sp>
          <p:nvSpPr>
            <p:cNvPr id="31" name="Rectangle 33"/>
            <p:cNvSpPr>
              <a:spLocks noChangeArrowheads="1"/>
            </p:cNvSpPr>
            <p:nvPr/>
          </p:nvSpPr>
          <p:spPr bwMode="auto">
            <a:xfrm>
              <a:off x="7000892" y="3214686"/>
              <a:ext cx="1927177" cy="50006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b="1" dirty="0" err="1">
                  <a:solidFill>
                    <a:schemeClr val="bg1"/>
                  </a:solidFill>
                </a:rPr>
                <a:t>예찰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,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방제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,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 지도업무의 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marL="88900" indent="-88900" fontAlgn="ctr" latinLnBrk="0"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  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체계화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,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강화</a:t>
              </a: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V="1">
              <a:off x="3422648" y="2230423"/>
              <a:ext cx="792162" cy="21590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3422648" y="2446323"/>
              <a:ext cx="823940" cy="696925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V="1">
              <a:off x="3422648" y="2230423"/>
              <a:ext cx="792162" cy="1081088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V="1">
              <a:off x="3422648" y="3143247"/>
              <a:ext cx="752502" cy="168263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auto">
            <a:xfrm flipV="1">
              <a:off x="3422648" y="3071810"/>
              <a:ext cx="823940" cy="958838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Line 32"/>
            <p:cNvSpPr>
              <a:spLocks noChangeShapeType="1"/>
            </p:cNvSpPr>
            <p:nvPr/>
          </p:nvSpPr>
          <p:spPr bwMode="auto">
            <a:xfrm flipV="1">
              <a:off x="3422648" y="2230423"/>
              <a:ext cx="792162" cy="1800225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Line 33"/>
            <p:cNvSpPr>
              <a:spLocks noChangeShapeType="1"/>
            </p:cNvSpPr>
            <p:nvPr/>
          </p:nvSpPr>
          <p:spPr bwMode="auto">
            <a:xfrm flipV="1">
              <a:off x="3422648" y="4000503"/>
              <a:ext cx="823940" cy="750869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Line 34"/>
            <p:cNvSpPr>
              <a:spLocks noChangeShapeType="1"/>
            </p:cNvSpPr>
            <p:nvPr/>
          </p:nvSpPr>
          <p:spPr bwMode="auto">
            <a:xfrm>
              <a:off x="3389332" y="4719642"/>
              <a:ext cx="857256" cy="66679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Line 36"/>
            <p:cNvSpPr>
              <a:spLocks noChangeShapeType="1"/>
            </p:cNvSpPr>
            <p:nvPr/>
          </p:nvSpPr>
          <p:spPr bwMode="auto">
            <a:xfrm>
              <a:off x="3422648" y="5614973"/>
              <a:ext cx="863600" cy="144463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Rectangle 17"/>
            <p:cNvSpPr>
              <a:spLocks noChangeArrowheads="1"/>
            </p:cNvSpPr>
            <p:nvPr/>
          </p:nvSpPr>
          <p:spPr bwMode="auto">
            <a:xfrm>
              <a:off x="857224" y="2014523"/>
              <a:ext cx="2592388" cy="86360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</a:t>
              </a:r>
              <a:r>
                <a:rPr kumimoji="0" lang="en-US" altLang="ko-KR" sz="1000" dirty="0">
                  <a:solidFill>
                    <a:sysClr val="windowText" lastClr="000000"/>
                  </a:solidFill>
                  <a:ea typeface="맑은 고딕" pitchFamily="50" charset="-127"/>
                </a:rPr>
                <a:t> 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  <a:ea typeface="맑은 고딕" pitchFamily="50" charset="-127"/>
                </a:rPr>
                <a:t>인력의 부족</a:t>
              </a:r>
            </a:p>
            <a:p>
              <a:pPr marL="88900" indent="-88900"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 - 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센터의 지도인력 감축</a:t>
              </a:r>
            </a:p>
            <a:p>
              <a:pPr marL="88900" indent="-88900">
                <a:defRPr/>
              </a:pP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 </a:t>
              </a: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1000" dirty="0" err="1">
                  <a:solidFill>
                    <a:sysClr val="windowText" lastClr="000000"/>
                  </a:solidFill>
                </a:rPr>
                <a:t>예찰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담당자 및 </a:t>
              </a:r>
              <a:r>
                <a:rPr kumimoji="0" lang="ko-KR" altLang="en-US" sz="1000" dirty="0" err="1">
                  <a:solidFill>
                    <a:sysClr val="windowText" lastClr="000000"/>
                  </a:solidFill>
                </a:rPr>
                <a:t>예찰요원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부족</a:t>
              </a:r>
            </a:p>
            <a:p>
              <a:pPr marL="88900" indent="-88900"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 - </a:t>
              </a:r>
              <a:r>
                <a:rPr kumimoji="0" lang="ko-KR" altLang="en-US" sz="1000" dirty="0" err="1">
                  <a:solidFill>
                    <a:sysClr val="windowText" lastClr="000000"/>
                  </a:solidFill>
                </a:rPr>
                <a:t>예찰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담당자</a:t>
              </a: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(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지도</a:t>
              </a: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)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의 업무 증가</a:t>
              </a:r>
            </a:p>
            <a:p>
              <a:pPr marL="88900" indent="-88900" fontAlgn="ctr" latinLnBrk="0">
                <a:defRPr/>
              </a:pPr>
              <a:endParaRPr kumimoji="0"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22"/>
            <p:cNvSpPr>
              <a:spLocks noChangeArrowheads="1"/>
            </p:cNvSpPr>
            <p:nvPr/>
          </p:nvSpPr>
          <p:spPr bwMode="auto">
            <a:xfrm>
              <a:off x="857224" y="4516423"/>
              <a:ext cx="2592388" cy="506413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>
                  <a:solidFill>
                    <a:sysClr val="windowText" lastClr="000000"/>
                  </a:solidFill>
                  <a:ea typeface="맑은 고딕" pitchFamily="50" charset="-127"/>
                </a:rPr>
                <a:t>예찰 및 방제 업무 프로세스가 불명확</a:t>
              </a:r>
            </a:p>
          </p:txBody>
        </p:sp>
        <p:sp>
          <p:nvSpPr>
            <p:cNvPr id="59" name="Rectangle 23"/>
            <p:cNvSpPr>
              <a:spLocks noChangeArrowheads="1"/>
            </p:cNvSpPr>
            <p:nvPr/>
          </p:nvSpPr>
          <p:spPr bwMode="auto">
            <a:xfrm>
              <a:off x="857224" y="2979723"/>
              <a:ext cx="2592388" cy="719138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800" dirty="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800" dirty="0">
                  <a:solidFill>
                    <a:sysClr val="windowText" lastClr="000000"/>
                  </a:solidFill>
                  <a:ea typeface="맑은 고딕" pitchFamily="50" charset="-127"/>
                </a:rPr>
                <a:t>예산의 부족</a:t>
              </a:r>
            </a:p>
            <a:p>
              <a:pPr marL="88900" indent="-88900">
                <a:defRPr/>
              </a:pPr>
              <a:r>
                <a:rPr kumimoji="0" lang="en-US" altLang="ko-KR" sz="800" dirty="0">
                  <a:solidFill>
                    <a:sysClr val="windowText" lastClr="000000"/>
                  </a:solidFill>
                </a:rPr>
                <a:t>   - </a:t>
              </a: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인력 예산 부족</a:t>
              </a:r>
              <a:endParaRPr kumimoji="0" lang="en-US" altLang="ko-KR" sz="800" dirty="0">
                <a:solidFill>
                  <a:sysClr val="windowText" lastClr="000000"/>
                </a:solidFill>
              </a:endParaRPr>
            </a:p>
            <a:p>
              <a:pPr marL="88900" indent="-88900">
                <a:defRPr/>
              </a:pP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   </a:t>
              </a:r>
              <a:r>
                <a:rPr kumimoji="0" lang="en-US" altLang="ko-KR" sz="800" dirty="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장기적인 유지보수 예산</a:t>
              </a:r>
            </a:p>
            <a:p>
              <a:pPr marL="88900" indent="-88900">
                <a:defRPr/>
              </a:pP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   </a:t>
              </a:r>
              <a:r>
                <a:rPr kumimoji="0" lang="en-US" altLang="ko-KR" sz="800" dirty="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방제 예산</a:t>
              </a:r>
            </a:p>
            <a:p>
              <a:pPr marL="88900" indent="-88900">
                <a:defRPr/>
              </a:pP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   </a:t>
              </a:r>
              <a:r>
                <a:rPr kumimoji="0" lang="en-US" altLang="ko-KR" sz="800" dirty="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800" dirty="0" err="1">
                  <a:solidFill>
                    <a:sysClr val="windowText" lastClr="000000"/>
                  </a:solidFill>
                </a:rPr>
                <a:t>예찰</a:t>
              </a:r>
              <a:r>
                <a:rPr kumimoji="0" lang="ko-KR" altLang="en-US" sz="800" dirty="0">
                  <a:solidFill>
                    <a:sysClr val="windowText" lastClr="000000"/>
                  </a:solidFill>
                </a:rPr>
                <a:t> 연구나 소프트연구 예산</a:t>
              </a:r>
            </a:p>
          </p:txBody>
        </p:sp>
        <p:sp>
          <p:nvSpPr>
            <p:cNvPr id="60" name="Rectangle 24"/>
            <p:cNvSpPr>
              <a:spLocks noChangeArrowheads="1"/>
            </p:cNvSpPr>
            <p:nvPr/>
          </p:nvSpPr>
          <p:spPr bwMode="auto">
            <a:xfrm>
              <a:off x="857224" y="5254611"/>
              <a:ext cx="2592388" cy="72548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>
                  <a:solidFill>
                    <a:sysClr val="windowText" lastClr="000000"/>
                  </a:solidFill>
                  <a:ea typeface="맑은 고딕" pitchFamily="50" charset="-127"/>
                </a:rPr>
                <a:t>통합된 시스템의 부재</a:t>
              </a:r>
            </a:p>
            <a:p>
              <a:pPr marL="88900" indent="-88900">
                <a:defRPr/>
              </a:pPr>
              <a:r>
                <a:rPr kumimoji="0" lang="ko-KR" altLang="en-US" sz="1000">
                  <a:solidFill>
                    <a:sysClr val="windowText" lastClr="000000"/>
                  </a:solidFill>
                  <a:ea typeface="맑은 고딕" pitchFamily="50" charset="-127"/>
                </a:rPr>
                <a:t>   </a:t>
              </a:r>
              <a:r>
                <a:rPr kumimoji="0" lang="en-US" altLang="ko-KR" sz="100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1000">
                  <a:solidFill>
                    <a:sysClr val="windowText" lastClr="000000"/>
                  </a:solidFill>
                </a:rPr>
                <a:t>시스템의 접근 경로의 단일화 필요</a:t>
              </a:r>
            </a:p>
            <a:p>
              <a:pPr marL="88900" indent="-88900">
                <a:defRPr/>
              </a:pPr>
              <a:r>
                <a:rPr kumimoji="0" lang="ko-KR" altLang="en-US" sz="1000">
                  <a:solidFill>
                    <a:sysClr val="windowText" lastClr="000000"/>
                  </a:solidFill>
                </a:rPr>
                <a:t>   </a:t>
              </a:r>
              <a:r>
                <a:rPr kumimoji="0" lang="en-US" altLang="ko-KR" sz="100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1000">
                  <a:solidFill>
                    <a:sysClr val="windowText" lastClr="000000"/>
                  </a:solidFill>
                </a:rPr>
                <a:t>입력정보가 정립 필요</a:t>
              </a:r>
            </a:p>
            <a:p>
              <a:pPr marL="88900" indent="-88900">
                <a:defRPr/>
              </a:pPr>
              <a:r>
                <a:rPr kumimoji="0" lang="ko-KR" altLang="en-US" sz="1000">
                  <a:solidFill>
                    <a:sysClr val="windowText" lastClr="000000"/>
                  </a:solidFill>
                </a:rPr>
                <a:t>   </a:t>
              </a:r>
              <a:r>
                <a:rPr kumimoji="0" lang="en-US" altLang="ko-KR" sz="1000">
                  <a:solidFill>
                    <a:sysClr val="windowText" lastClr="000000"/>
                  </a:solidFill>
                </a:rPr>
                <a:t>- </a:t>
              </a:r>
              <a:r>
                <a:rPr kumimoji="0" lang="ko-KR" altLang="en-US" sz="1000">
                  <a:solidFill>
                    <a:sysClr val="windowText" lastClr="000000"/>
                  </a:solidFill>
                </a:rPr>
                <a:t>원천데이터의 관리 개선</a:t>
              </a:r>
            </a:p>
          </p:txBody>
        </p:sp>
        <p:sp>
          <p:nvSpPr>
            <p:cNvPr id="61" name="Rectangle 34"/>
            <p:cNvSpPr>
              <a:spLocks noChangeArrowheads="1"/>
            </p:cNvSpPr>
            <p:nvPr/>
          </p:nvSpPr>
          <p:spPr bwMode="auto">
            <a:xfrm>
              <a:off x="857224" y="3814748"/>
              <a:ext cx="2592388" cy="496888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  <a:ea typeface="맑은 고딕" pitchFamily="50" charset="-127"/>
                </a:rPr>
                <a:t>인력 및 연구 예산 확보를 위한 제도적 </a:t>
              </a:r>
            </a:p>
            <a:p>
              <a:pPr marL="88900" indent="-88900">
                <a:defRPr/>
              </a:pPr>
              <a:r>
                <a:rPr kumimoji="0" lang="ko-KR" altLang="en-US" sz="1000" dirty="0">
                  <a:solidFill>
                    <a:sysClr val="windowText" lastClr="000000"/>
                  </a:solidFill>
                  <a:ea typeface="맑은 고딕" pitchFamily="50" charset="-127"/>
                </a:rPr>
                <a:t>  근거 부족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62" name="Line 37"/>
            <p:cNvSpPr>
              <a:spLocks noChangeShapeType="1"/>
            </p:cNvSpPr>
            <p:nvPr/>
          </p:nvSpPr>
          <p:spPr bwMode="auto">
            <a:xfrm>
              <a:off x="6200744" y="2230423"/>
              <a:ext cx="792162" cy="144463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Line 38"/>
            <p:cNvSpPr>
              <a:spLocks noChangeShapeType="1"/>
            </p:cNvSpPr>
            <p:nvPr/>
          </p:nvSpPr>
          <p:spPr bwMode="auto">
            <a:xfrm flipV="1">
              <a:off x="6215074" y="2374886"/>
              <a:ext cx="777832" cy="768362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Line 39"/>
            <p:cNvSpPr>
              <a:spLocks noChangeShapeType="1"/>
            </p:cNvSpPr>
            <p:nvPr/>
          </p:nvSpPr>
          <p:spPr bwMode="auto">
            <a:xfrm flipV="1">
              <a:off x="6215074" y="3429000"/>
              <a:ext cx="785818" cy="571504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Line 40"/>
            <p:cNvSpPr>
              <a:spLocks noChangeShapeType="1"/>
            </p:cNvSpPr>
            <p:nvPr/>
          </p:nvSpPr>
          <p:spPr bwMode="auto">
            <a:xfrm>
              <a:off x="6215074" y="4000504"/>
              <a:ext cx="785818" cy="428628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Line 43"/>
            <p:cNvSpPr>
              <a:spLocks noChangeShapeType="1"/>
            </p:cNvSpPr>
            <p:nvPr/>
          </p:nvSpPr>
          <p:spPr bwMode="auto">
            <a:xfrm flipV="1">
              <a:off x="6200744" y="5614973"/>
              <a:ext cx="792162" cy="144463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Rectangle 17"/>
            <p:cNvSpPr>
              <a:spLocks noChangeArrowheads="1"/>
            </p:cNvSpPr>
            <p:nvPr/>
          </p:nvSpPr>
          <p:spPr bwMode="auto">
            <a:xfrm>
              <a:off x="214281" y="2004998"/>
              <a:ext cx="571505" cy="86360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defRPr/>
              </a:pPr>
              <a:r>
                <a:rPr kumimoji="0" lang="en-US" altLang="ko-KR" sz="1000">
                  <a:ea typeface="맑은 고딕" pitchFamily="50" charset="-127"/>
                </a:rPr>
                <a:t>REQ_01</a:t>
              </a:r>
            </a:p>
          </p:txBody>
        </p:sp>
        <p:sp>
          <p:nvSpPr>
            <p:cNvPr id="71" name="Rectangle 17"/>
            <p:cNvSpPr>
              <a:spLocks noChangeArrowheads="1"/>
            </p:cNvSpPr>
            <p:nvPr/>
          </p:nvSpPr>
          <p:spPr bwMode="auto">
            <a:xfrm>
              <a:off x="214281" y="3013061"/>
              <a:ext cx="571505" cy="64770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spcBef>
                  <a:spcPct val="50000"/>
                </a:spcBef>
                <a:defRPr/>
              </a:pPr>
              <a:r>
                <a:rPr lang="en-US" altLang="ko-KR" sz="1000" dirty="0">
                  <a:solidFill>
                    <a:schemeClr val="lt1"/>
                  </a:solidFill>
                  <a:ea typeface="맑은 고딕" pitchFamily="50" charset="-127"/>
                </a:rPr>
                <a:t>REQ_02</a:t>
              </a:r>
            </a:p>
          </p:txBody>
        </p:sp>
        <p:sp>
          <p:nvSpPr>
            <p:cNvPr id="72" name="Rectangle 17"/>
            <p:cNvSpPr>
              <a:spLocks noChangeArrowheads="1"/>
            </p:cNvSpPr>
            <p:nvPr/>
          </p:nvSpPr>
          <p:spPr bwMode="auto">
            <a:xfrm>
              <a:off x="214281" y="3805223"/>
              <a:ext cx="571505" cy="504825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defRPr/>
              </a:pPr>
              <a:r>
                <a:rPr lang="en-US" altLang="ko-KR" sz="1000">
                  <a:solidFill>
                    <a:schemeClr val="lt1"/>
                  </a:solidFill>
                  <a:ea typeface="맑은 고딕" pitchFamily="50" charset="-127"/>
                </a:rPr>
                <a:t>REQ_03</a:t>
              </a:r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214281" y="4524361"/>
              <a:ext cx="571505" cy="504825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defRPr/>
              </a:pPr>
              <a:r>
                <a:rPr lang="en-US" altLang="ko-KR" sz="1000">
                  <a:solidFill>
                    <a:schemeClr val="lt1"/>
                  </a:solidFill>
                  <a:ea typeface="맑은 고딕" pitchFamily="50" charset="-127"/>
                </a:rPr>
                <a:t>REQ_04</a:t>
              </a:r>
            </a:p>
          </p:txBody>
        </p:sp>
        <p:sp>
          <p:nvSpPr>
            <p:cNvPr id="74" name="Rectangle 17"/>
            <p:cNvSpPr>
              <a:spLocks noChangeArrowheads="1"/>
            </p:cNvSpPr>
            <p:nvPr/>
          </p:nvSpPr>
          <p:spPr bwMode="auto">
            <a:xfrm>
              <a:off x="214281" y="5245086"/>
              <a:ext cx="571505" cy="720725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defRPr/>
              </a:pPr>
              <a:r>
                <a:rPr lang="en-US" altLang="ko-KR" sz="1000">
                  <a:solidFill>
                    <a:schemeClr val="lt1"/>
                  </a:solidFill>
                  <a:ea typeface="맑은 고딕" pitchFamily="50" charset="-127"/>
                </a:rPr>
                <a:t>REQ_05</a:t>
              </a:r>
            </a:p>
          </p:txBody>
        </p:sp>
        <p:sp>
          <p:nvSpPr>
            <p:cNvPr id="76" name="Line 40"/>
            <p:cNvSpPr>
              <a:spLocks noChangeShapeType="1"/>
            </p:cNvSpPr>
            <p:nvPr/>
          </p:nvSpPr>
          <p:spPr bwMode="auto">
            <a:xfrm flipV="1">
              <a:off x="6215074" y="4429132"/>
              <a:ext cx="785818" cy="35719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 flipV="1">
              <a:off x="3460770" y="4786322"/>
              <a:ext cx="785818" cy="857256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4206859" y="2017698"/>
              <a:ext cx="2135188" cy="485775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전문인력확보</a:t>
              </a:r>
            </a:p>
          </p:txBody>
        </p:sp>
        <p:sp>
          <p:nvSpPr>
            <p:cNvPr id="52" name="Rectangle 22"/>
            <p:cNvSpPr>
              <a:spLocks noChangeArrowheads="1"/>
            </p:cNvSpPr>
            <p:nvPr/>
          </p:nvSpPr>
          <p:spPr bwMode="auto">
            <a:xfrm>
              <a:off x="4222762" y="4565661"/>
              <a:ext cx="2135188" cy="506413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>
                  <a:solidFill>
                    <a:sysClr val="windowText" lastClr="000000"/>
                  </a:solidFill>
                </a:rPr>
                <a:t>통합된 예찰 및 방제 업무 </a:t>
              </a:r>
            </a:p>
            <a:p>
              <a:pPr marL="88900" indent="-88900" fontAlgn="ctr" latinLnBrk="0">
                <a:defRPr/>
              </a:pPr>
              <a:r>
                <a:rPr kumimoji="0" lang="ko-KR" altLang="en-US" sz="1000">
                  <a:solidFill>
                    <a:sysClr val="windowText" lastClr="000000"/>
                  </a:solidFill>
                </a:rPr>
                <a:t>  프로세스 수립</a:t>
              </a:r>
            </a:p>
          </p:txBody>
        </p:sp>
        <p:sp>
          <p:nvSpPr>
            <p:cNvPr id="53" name="Rectangle 23"/>
            <p:cNvSpPr>
              <a:spLocks noChangeArrowheads="1"/>
            </p:cNvSpPr>
            <p:nvPr/>
          </p:nvSpPr>
          <p:spPr bwMode="auto">
            <a:xfrm>
              <a:off x="4206859" y="2932112"/>
              <a:ext cx="2135188" cy="42545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예산확보를 위한 </a:t>
              </a:r>
              <a:r>
                <a:rPr kumimoji="0" lang="ko-KR" altLang="en-US" sz="1000" dirty="0" err="1">
                  <a:solidFill>
                    <a:sysClr val="windowText" lastClr="000000"/>
                  </a:solidFill>
                </a:rPr>
                <a:t>제도적근거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필요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4206859" y="5530836"/>
              <a:ext cx="2135188" cy="51593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>
                  <a:solidFill>
                    <a:sysClr val="windowText" lastClr="000000"/>
                  </a:solidFill>
                </a:rPr>
                <a:t>각 기관별 시스템 통합 필요</a:t>
              </a:r>
            </a:p>
          </p:txBody>
        </p:sp>
        <p:sp>
          <p:nvSpPr>
            <p:cNvPr id="56" name="Rectangle 34"/>
            <p:cNvSpPr>
              <a:spLocks noChangeArrowheads="1"/>
            </p:cNvSpPr>
            <p:nvPr/>
          </p:nvSpPr>
          <p:spPr bwMode="auto">
            <a:xfrm>
              <a:off x="4206859" y="3789368"/>
              <a:ext cx="2135188" cy="425450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fontAlgn="ctr" latinLnBrk="0">
                <a:buFontTx/>
                <a:buBlip>
                  <a:blip r:embed="rId6"/>
                </a:buBlip>
                <a:defRPr/>
              </a:pPr>
              <a:r>
                <a:rPr kumimoji="0" lang="en-US" altLang="ko-KR" sz="1000" dirty="0">
                  <a:solidFill>
                    <a:sysClr val="windowText" lastClr="000000"/>
                  </a:solidFill>
                </a:rPr>
                <a:t> </a:t>
              </a:r>
              <a:r>
                <a:rPr kumimoji="0" lang="ko-KR" altLang="en-US" sz="1000" dirty="0" err="1">
                  <a:solidFill>
                    <a:sysClr val="windowText" lastClr="000000"/>
                  </a:solidFill>
                </a:rPr>
                <a:t>예찰과</a:t>
              </a: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방제 업무의 </a:t>
              </a:r>
              <a:r>
                <a:rPr kumimoji="0" lang="ko-KR" altLang="en-US" sz="1000" dirty="0" err="1">
                  <a:solidFill>
                    <a:sysClr val="windowText" lastClr="000000"/>
                  </a:solidFill>
                </a:rPr>
                <a:t>일관성있는</a:t>
              </a:r>
              <a:endParaRPr kumimoji="0" lang="ko-KR" altLang="en-US" sz="1000" dirty="0">
                <a:solidFill>
                  <a:sysClr val="windowText" lastClr="000000"/>
                </a:solidFill>
              </a:endParaRPr>
            </a:p>
            <a:p>
              <a:pPr marL="88900" indent="-88900" fontAlgn="ctr" latinLnBrk="0">
                <a:defRPr/>
              </a:pPr>
              <a:r>
                <a:rPr kumimoji="0" lang="ko-KR" altLang="en-US" sz="1000" dirty="0">
                  <a:solidFill>
                    <a:sysClr val="windowText" lastClr="000000"/>
                  </a:solidFill>
                </a:rPr>
                <a:t>  체계 필요 </a:t>
              </a: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14340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76716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설문 결과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7393929" y="34001"/>
            <a:ext cx="167866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요구사항 분석</a:t>
            </a: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 </a:t>
            </a:r>
            <a:endParaRPr lang="ko-KR" altLang="en-US" sz="15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Ⅲ.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</a:t>
            </a:r>
          </a:p>
        </p:txBody>
      </p:sp>
      <p:sp>
        <p:nvSpPr>
          <p:cNvPr id="75" name="Rectangle 87"/>
          <p:cNvSpPr>
            <a:spLocks noChangeArrowheads="1"/>
          </p:cNvSpPr>
          <p:nvPr/>
        </p:nvSpPr>
        <p:spPr bwMode="auto">
          <a:xfrm>
            <a:off x="179388" y="1530373"/>
            <a:ext cx="8794750" cy="4970461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indent="-88900">
              <a:defRPr/>
            </a:pPr>
            <a:endParaRPr lang="ko-KR" altLang="en-US"/>
          </a:p>
        </p:txBody>
      </p:sp>
      <p:sp>
        <p:nvSpPr>
          <p:cNvPr id="80" name="Rectangle 21"/>
          <p:cNvSpPr>
            <a:spLocks noChangeArrowheads="1"/>
          </p:cNvSpPr>
          <p:nvPr/>
        </p:nvSpPr>
        <p:spPr bwMode="auto">
          <a:xfrm>
            <a:off x="7072330" y="5214950"/>
            <a:ext cx="1820845" cy="5921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</a:rPr>
              <a:t>협업체계 강화</a:t>
            </a:r>
          </a:p>
        </p:txBody>
      </p:sp>
      <p:sp>
        <p:nvSpPr>
          <p:cNvPr id="81" name="Rectangle 26"/>
          <p:cNvSpPr>
            <a:spLocks noChangeArrowheads="1"/>
          </p:cNvSpPr>
          <p:nvPr/>
        </p:nvSpPr>
        <p:spPr bwMode="auto">
          <a:xfrm>
            <a:off x="7072330" y="4210060"/>
            <a:ext cx="1820845" cy="6477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</a:rPr>
              <a:t> 프로세스의 표준화 수립 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82" name="Rectangle 33"/>
          <p:cNvSpPr>
            <a:spLocks noChangeArrowheads="1"/>
          </p:cNvSpPr>
          <p:nvPr/>
        </p:nvSpPr>
        <p:spPr bwMode="auto">
          <a:xfrm>
            <a:off x="7072330" y="3357563"/>
            <a:ext cx="1820845" cy="642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 err="1">
                <a:solidFill>
                  <a:schemeClr val="bg1"/>
                </a:solidFill>
              </a:rPr>
              <a:t>예찰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방제 지도업무의</a:t>
            </a:r>
            <a:br>
              <a:rPr lang="en-US" altLang="ko-KR" sz="1000" b="1" dirty="0">
                <a:solidFill>
                  <a:schemeClr val="bg1"/>
                </a:solidFill>
              </a:rPr>
            </a:br>
            <a:r>
              <a:rPr lang="ko-KR" altLang="en-US" sz="1000" b="1" dirty="0">
                <a:solidFill>
                  <a:schemeClr val="bg1"/>
                </a:solidFill>
              </a:rPr>
              <a:t>시스템화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단순 시스템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쉬운 시스템 요구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3" name="Line 51"/>
          <p:cNvSpPr>
            <a:spLocks noChangeShapeType="1"/>
          </p:cNvSpPr>
          <p:nvPr/>
        </p:nvSpPr>
        <p:spPr bwMode="auto">
          <a:xfrm>
            <a:off x="3636962" y="1819298"/>
            <a:ext cx="935038" cy="7143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Line 52"/>
          <p:cNvSpPr>
            <a:spLocks noChangeShapeType="1"/>
          </p:cNvSpPr>
          <p:nvPr/>
        </p:nvSpPr>
        <p:spPr bwMode="auto">
          <a:xfrm>
            <a:off x="3636962" y="1819298"/>
            <a:ext cx="863600" cy="576262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Line 53"/>
          <p:cNvSpPr>
            <a:spLocks noChangeShapeType="1"/>
          </p:cNvSpPr>
          <p:nvPr/>
        </p:nvSpPr>
        <p:spPr bwMode="auto">
          <a:xfrm>
            <a:off x="3636962" y="1819298"/>
            <a:ext cx="863600" cy="10795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Rectangle 17"/>
          <p:cNvSpPr>
            <a:spLocks noChangeArrowheads="1"/>
          </p:cNvSpPr>
          <p:nvPr/>
        </p:nvSpPr>
        <p:spPr bwMode="auto">
          <a:xfrm>
            <a:off x="900112" y="1622448"/>
            <a:ext cx="2736850" cy="431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업무 비중</a:t>
            </a:r>
          </a:p>
          <a:p>
            <a:pPr marL="88900" indent="-88900"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 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병해충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및 방제 업무보다 타 업무의 비중이 큼 </a:t>
            </a:r>
          </a:p>
        </p:txBody>
      </p:sp>
      <p:sp>
        <p:nvSpPr>
          <p:cNvPr id="87" name="Rectangle 22"/>
          <p:cNvSpPr>
            <a:spLocks noChangeArrowheads="1"/>
          </p:cNvSpPr>
          <p:nvPr/>
        </p:nvSpPr>
        <p:spPr bwMode="auto">
          <a:xfrm>
            <a:off x="900112" y="4449785"/>
            <a:ext cx="2736850" cy="431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예찰 정보 수집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예찰 정보 수집이 늦음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예찰 정보의 공유가 미흡</a:t>
            </a:r>
          </a:p>
        </p:txBody>
      </p:sp>
      <p:sp>
        <p:nvSpPr>
          <p:cNvPr id="88" name="Rectangle 23"/>
          <p:cNvSpPr>
            <a:spLocks noChangeArrowheads="1"/>
          </p:cNvSpPr>
          <p:nvPr/>
        </p:nvSpPr>
        <p:spPr bwMode="auto">
          <a:xfrm>
            <a:off x="900112" y="2720998"/>
            <a:ext cx="2736850" cy="5715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예산의 부족 </a:t>
            </a:r>
          </a:p>
          <a:p>
            <a:pPr marL="88900" indent="-88900"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  - </a:t>
            </a:r>
            <a:r>
              <a:rPr lang="ko-KR" altLang="en-US" sz="800">
                <a:solidFill>
                  <a:sysClr val="windowText" lastClr="000000"/>
                </a:solidFill>
              </a:rPr>
              <a:t>전문 인력 확보 및 보조요원 확보</a:t>
            </a:r>
          </a:p>
          <a:p>
            <a:pPr marL="88900" indent="-88900"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  - </a:t>
            </a:r>
            <a:r>
              <a:rPr lang="ko-KR" altLang="en-US" sz="800">
                <a:solidFill>
                  <a:sysClr val="windowText" lastClr="000000"/>
                </a:solidFill>
              </a:rPr>
              <a:t>예찰 및 방제 운영비 부족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예찰 연구비의 부족</a:t>
            </a:r>
          </a:p>
        </p:txBody>
      </p:sp>
      <p:sp>
        <p:nvSpPr>
          <p:cNvPr id="89" name="Rectangle 24"/>
          <p:cNvSpPr>
            <a:spLocks noChangeArrowheads="1"/>
          </p:cNvSpPr>
          <p:nvPr/>
        </p:nvSpPr>
        <p:spPr bwMode="auto">
          <a:xfrm>
            <a:off x="900112" y="5265760"/>
            <a:ext cx="2736850" cy="5524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추가작목 관리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정밀조사보다는 개괄적인 조사 위주임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인력이 부족으로 어려움</a:t>
            </a:r>
            <a:endParaRPr lang="en-US" altLang="ko-KR" sz="800">
              <a:solidFill>
                <a:sysClr val="windowText" lastClr="000000"/>
              </a:solidFill>
            </a:endParaRPr>
          </a:p>
        </p:txBody>
      </p:sp>
      <p:sp>
        <p:nvSpPr>
          <p:cNvPr id="90" name="Rectangle 25"/>
          <p:cNvSpPr>
            <a:spLocks noChangeArrowheads="1"/>
          </p:cNvSpPr>
          <p:nvPr/>
        </p:nvSpPr>
        <p:spPr bwMode="auto">
          <a:xfrm>
            <a:off x="900112" y="5889648"/>
            <a:ext cx="2736850" cy="5873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통합된 시스템의 부재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시스템의 접근 경로 복잡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입력정보가 정립되지 못함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원천데이터의 관리 방안 강구</a:t>
            </a:r>
          </a:p>
        </p:txBody>
      </p:sp>
      <p:sp>
        <p:nvSpPr>
          <p:cNvPr id="91" name="Rectangle 34"/>
          <p:cNvSpPr>
            <a:spLocks noChangeArrowheads="1"/>
          </p:cNvSpPr>
          <p:nvPr/>
        </p:nvSpPr>
        <p:spPr bwMode="auto">
          <a:xfrm>
            <a:off x="900112" y="4938735"/>
            <a:ext cx="2736850" cy="25241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예찰 및 방제 업무의 프로세스가 불명확 </a:t>
            </a:r>
          </a:p>
        </p:txBody>
      </p:sp>
      <p:sp>
        <p:nvSpPr>
          <p:cNvPr id="92" name="Rectangle 17"/>
          <p:cNvSpPr>
            <a:spLocks noChangeArrowheads="1"/>
          </p:cNvSpPr>
          <p:nvPr/>
        </p:nvSpPr>
        <p:spPr bwMode="auto">
          <a:xfrm>
            <a:off x="900112" y="3330598"/>
            <a:ext cx="2736850" cy="35401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예찰 장비 및 기술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예찰 장비의 보유와 기술력 부족</a:t>
            </a:r>
          </a:p>
        </p:txBody>
      </p:sp>
      <p:sp>
        <p:nvSpPr>
          <p:cNvPr id="93" name="Rectangle 23"/>
          <p:cNvSpPr>
            <a:spLocks noChangeArrowheads="1"/>
          </p:cNvSpPr>
          <p:nvPr/>
        </p:nvSpPr>
        <p:spPr bwMode="auto">
          <a:xfrm>
            <a:off x="900112" y="2106635"/>
            <a:ext cx="2736850" cy="5651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 </a:t>
            </a:r>
            <a:r>
              <a:rPr lang="ko-KR" altLang="en-US" sz="800">
                <a:solidFill>
                  <a:sysClr val="windowText" lastClr="000000"/>
                </a:solidFill>
              </a:rPr>
              <a:t>업무의 전문성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잦은 인력 교체로 업무 전문성 보완</a:t>
            </a:r>
          </a:p>
          <a:p>
            <a:pPr marL="88900" indent="-88900">
              <a:defRPr/>
            </a:pPr>
            <a:r>
              <a:rPr lang="ko-KR" altLang="en-US" sz="800">
                <a:solidFill>
                  <a:sysClr val="windowText" lastClr="000000"/>
                </a:solidFill>
              </a:rPr>
              <a:t>  </a:t>
            </a:r>
            <a:r>
              <a:rPr lang="en-US" altLang="ko-KR" sz="800">
                <a:solidFill>
                  <a:sysClr val="windowText" lastClr="000000"/>
                </a:solidFill>
              </a:rPr>
              <a:t>- </a:t>
            </a:r>
            <a:r>
              <a:rPr lang="ko-KR" altLang="en-US" sz="800">
                <a:solidFill>
                  <a:sysClr val="windowText" lastClr="000000"/>
                </a:solidFill>
              </a:rPr>
              <a:t>작목별 예찰</a:t>
            </a:r>
            <a:r>
              <a:rPr lang="en-US" altLang="ko-KR" sz="800">
                <a:solidFill>
                  <a:sysClr val="windowText" lastClr="000000"/>
                </a:solidFill>
              </a:rPr>
              <a:t>, </a:t>
            </a:r>
            <a:r>
              <a:rPr lang="ko-KR" altLang="en-US" sz="800">
                <a:solidFill>
                  <a:sysClr val="windowText" lastClr="000000"/>
                </a:solidFill>
              </a:rPr>
              <a:t>방제 및 지도 업무분장 명확화</a:t>
            </a:r>
          </a:p>
        </p:txBody>
      </p:sp>
      <p:sp>
        <p:nvSpPr>
          <p:cNvPr id="94" name="Rectangle 22"/>
          <p:cNvSpPr>
            <a:spLocks noChangeArrowheads="1"/>
          </p:cNvSpPr>
          <p:nvPr/>
        </p:nvSpPr>
        <p:spPr bwMode="auto">
          <a:xfrm>
            <a:off x="900112" y="3730648"/>
            <a:ext cx="2736850" cy="663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상급 및 관련 기관과의 관계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잦은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매일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보고의 부담 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많은 보고서와 공문의 부담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보고체계가 상이하여 어려움</a:t>
            </a:r>
          </a:p>
          <a:p>
            <a:pPr marL="88900" indent="-88900"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 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-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관련 및 상급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유관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기관과의 유기적인 협조 미비</a:t>
            </a:r>
          </a:p>
        </p:txBody>
      </p:sp>
      <p:sp>
        <p:nvSpPr>
          <p:cNvPr id="95" name="Line 54"/>
          <p:cNvSpPr>
            <a:spLocks noChangeShapeType="1"/>
          </p:cNvSpPr>
          <p:nvPr/>
        </p:nvSpPr>
        <p:spPr bwMode="auto">
          <a:xfrm flipV="1">
            <a:off x="3636962" y="1890735"/>
            <a:ext cx="863600" cy="4318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Line 55"/>
          <p:cNvSpPr>
            <a:spLocks noChangeShapeType="1"/>
          </p:cNvSpPr>
          <p:nvPr/>
        </p:nvSpPr>
        <p:spPr bwMode="auto">
          <a:xfrm>
            <a:off x="3636962" y="2395560"/>
            <a:ext cx="863600" cy="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Line 56"/>
          <p:cNvSpPr>
            <a:spLocks noChangeShapeType="1"/>
          </p:cNvSpPr>
          <p:nvPr/>
        </p:nvSpPr>
        <p:spPr bwMode="auto">
          <a:xfrm>
            <a:off x="3636962" y="2466998"/>
            <a:ext cx="863600" cy="4318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Line 57"/>
          <p:cNvSpPr>
            <a:spLocks noChangeShapeType="1"/>
          </p:cNvSpPr>
          <p:nvPr/>
        </p:nvSpPr>
        <p:spPr bwMode="auto">
          <a:xfrm>
            <a:off x="3636962" y="2466998"/>
            <a:ext cx="865186" cy="2962266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Line 58"/>
          <p:cNvSpPr>
            <a:spLocks noChangeShapeType="1"/>
          </p:cNvSpPr>
          <p:nvPr/>
        </p:nvSpPr>
        <p:spPr bwMode="auto">
          <a:xfrm flipV="1">
            <a:off x="3636962" y="2395560"/>
            <a:ext cx="863600" cy="574675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Line 59"/>
          <p:cNvSpPr>
            <a:spLocks noChangeShapeType="1"/>
          </p:cNvSpPr>
          <p:nvPr/>
        </p:nvSpPr>
        <p:spPr bwMode="auto">
          <a:xfrm flipV="1">
            <a:off x="3636962" y="2898798"/>
            <a:ext cx="935038" cy="7143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Line 60"/>
          <p:cNvSpPr>
            <a:spLocks noChangeShapeType="1"/>
          </p:cNvSpPr>
          <p:nvPr/>
        </p:nvSpPr>
        <p:spPr bwMode="auto">
          <a:xfrm>
            <a:off x="3636962" y="3546497"/>
            <a:ext cx="865186" cy="45719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Line 61"/>
          <p:cNvSpPr>
            <a:spLocks noChangeShapeType="1"/>
          </p:cNvSpPr>
          <p:nvPr/>
        </p:nvSpPr>
        <p:spPr bwMode="auto">
          <a:xfrm>
            <a:off x="3636962" y="4051322"/>
            <a:ext cx="865186" cy="9205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Line 62"/>
          <p:cNvSpPr>
            <a:spLocks noChangeShapeType="1"/>
          </p:cNvSpPr>
          <p:nvPr/>
        </p:nvSpPr>
        <p:spPr bwMode="auto">
          <a:xfrm>
            <a:off x="3636962" y="4051322"/>
            <a:ext cx="865186" cy="734999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Line 63"/>
          <p:cNvSpPr>
            <a:spLocks noChangeShapeType="1"/>
          </p:cNvSpPr>
          <p:nvPr/>
        </p:nvSpPr>
        <p:spPr bwMode="auto">
          <a:xfrm>
            <a:off x="3636962" y="4051323"/>
            <a:ext cx="865186" cy="1377941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Line 64"/>
          <p:cNvSpPr>
            <a:spLocks noChangeShapeType="1"/>
          </p:cNvSpPr>
          <p:nvPr/>
        </p:nvSpPr>
        <p:spPr bwMode="auto">
          <a:xfrm flipV="1">
            <a:off x="3636962" y="4143379"/>
            <a:ext cx="865186" cy="484205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Line 65"/>
          <p:cNvSpPr>
            <a:spLocks noChangeShapeType="1"/>
          </p:cNvSpPr>
          <p:nvPr/>
        </p:nvSpPr>
        <p:spPr bwMode="auto">
          <a:xfrm>
            <a:off x="3636962" y="4627584"/>
            <a:ext cx="865186" cy="15873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Line 66"/>
          <p:cNvSpPr>
            <a:spLocks noChangeShapeType="1"/>
          </p:cNvSpPr>
          <p:nvPr/>
        </p:nvSpPr>
        <p:spPr bwMode="auto">
          <a:xfrm>
            <a:off x="3636962" y="4627585"/>
            <a:ext cx="865186" cy="801679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Line 67"/>
          <p:cNvSpPr>
            <a:spLocks noChangeShapeType="1"/>
          </p:cNvSpPr>
          <p:nvPr/>
        </p:nvSpPr>
        <p:spPr bwMode="auto">
          <a:xfrm flipV="1">
            <a:off x="3636962" y="4143379"/>
            <a:ext cx="865186" cy="916005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Line 68"/>
          <p:cNvSpPr>
            <a:spLocks noChangeShapeType="1"/>
          </p:cNvSpPr>
          <p:nvPr/>
        </p:nvSpPr>
        <p:spPr bwMode="auto">
          <a:xfrm>
            <a:off x="3636962" y="5059384"/>
            <a:ext cx="865186" cy="369879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Line 69"/>
          <p:cNvSpPr>
            <a:spLocks noChangeShapeType="1"/>
          </p:cNvSpPr>
          <p:nvPr/>
        </p:nvSpPr>
        <p:spPr bwMode="auto">
          <a:xfrm flipV="1">
            <a:off x="3636962" y="2395560"/>
            <a:ext cx="863600" cy="3167063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Line 70"/>
          <p:cNvSpPr>
            <a:spLocks noChangeShapeType="1"/>
          </p:cNvSpPr>
          <p:nvPr/>
        </p:nvSpPr>
        <p:spPr bwMode="auto">
          <a:xfrm flipV="1">
            <a:off x="3636962" y="2898798"/>
            <a:ext cx="863600" cy="2663825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Line 71"/>
          <p:cNvSpPr>
            <a:spLocks noChangeShapeType="1"/>
          </p:cNvSpPr>
          <p:nvPr/>
        </p:nvSpPr>
        <p:spPr bwMode="auto">
          <a:xfrm flipV="1">
            <a:off x="3636962" y="6067448"/>
            <a:ext cx="935038" cy="7143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Line 74"/>
          <p:cNvSpPr>
            <a:spLocks noChangeShapeType="1"/>
          </p:cNvSpPr>
          <p:nvPr/>
        </p:nvSpPr>
        <p:spPr bwMode="auto">
          <a:xfrm>
            <a:off x="6351605" y="1890735"/>
            <a:ext cx="720725" cy="144463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Line 75"/>
          <p:cNvSpPr>
            <a:spLocks noChangeShapeType="1"/>
          </p:cNvSpPr>
          <p:nvPr/>
        </p:nvSpPr>
        <p:spPr bwMode="auto">
          <a:xfrm flipV="1">
            <a:off x="6280167" y="2035198"/>
            <a:ext cx="792163" cy="360362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Line 76"/>
          <p:cNvSpPr>
            <a:spLocks noChangeShapeType="1"/>
          </p:cNvSpPr>
          <p:nvPr/>
        </p:nvSpPr>
        <p:spPr bwMode="auto">
          <a:xfrm flipV="1">
            <a:off x="6410354" y="2035198"/>
            <a:ext cx="661976" cy="965174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Line 77"/>
          <p:cNvSpPr>
            <a:spLocks noChangeShapeType="1"/>
          </p:cNvSpPr>
          <p:nvPr/>
        </p:nvSpPr>
        <p:spPr bwMode="auto">
          <a:xfrm flipV="1">
            <a:off x="6410354" y="2035198"/>
            <a:ext cx="661976" cy="1536678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Line 78"/>
          <p:cNvSpPr>
            <a:spLocks noChangeShapeType="1"/>
          </p:cNvSpPr>
          <p:nvPr/>
        </p:nvSpPr>
        <p:spPr bwMode="auto">
          <a:xfrm flipV="1">
            <a:off x="6410354" y="3643314"/>
            <a:ext cx="642942" cy="500066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Line 79"/>
          <p:cNvSpPr>
            <a:spLocks noChangeShapeType="1"/>
          </p:cNvSpPr>
          <p:nvPr/>
        </p:nvSpPr>
        <p:spPr bwMode="auto">
          <a:xfrm>
            <a:off x="6410354" y="4143380"/>
            <a:ext cx="661976" cy="19528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Line 80"/>
          <p:cNvSpPr>
            <a:spLocks noChangeShapeType="1"/>
          </p:cNvSpPr>
          <p:nvPr/>
        </p:nvSpPr>
        <p:spPr bwMode="auto">
          <a:xfrm flipV="1">
            <a:off x="6410354" y="3643313"/>
            <a:ext cx="642942" cy="114300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Line 81"/>
          <p:cNvSpPr>
            <a:spLocks noChangeShapeType="1"/>
          </p:cNvSpPr>
          <p:nvPr/>
        </p:nvSpPr>
        <p:spPr bwMode="auto">
          <a:xfrm flipV="1">
            <a:off x="6410354" y="4338659"/>
            <a:ext cx="661976" cy="447662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Line 82"/>
          <p:cNvSpPr>
            <a:spLocks noChangeShapeType="1"/>
          </p:cNvSpPr>
          <p:nvPr/>
        </p:nvSpPr>
        <p:spPr bwMode="auto">
          <a:xfrm flipV="1">
            <a:off x="6410354" y="3643314"/>
            <a:ext cx="642942" cy="178595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Line 83"/>
          <p:cNvSpPr>
            <a:spLocks noChangeShapeType="1"/>
          </p:cNvSpPr>
          <p:nvPr/>
        </p:nvSpPr>
        <p:spPr bwMode="auto">
          <a:xfrm flipV="1">
            <a:off x="6410354" y="4429132"/>
            <a:ext cx="642942" cy="1000132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Line 85"/>
          <p:cNvSpPr>
            <a:spLocks noChangeShapeType="1"/>
          </p:cNvSpPr>
          <p:nvPr/>
        </p:nvSpPr>
        <p:spPr bwMode="auto">
          <a:xfrm flipV="1">
            <a:off x="6351605" y="5572140"/>
            <a:ext cx="701691" cy="495308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Rectangle 22"/>
          <p:cNvSpPr>
            <a:spLocks noChangeArrowheads="1"/>
          </p:cNvSpPr>
          <p:nvPr/>
        </p:nvSpPr>
        <p:spPr bwMode="auto">
          <a:xfrm>
            <a:off x="4479942" y="4568836"/>
            <a:ext cx="1919288" cy="431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일관된 보고체계 수립</a:t>
            </a:r>
          </a:p>
        </p:txBody>
      </p:sp>
      <p:sp>
        <p:nvSpPr>
          <p:cNvPr id="130" name="Rectangle 25"/>
          <p:cNvSpPr>
            <a:spLocks noChangeArrowheads="1"/>
          </p:cNvSpPr>
          <p:nvPr/>
        </p:nvSpPr>
        <p:spPr bwMode="auto">
          <a:xfrm>
            <a:off x="4479942" y="5778523"/>
            <a:ext cx="1919288" cy="51593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>
                <a:solidFill>
                  <a:sysClr val="windowText" lastClr="000000"/>
                </a:solidFill>
              </a:rPr>
              <a:t> </a:t>
            </a:r>
            <a:r>
              <a:rPr lang="ko-KR" altLang="en-US" sz="800">
                <a:solidFill>
                  <a:sysClr val="windowText" lastClr="000000"/>
                </a:solidFill>
              </a:rPr>
              <a:t>각 기관별 시스템 통합 필요</a:t>
            </a:r>
          </a:p>
        </p:txBody>
      </p:sp>
      <p:sp>
        <p:nvSpPr>
          <p:cNvPr id="131" name="Rectangle 34"/>
          <p:cNvSpPr>
            <a:spLocks noChangeArrowheads="1"/>
          </p:cNvSpPr>
          <p:nvPr/>
        </p:nvSpPr>
        <p:spPr bwMode="auto">
          <a:xfrm>
            <a:off x="4479942" y="5210191"/>
            <a:ext cx="1919288" cy="4333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예찰과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방제 업무의 체계화를 위한 시스템  필요 </a:t>
            </a:r>
          </a:p>
        </p:txBody>
      </p:sp>
      <p:sp>
        <p:nvSpPr>
          <p:cNvPr id="132" name="Rectangle 22"/>
          <p:cNvSpPr>
            <a:spLocks noChangeArrowheads="1"/>
          </p:cNvSpPr>
          <p:nvPr/>
        </p:nvSpPr>
        <p:spPr bwMode="auto">
          <a:xfrm>
            <a:off x="4479942" y="3925894"/>
            <a:ext cx="1919288" cy="431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통합된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및 방제 업무 </a:t>
            </a:r>
            <a:endParaRPr lang="en-US" altLang="ko-KR" sz="800" dirty="0">
              <a:solidFill>
                <a:sysClr val="windowText" lastClr="000000"/>
              </a:solidFill>
            </a:endParaRPr>
          </a:p>
          <a:p>
            <a:pPr marL="88900" indent="-88900" fontAlgn="ctr" latinLnBrk="0"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 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체계 강화</a:t>
            </a:r>
          </a:p>
        </p:txBody>
      </p:sp>
      <p:sp>
        <p:nvSpPr>
          <p:cNvPr id="133" name="Line 74"/>
          <p:cNvSpPr>
            <a:spLocks noChangeShapeType="1"/>
          </p:cNvSpPr>
          <p:nvPr/>
        </p:nvSpPr>
        <p:spPr bwMode="auto">
          <a:xfrm>
            <a:off x="6403992" y="1943123"/>
            <a:ext cx="668338" cy="811212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Line 75"/>
          <p:cNvSpPr>
            <a:spLocks noChangeShapeType="1"/>
          </p:cNvSpPr>
          <p:nvPr/>
        </p:nvSpPr>
        <p:spPr bwMode="auto">
          <a:xfrm>
            <a:off x="6332555" y="2447948"/>
            <a:ext cx="739775" cy="306387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Line 76"/>
          <p:cNvSpPr>
            <a:spLocks noChangeShapeType="1"/>
          </p:cNvSpPr>
          <p:nvPr/>
        </p:nvSpPr>
        <p:spPr bwMode="auto">
          <a:xfrm flipV="1">
            <a:off x="6403992" y="2754335"/>
            <a:ext cx="668338" cy="19685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Line 77"/>
          <p:cNvSpPr>
            <a:spLocks noChangeShapeType="1"/>
          </p:cNvSpPr>
          <p:nvPr/>
        </p:nvSpPr>
        <p:spPr bwMode="auto">
          <a:xfrm flipV="1">
            <a:off x="6410354" y="2754334"/>
            <a:ext cx="661976" cy="817541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Rectangle 14"/>
          <p:cNvSpPr>
            <a:spLocks noChangeArrowheads="1"/>
          </p:cNvSpPr>
          <p:nvPr/>
        </p:nvSpPr>
        <p:spPr bwMode="auto">
          <a:xfrm>
            <a:off x="7072330" y="1819298"/>
            <a:ext cx="1820845" cy="503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Blip>
                <a:blip r:embed="rId6"/>
              </a:buBlip>
              <a:defRPr/>
            </a:pPr>
            <a:r>
              <a:rPr lang="ko-KR" altLang="en-US" sz="1000" b="1" dirty="0">
                <a:solidFill>
                  <a:schemeClr val="bg1"/>
                </a:solidFill>
              </a:rPr>
              <a:t> 추가 작목확대에 따른 </a:t>
            </a:r>
            <a:br>
              <a:rPr lang="en-US" altLang="ko-KR" sz="1000" b="1" dirty="0">
                <a:solidFill>
                  <a:schemeClr val="bg1"/>
                </a:solidFill>
              </a:rPr>
            </a:b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</a:rPr>
              <a:t>인력 확보</a:t>
            </a:r>
          </a:p>
        </p:txBody>
      </p:sp>
      <p:sp>
        <p:nvSpPr>
          <p:cNvPr id="138" name="Rectangle 17"/>
          <p:cNvSpPr>
            <a:spLocks noChangeArrowheads="1"/>
          </p:cNvSpPr>
          <p:nvPr/>
        </p:nvSpPr>
        <p:spPr bwMode="auto">
          <a:xfrm>
            <a:off x="4479942" y="1673248"/>
            <a:ext cx="1919288" cy="431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전문인력 확보</a:t>
            </a:r>
          </a:p>
        </p:txBody>
      </p:sp>
      <p:sp>
        <p:nvSpPr>
          <p:cNvPr id="139" name="Rectangle 23"/>
          <p:cNvSpPr>
            <a:spLocks noChangeArrowheads="1"/>
          </p:cNvSpPr>
          <p:nvPr/>
        </p:nvSpPr>
        <p:spPr bwMode="auto">
          <a:xfrm>
            <a:off x="4479942" y="2789236"/>
            <a:ext cx="1919288" cy="4254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예산 확보 근거 필요</a:t>
            </a:r>
          </a:p>
        </p:txBody>
      </p:sp>
      <p:sp>
        <p:nvSpPr>
          <p:cNvPr id="140" name="Rectangle 17"/>
          <p:cNvSpPr>
            <a:spLocks noChangeArrowheads="1"/>
          </p:cNvSpPr>
          <p:nvPr/>
        </p:nvSpPr>
        <p:spPr bwMode="auto">
          <a:xfrm>
            <a:off x="4479942" y="3354390"/>
            <a:ext cx="1919288" cy="4318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장비 및 기술 </a:t>
            </a:r>
          </a:p>
        </p:txBody>
      </p:sp>
      <p:sp>
        <p:nvSpPr>
          <p:cNvPr id="141" name="Rectangle 23"/>
          <p:cNvSpPr>
            <a:spLocks noChangeArrowheads="1"/>
          </p:cNvSpPr>
          <p:nvPr/>
        </p:nvSpPr>
        <p:spPr bwMode="auto">
          <a:xfrm>
            <a:off x="4479942" y="2217732"/>
            <a:ext cx="1919288" cy="4254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FontTx/>
              <a:buBlip>
                <a:blip r:embed="rId6"/>
              </a:buBlip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인력확보를 위한 예산 </a:t>
            </a:r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>
            <a:off x="7072330" y="2640010"/>
            <a:ext cx="1820845" cy="5032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buBlip>
                <a:blip r:embed="rId6"/>
              </a:buBlip>
              <a:defRPr/>
            </a:pP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 err="1">
                <a:solidFill>
                  <a:schemeClr val="bg1"/>
                </a:solidFill>
              </a:rPr>
              <a:t>일사분란한</a:t>
            </a:r>
            <a:r>
              <a:rPr lang="ko-KR" altLang="en-US" sz="1000" b="1" dirty="0">
                <a:solidFill>
                  <a:schemeClr val="bg1"/>
                </a:solidFill>
              </a:rPr>
              <a:t> 대응 체계</a:t>
            </a:r>
          </a:p>
        </p:txBody>
      </p:sp>
      <p:sp>
        <p:nvSpPr>
          <p:cNvPr id="143" name="Rectangle 17"/>
          <p:cNvSpPr>
            <a:spLocks noChangeArrowheads="1"/>
          </p:cNvSpPr>
          <p:nvPr/>
        </p:nvSpPr>
        <p:spPr bwMode="auto">
          <a:xfrm>
            <a:off x="269875" y="1643050"/>
            <a:ext cx="587349" cy="42862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 dirty="0">
                <a:solidFill>
                  <a:schemeClr val="lt1"/>
                </a:solidFill>
                <a:ea typeface="맑은 고딕" pitchFamily="50" charset="-127"/>
              </a:rPr>
              <a:t>REQ_06</a:t>
            </a:r>
          </a:p>
        </p:txBody>
      </p:sp>
      <p:sp>
        <p:nvSpPr>
          <p:cNvPr id="144" name="Rectangle 17"/>
          <p:cNvSpPr>
            <a:spLocks noChangeArrowheads="1"/>
          </p:cNvSpPr>
          <p:nvPr/>
        </p:nvSpPr>
        <p:spPr bwMode="auto">
          <a:xfrm>
            <a:off x="269875" y="2116160"/>
            <a:ext cx="587349" cy="52702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 dirty="0">
                <a:solidFill>
                  <a:schemeClr val="lt1"/>
                </a:solidFill>
                <a:ea typeface="맑은 고딕" pitchFamily="50" charset="-127"/>
              </a:rPr>
              <a:t>REQ_07</a:t>
            </a:r>
          </a:p>
        </p:txBody>
      </p:sp>
      <p:sp>
        <p:nvSpPr>
          <p:cNvPr id="145" name="Rectangle 17"/>
          <p:cNvSpPr>
            <a:spLocks noChangeArrowheads="1"/>
          </p:cNvSpPr>
          <p:nvPr/>
        </p:nvSpPr>
        <p:spPr bwMode="auto">
          <a:xfrm>
            <a:off x="269875" y="2714620"/>
            <a:ext cx="587349" cy="54454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 dirty="0">
                <a:solidFill>
                  <a:schemeClr val="lt1"/>
                </a:solidFill>
                <a:ea typeface="맑은 고딕" pitchFamily="50" charset="-127"/>
              </a:rPr>
              <a:t>REQ_02</a:t>
            </a:r>
          </a:p>
        </p:txBody>
      </p:sp>
      <p:sp>
        <p:nvSpPr>
          <p:cNvPr id="146" name="Rectangle 17"/>
          <p:cNvSpPr>
            <a:spLocks noChangeArrowheads="1"/>
          </p:cNvSpPr>
          <p:nvPr/>
        </p:nvSpPr>
        <p:spPr bwMode="auto">
          <a:xfrm>
            <a:off x="269875" y="3330598"/>
            <a:ext cx="587349" cy="3603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>
                <a:solidFill>
                  <a:schemeClr val="lt1"/>
                </a:solidFill>
                <a:ea typeface="맑은 고딕" pitchFamily="50" charset="-127"/>
              </a:rPr>
              <a:t>REQ_08</a:t>
            </a:r>
          </a:p>
        </p:txBody>
      </p:sp>
      <p:sp>
        <p:nvSpPr>
          <p:cNvPr id="147" name="Rectangle 17"/>
          <p:cNvSpPr>
            <a:spLocks noChangeArrowheads="1"/>
          </p:cNvSpPr>
          <p:nvPr/>
        </p:nvSpPr>
        <p:spPr bwMode="auto">
          <a:xfrm>
            <a:off x="269875" y="3762398"/>
            <a:ext cx="587349" cy="649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>
                <a:solidFill>
                  <a:schemeClr val="lt1"/>
                </a:solidFill>
                <a:ea typeface="맑은 고딕" pitchFamily="50" charset="-127"/>
              </a:rPr>
              <a:t>REQ_09</a:t>
            </a:r>
          </a:p>
        </p:txBody>
      </p:sp>
      <p:sp>
        <p:nvSpPr>
          <p:cNvPr id="148" name="Rectangle 17"/>
          <p:cNvSpPr>
            <a:spLocks noChangeArrowheads="1"/>
          </p:cNvSpPr>
          <p:nvPr/>
        </p:nvSpPr>
        <p:spPr bwMode="auto">
          <a:xfrm>
            <a:off x="269875" y="4462485"/>
            <a:ext cx="587349" cy="3810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>
                <a:solidFill>
                  <a:schemeClr val="lt1"/>
                </a:solidFill>
                <a:ea typeface="맑은 고딕" pitchFamily="50" charset="-127"/>
              </a:rPr>
              <a:t>REQ_10</a:t>
            </a:r>
          </a:p>
        </p:txBody>
      </p:sp>
      <p:sp>
        <p:nvSpPr>
          <p:cNvPr id="149" name="Rectangle 17"/>
          <p:cNvSpPr>
            <a:spLocks noChangeArrowheads="1"/>
          </p:cNvSpPr>
          <p:nvPr/>
        </p:nvSpPr>
        <p:spPr bwMode="auto">
          <a:xfrm>
            <a:off x="269875" y="4914923"/>
            <a:ext cx="587349" cy="28892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>
                <a:solidFill>
                  <a:schemeClr val="lt1"/>
                </a:solidFill>
                <a:ea typeface="맑은 고딕" pitchFamily="50" charset="-127"/>
              </a:rPr>
              <a:t>REQ_04</a:t>
            </a:r>
          </a:p>
        </p:txBody>
      </p:sp>
      <p:sp>
        <p:nvSpPr>
          <p:cNvPr id="150" name="Rectangle 17"/>
          <p:cNvSpPr>
            <a:spLocks noChangeArrowheads="1"/>
          </p:cNvSpPr>
          <p:nvPr/>
        </p:nvSpPr>
        <p:spPr bwMode="auto">
          <a:xfrm>
            <a:off x="269875" y="5275284"/>
            <a:ext cx="587349" cy="5826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>
                <a:solidFill>
                  <a:schemeClr val="lt1"/>
                </a:solidFill>
                <a:ea typeface="맑은 고딕" pitchFamily="50" charset="-127"/>
              </a:rPr>
              <a:t>REQ_11</a:t>
            </a:r>
          </a:p>
        </p:txBody>
      </p:sp>
      <p:sp>
        <p:nvSpPr>
          <p:cNvPr id="151" name="Rectangle 17"/>
          <p:cNvSpPr>
            <a:spLocks noChangeArrowheads="1"/>
          </p:cNvSpPr>
          <p:nvPr/>
        </p:nvSpPr>
        <p:spPr bwMode="auto">
          <a:xfrm>
            <a:off x="269875" y="5929330"/>
            <a:ext cx="587349" cy="54133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en-US" altLang="ko-KR" sz="1000">
                <a:solidFill>
                  <a:schemeClr val="lt1"/>
                </a:solidFill>
                <a:ea typeface="맑은 고딕" pitchFamily="50" charset="-127"/>
              </a:rPr>
              <a:t>REQ_05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142844" y="630776"/>
            <a:ext cx="6865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□ </a:t>
            </a:r>
            <a:r>
              <a:rPr lang="en-US" altLang="ko-KR" b="1" dirty="0"/>
              <a:t> </a:t>
            </a:r>
            <a:r>
              <a:rPr lang="ko-KR" altLang="en-US" b="1" dirty="0"/>
              <a:t>설문조사 대상 </a:t>
            </a:r>
            <a:r>
              <a:rPr lang="en-US" altLang="ko-KR" b="1" dirty="0"/>
              <a:t>: </a:t>
            </a:r>
            <a:r>
              <a:rPr lang="ko-KR" altLang="en-US" b="1" dirty="0"/>
              <a:t>병해충 관련 농촌지도기관 담당자 </a:t>
            </a:r>
            <a:r>
              <a:rPr lang="en-US" altLang="ko-KR" b="1" dirty="0"/>
              <a:t>, </a:t>
            </a:r>
            <a:r>
              <a:rPr lang="ko-KR" altLang="en-US" b="1" dirty="0" err="1"/>
              <a:t>지도사</a:t>
            </a:r>
            <a:r>
              <a:rPr lang="ko-KR" altLang="en-US" b="1" dirty="0"/>
              <a:t> 등 </a:t>
            </a:r>
            <a:endParaRPr lang="ko-KR" altLang="en-US" dirty="0"/>
          </a:p>
        </p:txBody>
      </p:sp>
      <p:sp>
        <p:nvSpPr>
          <p:cNvPr id="153" name="Line 85"/>
          <p:cNvSpPr>
            <a:spLocks noChangeShapeType="1"/>
          </p:cNvSpPr>
          <p:nvPr/>
        </p:nvSpPr>
        <p:spPr bwMode="auto">
          <a:xfrm>
            <a:off x="6410355" y="5429264"/>
            <a:ext cx="642942" cy="142876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4" name="그룹 113"/>
          <p:cNvGrpSpPr/>
          <p:nvPr/>
        </p:nvGrpSpPr>
        <p:grpSpPr>
          <a:xfrm>
            <a:off x="153289" y="1108837"/>
            <a:ext cx="8867026" cy="342608"/>
            <a:chOff x="162254" y="1465811"/>
            <a:chExt cx="7820840" cy="302185"/>
          </a:xfrm>
        </p:grpSpPr>
        <p:sp>
          <p:nvSpPr>
            <p:cNvPr id="126" name="AutoShape 9"/>
            <p:cNvSpPr>
              <a:spLocks noChangeArrowheads="1"/>
            </p:cNvSpPr>
            <p:nvPr/>
          </p:nvSpPr>
          <p:spPr bwMode="auto">
            <a:xfrm>
              <a:off x="5544694" y="1466371"/>
              <a:ext cx="2438400" cy="295275"/>
            </a:xfrm>
            <a:prstGeom prst="chevron">
              <a:avLst>
                <a:gd name="adj" fmla="val 69849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300" b="1"/>
                <a:t>개선 방향</a:t>
              </a:r>
              <a:r>
                <a:rPr lang="en-US" altLang="ko-KR" sz="1300" b="1"/>
                <a:t>(</a:t>
              </a:r>
              <a:r>
                <a:rPr lang="ko-KR" altLang="en-US" sz="1300" b="1"/>
                <a:t>안</a:t>
              </a:r>
              <a:r>
                <a:rPr lang="en-US" altLang="ko-KR" sz="1300" b="1"/>
                <a:t>)</a:t>
              </a:r>
            </a:p>
          </p:txBody>
        </p:sp>
        <p:sp>
          <p:nvSpPr>
            <p:cNvPr id="129" name="AutoShape 10"/>
            <p:cNvSpPr>
              <a:spLocks noChangeArrowheads="1"/>
            </p:cNvSpPr>
            <p:nvPr/>
          </p:nvSpPr>
          <p:spPr bwMode="auto">
            <a:xfrm>
              <a:off x="2870517" y="1465811"/>
              <a:ext cx="2771775" cy="295275"/>
            </a:xfrm>
            <a:prstGeom prst="chevron">
              <a:avLst>
                <a:gd name="adj" fmla="val 72297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300" b="1" dirty="0"/>
                <a:t>주요이슈</a:t>
              </a:r>
            </a:p>
          </p:txBody>
        </p:sp>
        <p:sp>
          <p:nvSpPr>
            <p:cNvPr id="154" name="AutoShape 11"/>
            <p:cNvSpPr>
              <a:spLocks noChangeArrowheads="1"/>
            </p:cNvSpPr>
            <p:nvPr/>
          </p:nvSpPr>
          <p:spPr bwMode="auto">
            <a:xfrm>
              <a:off x="162254" y="1474309"/>
              <a:ext cx="2811462" cy="293687"/>
            </a:xfrm>
            <a:prstGeom prst="homePlate">
              <a:avLst>
                <a:gd name="adj" fmla="val 71066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300" b="1" dirty="0"/>
                <a:t>현황  분석</a:t>
              </a: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357190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98148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조직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, 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인력 시사점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7572396" y="34001"/>
            <a:ext cx="15536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3</a:t>
            </a:r>
            <a:r>
              <a:rPr lang="en-US" altLang="ko-KR" sz="1500" b="1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내부역량분석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Ⅲ.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42844" y="785794"/>
            <a:ext cx="88583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병해충 </a:t>
            </a:r>
            <a:r>
              <a:rPr lang="ko-KR" altLang="en-US" sz="1200" dirty="0" err="1"/>
              <a:t>예찰방제</a:t>
            </a:r>
            <a:r>
              <a:rPr lang="ko-KR" altLang="en-US" sz="1200" dirty="0"/>
              <a:t> 조직현황 분석 결과</a:t>
            </a:r>
            <a:r>
              <a:rPr lang="en-US" altLang="ko-KR" sz="1200" dirty="0"/>
              <a:t>, </a:t>
            </a:r>
            <a:r>
              <a:rPr lang="ko-KR" altLang="en-US" sz="1200" dirty="0"/>
              <a:t>병해충 </a:t>
            </a:r>
            <a:r>
              <a:rPr lang="ko-KR" altLang="en-US" sz="1200" dirty="0" err="1"/>
              <a:t>예찰방제</a:t>
            </a:r>
            <a:r>
              <a:rPr lang="ko-KR" altLang="en-US" sz="1200" dirty="0"/>
              <a:t> 조직 및 인력 측면에서 다음과 같은 이슈 및 시사점을 도출하였음</a:t>
            </a:r>
            <a:endParaRPr lang="en-US" altLang="ko-KR" sz="1200" dirty="0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435003" y="1171816"/>
            <a:ext cx="1296987" cy="40322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구 분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435003" y="1603616"/>
            <a:ext cx="1296987" cy="20891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ko-KR" altLang="en-US" sz="1200" b="1" dirty="0">
                <a:solidFill>
                  <a:sysClr val="windowText" lastClr="000000"/>
                </a:solidFill>
              </a:rPr>
              <a:t>조직 측면</a:t>
            </a: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1801840" y="1603616"/>
            <a:ext cx="3241675" cy="20891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농촌진흥청이 농작물병해충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예찰지침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개발과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방제 업무의 실제적인 총책역할을 수행하고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있으나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이를 수행하기 위한 전문 인력 부족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ko-KR" altLang="en-US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방제조직 및 유관부처간 정보공유 및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업무협조체계 미흡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ko-KR" altLang="en-US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및 방제의 보고체계가 이원화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ko-KR" altLang="en-US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1801840" y="1171816"/>
            <a:ext cx="3243263" cy="40322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ko-KR" altLang="en-US" sz="1400" b="1" dirty="0">
                <a:latin typeface="굴림" pitchFamily="50" charset="-127"/>
                <a:ea typeface="굴림" pitchFamily="50" charset="-127"/>
              </a:rPr>
              <a:t>이 </a:t>
            </a:r>
            <a:r>
              <a:rPr lang="ko-KR" altLang="en-US" sz="1400" b="1" dirty="0" err="1">
                <a:latin typeface="굴림" pitchFamily="50" charset="-127"/>
                <a:ea typeface="굴림" pitchFamily="50" charset="-127"/>
              </a:rPr>
              <a:t>슈</a:t>
            </a:r>
            <a:endParaRPr lang="ko-KR" altLang="en-US" sz="1400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5114953" y="1171816"/>
            <a:ext cx="3386137" cy="40322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ko-KR" altLang="en-US" sz="1400" b="1" dirty="0">
                <a:latin typeface="굴림" pitchFamily="50" charset="-127"/>
                <a:ea typeface="굴림" pitchFamily="50" charset="-127"/>
              </a:rPr>
              <a:t>시사점</a:t>
            </a:r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435003" y="3748329"/>
            <a:ext cx="1296987" cy="273843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ko-KR" altLang="en-US" sz="1200" b="1" dirty="0">
                <a:solidFill>
                  <a:sysClr val="windowText" lastClr="000000"/>
                </a:solidFill>
              </a:rPr>
              <a:t>인력 측면</a:t>
            </a: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5116540" y="1603616"/>
            <a:ext cx="3384550" cy="20891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및 방제 관련조직의 강화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및 방제 조직의 활성화 방안 마련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buFont typeface="Wingdings" pitchFamily="2" charset="2"/>
              <a:buChar char="§"/>
              <a:defRPr/>
            </a:pP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및 방제 조직 및 유관부처간 협력체계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강화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-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국가병해충예찰방제네트워크를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활용한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및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 방제활동 정보공유 및 협조체계 마련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조직 내 지침 및 보고체계의 일원화 방안 마련 </a:t>
            </a: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1801840" y="3748329"/>
            <a:ext cx="3241675" cy="27368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농촌진흥청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농촌지원국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식량축산과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병해충 전담인력부족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    (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중요성증가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, 2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명이 전국총괄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국립농업과학원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병해충 업무비중 증가에 따른 전문 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 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연구인력 부족 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도 농업기술원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현장업무대비 인력부족 </a:t>
            </a: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시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군 농업기술센터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예찰인력과 예산의 부족으로 정밀예찰애로 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5116540" y="3750330"/>
            <a:ext cx="3384550" cy="273685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작목확대시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조직적 대응방안 마련 시급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buFont typeface="Wingdings" pitchFamily="2" charset="2"/>
              <a:buChar char="§"/>
              <a:defRPr/>
            </a:pP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및 방제 인력의 전문성 강화 필요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 err="1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예찰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진단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방제업무에 대한 체계적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  교육과정에 따른 전문인력 양성체계 수립</a:t>
            </a:r>
          </a:p>
          <a:p>
            <a:pPr indent="-88900">
              <a:defRPr/>
            </a:pP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  </a:t>
            </a:r>
            <a:r>
              <a:rPr lang="en-US" altLang="ko-KR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t>업무절차 및 지침에 대한 매뉴얼화</a:t>
            </a: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ko-KR" altLang="en-US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  <a:p>
            <a:pPr indent="-88900">
              <a:defRPr/>
            </a:pPr>
            <a:endParaRPr lang="ko-KR" altLang="en-US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71504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병해충 현행 업무 프로세스 전체 체계도</a:t>
            </a:r>
            <a:endParaRPr lang="en-US" altLang="ko-KR" sz="28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7572396" y="34001"/>
            <a:ext cx="15536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3</a:t>
            </a:r>
            <a:r>
              <a:rPr lang="en-US" altLang="ko-KR" sz="1500" b="1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내부역량분석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Ⅲ.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85720" y="763769"/>
            <a:ext cx="5963492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latinLnBrk="0" hangingPunct="0">
              <a:spcBef>
                <a:spcPct val="20000"/>
              </a:spcBef>
            </a:pPr>
            <a:r>
              <a:rPr lang="ko-KR" altLang="en-US" sz="1400" dirty="0"/>
              <a:t>현행 병해충 </a:t>
            </a:r>
            <a:r>
              <a:rPr lang="ko-KR" altLang="en-US" sz="1400" dirty="0" err="1"/>
              <a:t>예찰</a:t>
            </a:r>
            <a:r>
              <a:rPr lang="ko-KR" altLang="en-US" sz="1400" dirty="0"/>
              <a:t> 방제 업무 프로세스는 </a:t>
            </a:r>
            <a:r>
              <a:rPr lang="en-US" altLang="ko-KR" sz="1400" dirty="0"/>
              <a:t>4</a:t>
            </a:r>
            <a:r>
              <a:rPr lang="ko-KR" altLang="en-US" sz="1400" dirty="0"/>
              <a:t>개의 </a:t>
            </a:r>
            <a:r>
              <a:rPr lang="en-US" altLang="ko-KR" sz="1400" dirty="0" err="1"/>
              <a:t>Maga</a:t>
            </a:r>
            <a:r>
              <a:rPr lang="en-US" altLang="ko-KR" sz="1400" dirty="0"/>
              <a:t> Process </a:t>
            </a:r>
            <a:r>
              <a:rPr lang="ko-KR" altLang="en-US" sz="1400" dirty="0"/>
              <a:t>로 구성됨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142844" y="1357298"/>
            <a:ext cx="8905391" cy="5065059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indent="-88900">
              <a:defRPr/>
            </a:pP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17" name="AutoShape 18"/>
          <p:cNvSpPr>
            <a:spLocks noChangeArrowheads="1"/>
          </p:cNvSpPr>
          <p:nvPr/>
        </p:nvSpPr>
        <p:spPr bwMode="auto">
          <a:xfrm>
            <a:off x="1285852" y="1928802"/>
            <a:ext cx="1664205" cy="533374"/>
          </a:xfrm>
          <a:prstGeom prst="homePlate">
            <a:avLst>
              <a:gd name="adj" fmla="val 59498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병해충정책</a:t>
            </a:r>
          </a:p>
        </p:txBody>
      </p:sp>
      <p:sp>
        <p:nvSpPr>
          <p:cNvPr id="18" name="AutoShape 19"/>
          <p:cNvSpPr>
            <a:spLocks noChangeArrowheads="1"/>
          </p:cNvSpPr>
          <p:nvPr/>
        </p:nvSpPr>
        <p:spPr bwMode="auto">
          <a:xfrm>
            <a:off x="3246493" y="1895494"/>
            <a:ext cx="1664207" cy="533374"/>
          </a:xfrm>
          <a:prstGeom prst="homePlate">
            <a:avLst>
              <a:gd name="adj" fmla="val 59498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병해충관리</a:t>
            </a:r>
          </a:p>
        </p:txBody>
      </p:sp>
      <p:sp>
        <p:nvSpPr>
          <p:cNvPr id="19" name="AutoShape 20"/>
          <p:cNvSpPr>
            <a:spLocks noChangeArrowheads="1"/>
          </p:cNvSpPr>
          <p:nvPr/>
        </p:nvSpPr>
        <p:spPr bwMode="auto">
          <a:xfrm>
            <a:off x="5103881" y="1895494"/>
            <a:ext cx="1664207" cy="533374"/>
          </a:xfrm>
          <a:prstGeom prst="homePlate">
            <a:avLst>
              <a:gd name="adj" fmla="val 59498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사후관리</a:t>
            </a:r>
          </a:p>
        </p:txBody>
      </p:sp>
      <p:sp>
        <p:nvSpPr>
          <p:cNvPr id="20" name="AutoShape 21"/>
          <p:cNvSpPr>
            <a:spLocks noChangeArrowheads="1"/>
          </p:cNvSpPr>
          <p:nvPr/>
        </p:nvSpPr>
        <p:spPr bwMode="auto">
          <a:xfrm>
            <a:off x="6911922" y="1895494"/>
            <a:ext cx="1664205" cy="533374"/>
          </a:xfrm>
          <a:prstGeom prst="homePlate">
            <a:avLst>
              <a:gd name="adj" fmla="val 59498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지원관리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250143" y="1884259"/>
            <a:ext cx="968187" cy="669414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500" b="1" u="sng" dirty="0">
                <a:solidFill>
                  <a:schemeClr val="lt1"/>
                </a:solidFill>
              </a:rPr>
              <a:t>Mega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ko-KR" sz="1500" b="1" u="sng" dirty="0">
                <a:solidFill>
                  <a:schemeClr val="lt1"/>
                </a:solidFill>
              </a:rPr>
              <a:t>Process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250142" y="2793307"/>
            <a:ext cx="968187" cy="669414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500" b="1" u="sng" dirty="0">
                <a:solidFill>
                  <a:schemeClr val="lt1"/>
                </a:solidFill>
              </a:rPr>
              <a:t>Process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ko-KR" sz="1500" b="1" u="sng" dirty="0">
                <a:solidFill>
                  <a:schemeClr val="lt1"/>
                </a:solidFill>
              </a:rPr>
              <a:t>Chain</a:t>
            </a:r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2595409" y="1176356"/>
            <a:ext cx="3451587" cy="35394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700" b="1" u="sng" dirty="0">
                <a:solidFill>
                  <a:schemeClr val="lt1"/>
                </a:solidFill>
              </a:rPr>
              <a:t>병해충 </a:t>
            </a:r>
            <a:r>
              <a:rPr lang="ko-KR" altLang="en-US" sz="1700" b="1" u="sng" dirty="0" err="1">
                <a:solidFill>
                  <a:schemeClr val="lt1"/>
                </a:solidFill>
              </a:rPr>
              <a:t>예찰</a:t>
            </a:r>
            <a:r>
              <a:rPr lang="ko-KR" altLang="en-US" sz="1700" b="1" u="sng" dirty="0">
                <a:solidFill>
                  <a:schemeClr val="lt1"/>
                </a:solidFill>
              </a:rPr>
              <a:t> 방제 프로세스 체계도</a:t>
            </a:r>
          </a:p>
        </p:txBody>
      </p:sp>
      <p:sp>
        <p:nvSpPr>
          <p:cNvPr id="24" name="Rectangle 33"/>
          <p:cNvSpPr>
            <a:spLocks noChangeArrowheads="1"/>
          </p:cNvSpPr>
          <p:nvPr/>
        </p:nvSpPr>
        <p:spPr bwMode="auto">
          <a:xfrm>
            <a:off x="1219618" y="2786058"/>
            <a:ext cx="857255" cy="3603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PP1.</a:t>
            </a:r>
            <a:r>
              <a:rPr lang="ko-KR" altLang="en-US" sz="1000" b="1" dirty="0" err="1">
                <a:solidFill>
                  <a:sysClr val="windowText" lastClr="000000"/>
                </a:solidFill>
              </a:rPr>
              <a:t>전략및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>
                <a:solidFill>
                  <a:sysClr val="windowText" lastClr="000000"/>
                </a:solidFill>
              </a:rPr>
              <a:t>정책운영</a:t>
            </a:r>
          </a:p>
        </p:txBody>
      </p:sp>
      <p:sp>
        <p:nvSpPr>
          <p:cNvPr id="25" name="Rectangle 38"/>
          <p:cNvSpPr>
            <a:spLocks noChangeArrowheads="1"/>
          </p:cNvSpPr>
          <p:nvPr/>
        </p:nvSpPr>
        <p:spPr bwMode="auto">
          <a:xfrm>
            <a:off x="1219618" y="3854455"/>
            <a:ext cx="857254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PP2.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법제도 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>
                <a:solidFill>
                  <a:sysClr val="windowText" lastClr="000000"/>
                </a:solidFill>
              </a:rPr>
              <a:t>운영</a:t>
            </a:r>
          </a:p>
        </p:txBody>
      </p:sp>
      <p:sp>
        <p:nvSpPr>
          <p:cNvPr id="26" name="Rectangle 42"/>
          <p:cNvSpPr>
            <a:spLocks noChangeArrowheads="1"/>
          </p:cNvSpPr>
          <p:nvPr/>
        </p:nvSpPr>
        <p:spPr bwMode="auto">
          <a:xfrm>
            <a:off x="1219618" y="4711711"/>
            <a:ext cx="857255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PP3.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병해충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>
                <a:solidFill>
                  <a:sysClr val="windowText" lastClr="000000"/>
                </a:solidFill>
              </a:rPr>
              <a:t>대책운영</a:t>
            </a:r>
          </a:p>
        </p:txBody>
      </p:sp>
      <p:sp>
        <p:nvSpPr>
          <p:cNvPr id="27" name="Rectangle 46"/>
          <p:cNvSpPr>
            <a:spLocks noChangeArrowheads="1"/>
          </p:cNvSpPr>
          <p:nvPr/>
        </p:nvSpPr>
        <p:spPr bwMode="auto">
          <a:xfrm>
            <a:off x="1219618" y="5426091"/>
            <a:ext cx="857255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>
                <a:solidFill>
                  <a:sysClr val="windowText" lastClr="000000"/>
                </a:solidFill>
              </a:rPr>
              <a:t>PP4.</a:t>
            </a:r>
            <a:r>
              <a:rPr lang="ko-KR" altLang="en-US" sz="1000" b="1">
                <a:solidFill>
                  <a:sysClr val="windowText" lastClr="000000"/>
                </a:solidFill>
              </a:rPr>
              <a:t>기관운영</a:t>
            </a:r>
          </a:p>
        </p:txBody>
      </p:sp>
      <p:sp>
        <p:nvSpPr>
          <p:cNvPr id="28" name="Rectangle 54"/>
          <p:cNvSpPr>
            <a:spLocks noChangeArrowheads="1"/>
          </p:cNvSpPr>
          <p:nvPr/>
        </p:nvSpPr>
        <p:spPr bwMode="auto">
          <a:xfrm>
            <a:off x="3362757" y="2928934"/>
            <a:ext cx="785818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PC1.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병해충 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 err="1">
                <a:solidFill>
                  <a:sysClr val="windowText" lastClr="000000"/>
                </a:solidFill>
              </a:rPr>
              <a:t>예찰관리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Rectangle 55"/>
          <p:cNvSpPr>
            <a:spLocks noChangeArrowheads="1"/>
          </p:cNvSpPr>
          <p:nvPr/>
        </p:nvSpPr>
        <p:spPr bwMode="auto">
          <a:xfrm>
            <a:off x="3362757" y="3922722"/>
            <a:ext cx="785818" cy="3603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PC2.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병해충 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marL="88900" indent="-88900" algn="ctr"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진단관리</a:t>
            </a:r>
          </a:p>
        </p:txBody>
      </p:sp>
      <p:sp>
        <p:nvSpPr>
          <p:cNvPr id="30" name="Rectangle 56"/>
          <p:cNvSpPr>
            <a:spLocks noChangeArrowheads="1"/>
          </p:cNvSpPr>
          <p:nvPr/>
        </p:nvSpPr>
        <p:spPr bwMode="auto">
          <a:xfrm>
            <a:off x="3362757" y="5211778"/>
            <a:ext cx="785818" cy="3603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PC3.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병해충 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>
                <a:solidFill>
                  <a:sysClr val="windowText" lastClr="000000"/>
                </a:solidFill>
              </a:rPr>
              <a:t>방제관리</a:t>
            </a:r>
          </a:p>
        </p:txBody>
      </p:sp>
      <p:sp>
        <p:nvSpPr>
          <p:cNvPr id="31" name="Rectangle 60"/>
          <p:cNvSpPr>
            <a:spLocks noChangeArrowheads="1"/>
          </p:cNvSpPr>
          <p:nvPr/>
        </p:nvSpPr>
        <p:spPr bwMode="auto">
          <a:xfrm>
            <a:off x="5145234" y="2908134"/>
            <a:ext cx="714380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AM1.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사후 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marL="88900" indent="-88900" algn="ctr"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실태관리</a:t>
            </a:r>
          </a:p>
        </p:txBody>
      </p:sp>
      <p:sp>
        <p:nvSpPr>
          <p:cNvPr id="32" name="Rectangle 62"/>
          <p:cNvSpPr>
            <a:spLocks noChangeArrowheads="1"/>
          </p:cNvSpPr>
          <p:nvPr/>
        </p:nvSpPr>
        <p:spPr bwMode="auto">
          <a:xfrm>
            <a:off x="6980549" y="2925761"/>
            <a:ext cx="785817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SM1.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기준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marL="88900" indent="-88900" algn="ctr"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정보관리</a:t>
            </a:r>
          </a:p>
        </p:txBody>
      </p:sp>
      <p:sp>
        <p:nvSpPr>
          <p:cNvPr id="33" name="Rectangle 64"/>
          <p:cNvSpPr>
            <a:spLocks noChangeArrowheads="1"/>
          </p:cNvSpPr>
          <p:nvPr/>
        </p:nvSpPr>
        <p:spPr bwMode="auto">
          <a:xfrm>
            <a:off x="6980549" y="3925893"/>
            <a:ext cx="785817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SM2.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자원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>
                <a:solidFill>
                  <a:sysClr val="windowText" lastClr="000000"/>
                </a:solidFill>
              </a:rPr>
              <a:t>관리</a:t>
            </a:r>
          </a:p>
        </p:txBody>
      </p:sp>
      <p:sp>
        <p:nvSpPr>
          <p:cNvPr id="34" name="Rectangle 65"/>
          <p:cNvSpPr>
            <a:spLocks noChangeArrowheads="1"/>
          </p:cNvSpPr>
          <p:nvPr/>
        </p:nvSpPr>
        <p:spPr bwMode="auto">
          <a:xfrm>
            <a:off x="6980549" y="5214950"/>
            <a:ext cx="785817" cy="3603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>
              <a:defRPr/>
            </a:pPr>
            <a:r>
              <a:rPr lang="en-US" altLang="ko-KR" sz="1000" b="1" dirty="0">
                <a:solidFill>
                  <a:sysClr val="windowText" lastClr="000000"/>
                </a:solidFill>
              </a:rPr>
              <a:t>SM3.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서비스 </a:t>
            </a:r>
            <a:br>
              <a:rPr lang="en-US" altLang="ko-KR" sz="1000" b="1" dirty="0">
                <a:solidFill>
                  <a:sysClr val="windowText" lastClr="000000"/>
                </a:solidFill>
              </a:rPr>
            </a:br>
            <a:r>
              <a:rPr lang="ko-KR" altLang="en-US" sz="1000" b="1" dirty="0">
                <a:solidFill>
                  <a:sysClr val="windowText" lastClr="000000"/>
                </a:solidFill>
              </a:rPr>
              <a:t>관리</a:t>
            </a:r>
          </a:p>
        </p:txBody>
      </p:sp>
      <p:sp>
        <p:nvSpPr>
          <p:cNvPr id="40" name="Rectangle 26"/>
          <p:cNvSpPr>
            <a:spLocks noChangeArrowheads="1"/>
          </p:cNvSpPr>
          <p:nvPr/>
        </p:nvSpPr>
        <p:spPr bwMode="auto">
          <a:xfrm>
            <a:off x="2359152" y="2599880"/>
            <a:ext cx="860729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PP1-01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전략 및 정책 수립</a:t>
            </a:r>
          </a:p>
        </p:txBody>
      </p:sp>
      <p:sp>
        <p:nvSpPr>
          <p:cNvPr id="42" name="Rectangle 27"/>
          <p:cNvSpPr>
            <a:spLocks noChangeArrowheads="1"/>
          </p:cNvSpPr>
          <p:nvPr/>
        </p:nvSpPr>
        <p:spPr bwMode="auto">
          <a:xfrm>
            <a:off x="2359152" y="3276822"/>
            <a:ext cx="860729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PP1-03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전략 및 정책 시행</a:t>
            </a:r>
          </a:p>
        </p:txBody>
      </p:sp>
      <p:sp>
        <p:nvSpPr>
          <p:cNvPr id="50" name="Rectangle 32"/>
          <p:cNvSpPr>
            <a:spLocks noChangeArrowheads="1"/>
          </p:cNvSpPr>
          <p:nvPr/>
        </p:nvSpPr>
        <p:spPr bwMode="auto">
          <a:xfrm>
            <a:off x="2359152" y="2933909"/>
            <a:ext cx="860729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PP1-02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전략 및 정책 확정</a:t>
            </a:r>
          </a:p>
        </p:txBody>
      </p:sp>
      <p:cxnSp>
        <p:nvCxnSpPr>
          <p:cNvPr id="52" name="직선 연결선 51"/>
          <p:cNvCxnSpPr>
            <a:stCxn id="24" idx="3"/>
            <a:endCxn id="40" idx="1"/>
          </p:cNvCxnSpPr>
          <p:nvPr/>
        </p:nvCxnSpPr>
        <p:spPr bwMode="auto">
          <a:xfrm flipV="1">
            <a:off x="2076873" y="2747956"/>
            <a:ext cx="282279" cy="218283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직선 연결선 54"/>
          <p:cNvCxnSpPr>
            <a:stCxn id="24" idx="3"/>
            <a:endCxn id="42" idx="1"/>
          </p:cNvCxnSpPr>
          <p:nvPr/>
        </p:nvCxnSpPr>
        <p:spPr bwMode="auto">
          <a:xfrm>
            <a:off x="2076873" y="2966239"/>
            <a:ext cx="282279" cy="45865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직선 연결선 56"/>
          <p:cNvCxnSpPr>
            <a:stCxn id="24" idx="3"/>
            <a:endCxn id="50" idx="1"/>
          </p:cNvCxnSpPr>
          <p:nvPr/>
        </p:nvCxnSpPr>
        <p:spPr bwMode="auto">
          <a:xfrm>
            <a:off x="2076873" y="2966239"/>
            <a:ext cx="282279" cy="11574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Rectangle 32"/>
          <p:cNvSpPr>
            <a:spLocks noChangeArrowheads="1"/>
          </p:cNvSpPr>
          <p:nvPr/>
        </p:nvSpPr>
        <p:spPr bwMode="auto">
          <a:xfrm>
            <a:off x="2368669" y="3736268"/>
            <a:ext cx="860729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PP2-01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법 운영</a:t>
            </a:r>
            <a:endParaRPr lang="ko-KR" altLang="en-US" sz="800" b="1" dirty="0"/>
          </a:p>
        </p:txBody>
      </p:sp>
      <p:sp>
        <p:nvSpPr>
          <p:cNvPr id="51" name="Rectangle 32"/>
          <p:cNvSpPr>
            <a:spLocks noChangeArrowheads="1"/>
          </p:cNvSpPr>
          <p:nvPr/>
        </p:nvSpPr>
        <p:spPr bwMode="auto">
          <a:xfrm>
            <a:off x="2368669" y="4093458"/>
            <a:ext cx="860729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PP2-02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제도 운영</a:t>
            </a:r>
          </a:p>
        </p:txBody>
      </p:sp>
      <p:cxnSp>
        <p:nvCxnSpPr>
          <p:cNvPr id="56" name="직선 연결선 55"/>
          <p:cNvCxnSpPr>
            <a:stCxn id="25" idx="3"/>
            <a:endCxn id="49" idx="1"/>
          </p:cNvCxnSpPr>
          <p:nvPr/>
        </p:nvCxnSpPr>
        <p:spPr bwMode="auto">
          <a:xfrm flipV="1">
            <a:off x="2076872" y="3884344"/>
            <a:ext cx="291797" cy="150293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직선 연결선 57"/>
          <p:cNvCxnSpPr>
            <a:stCxn id="25" idx="3"/>
            <a:endCxn id="51" idx="1"/>
          </p:cNvCxnSpPr>
          <p:nvPr/>
        </p:nvCxnSpPr>
        <p:spPr bwMode="auto">
          <a:xfrm>
            <a:off x="2076872" y="4034637"/>
            <a:ext cx="291797" cy="20689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Rectangle 32"/>
          <p:cNvSpPr>
            <a:spLocks noChangeArrowheads="1"/>
          </p:cNvSpPr>
          <p:nvPr/>
        </p:nvSpPr>
        <p:spPr bwMode="auto">
          <a:xfrm>
            <a:off x="2353108" y="4714884"/>
            <a:ext cx="860729" cy="38910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PP3-01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병해충대책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수립 및 시행</a:t>
            </a: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2368669" y="5397348"/>
            <a:ext cx="860729" cy="38910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PP4-01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조직 및 산하기관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운영</a:t>
            </a:r>
          </a:p>
        </p:txBody>
      </p:sp>
      <p:cxnSp>
        <p:nvCxnSpPr>
          <p:cNvPr id="66" name="직선 연결선 65"/>
          <p:cNvCxnSpPr>
            <a:stCxn id="26" idx="3"/>
            <a:endCxn id="63" idx="1"/>
          </p:cNvCxnSpPr>
          <p:nvPr/>
        </p:nvCxnSpPr>
        <p:spPr bwMode="auto">
          <a:xfrm>
            <a:off x="2076873" y="4891893"/>
            <a:ext cx="276235" cy="1754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직선 연결선 67"/>
          <p:cNvCxnSpPr>
            <a:stCxn id="27" idx="3"/>
            <a:endCxn id="64" idx="1"/>
          </p:cNvCxnSpPr>
          <p:nvPr/>
        </p:nvCxnSpPr>
        <p:spPr bwMode="auto">
          <a:xfrm flipV="1">
            <a:off x="2076873" y="5591901"/>
            <a:ext cx="291796" cy="14372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5" name="Rectangle 32"/>
          <p:cNvSpPr>
            <a:spLocks noChangeArrowheads="1"/>
          </p:cNvSpPr>
          <p:nvPr/>
        </p:nvSpPr>
        <p:spPr bwMode="auto">
          <a:xfrm>
            <a:off x="4287979" y="2704220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PC1_01</a:t>
            </a:r>
          </a:p>
          <a:p>
            <a:pPr algn="ctr"/>
            <a:r>
              <a:rPr lang="ko-KR" altLang="en-US" sz="800" b="1" dirty="0" err="1">
                <a:solidFill>
                  <a:srgbClr val="000000"/>
                </a:solidFill>
              </a:rPr>
              <a:t>예찰계획수립</a:t>
            </a:r>
            <a:endParaRPr lang="ko-KR" altLang="en-US" sz="800" b="1" dirty="0">
              <a:solidFill>
                <a:srgbClr val="000000"/>
              </a:solidFill>
            </a:endParaRPr>
          </a:p>
        </p:txBody>
      </p:sp>
      <p:sp>
        <p:nvSpPr>
          <p:cNvPr id="96" name="Rectangle 32"/>
          <p:cNvSpPr>
            <a:spLocks noChangeArrowheads="1"/>
          </p:cNvSpPr>
          <p:nvPr/>
        </p:nvSpPr>
        <p:spPr bwMode="auto">
          <a:xfrm>
            <a:off x="4291452" y="3071810"/>
            <a:ext cx="714380" cy="35719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ko-KR" altLang="en-US" sz="800" b="1" dirty="0" err="1">
                <a:solidFill>
                  <a:srgbClr val="000000"/>
                </a:solidFill>
              </a:rPr>
              <a:t>예찰시행</a:t>
            </a:r>
            <a:r>
              <a:rPr lang="ko-KR" altLang="en-US" sz="800" b="1" dirty="0">
                <a:solidFill>
                  <a:srgbClr val="000000"/>
                </a:solidFill>
              </a:rPr>
              <a:t> 및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기록보고</a:t>
            </a:r>
          </a:p>
        </p:txBody>
      </p:sp>
      <p:sp>
        <p:nvSpPr>
          <p:cNvPr id="97" name="Rectangle 32"/>
          <p:cNvSpPr>
            <a:spLocks noChangeArrowheads="1"/>
          </p:cNvSpPr>
          <p:nvPr/>
        </p:nvSpPr>
        <p:spPr bwMode="auto">
          <a:xfrm>
            <a:off x="4291452" y="3714752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PC2_01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98" name="Rectangle 32"/>
          <p:cNvSpPr>
            <a:spLocks noChangeArrowheads="1"/>
          </p:cNvSpPr>
          <p:nvPr/>
        </p:nvSpPr>
        <p:spPr bwMode="auto">
          <a:xfrm>
            <a:off x="4294925" y="4082342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PC2_02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병해충진단</a:t>
            </a:r>
          </a:p>
        </p:txBody>
      </p:sp>
      <p:sp>
        <p:nvSpPr>
          <p:cNvPr id="99" name="Rectangle 32"/>
          <p:cNvSpPr>
            <a:spLocks noChangeArrowheads="1"/>
          </p:cNvSpPr>
          <p:nvPr/>
        </p:nvSpPr>
        <p:spPr bwMode="auto">
          <a:xfrm>
            <a:off x="4291452" y="4429132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PC2_03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진단결과송부</a:t>
            </a:r>
          </a:p>
        </p:txBody>
      </p:sp>
      <p:sp>
        <p:nvSpPr>
          <p:cNvPr id="101" name="Rectangle 32"/>
          <p:cNvSpPr>
            <a:spLocks noChangeArrowheads="1"/>
          </p:cNvSpPr>
          <p:nvPr/>
        </p:nvSpPr>
        <p:spPr bwMode="auto">
          <a:xfrm>
            <a:off x="4291452" y="5122712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PC3_01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방제계획수립</a:t>
            </a:r>
          </a:p>
        </p:txBody>
      </p:sp>
      <p:sp>
        <p:nvSpPr>
          <p:cNvPr id="102" name="Rectangle 32"/>
          <p:cNvSpPr>
            <a:spLocks noChangeArrowheads="1"/>
          </p:cNvSpPr>
          <p:nvPr/>
        </p:nvSpPr>
        <p:spPr bwMode="auto">
          <a:xfrm>
            <a:off x="4294925" y="5490302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PC3_02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방제추진</a:t>
            </a:r>
          </a:p>
        </p:txBody>
      </p:sp>
      <p:cxnSp>
        <p:nvCxnSpPr>
          <p:cNvPr id="104" name="직선 연결선 103"/>
          <p:cNvCxnSpPr>
            <a:stCxn id="28" idx="3"/>
            <a:endCxn id="95" idx="1"/>
          </p:cNvCxnSpPr>
          <p:nvPr/>
        </p:nvCxnSpPr>
        <p:spPr bwMode="auto">
          <a:xfrm flipV="1">
            <a:off x="4148575" y="2852296"/>
            <a:ext cx="139404" cy="25682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" name="직선 연결선 105"/>
          <p:cNvCxnSpPr>
            <a:stCxn id="28" idx="3"/>
            <a:endCxn id="96" idx="1"/>
          </p:cNvCxnSpPr>
          <p:nvPr/>
        </p:nvCxnSpPr>
        <p:spPr bwMode="auto">
          <a:xfrm>
            <a:off x="4148575" y="3109116"/>
            <a:ext cx="142877" cy="14128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직선 연결선 107"/>
          <p:cNvCxnSpPr>
            <a:stCxn id="97" idx="1"/>
            <a:endCxn id="29" idx="3"/>
          </p:cNvCxnSpPr>
          <p:nvPr/>
        </p:nvCxnSpPr>
        <p:spPr bwMode="auto">
          <a:xfrm rot="10800000" flipV="1">
            <a:off x="4148576" y="3862827"/>
            <a:ext cx="142877" cy="24007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직선 연결선 109"/>
          <p:cNvCxnSpPr>
            <a:stCxn id="98" idx="1"/>
            <a:endCxn id="29" idx="3"/>
          </p:cNvCxnSpPr>
          <p:nvPr/>
        </p:nvCxnSpPr>
        <p:spPr bwMode="auto">
          <a:xfrm rot="10800000">
            <a:off x="4148575" y="4102904"/>
            <a:ext cx="146350" cy="12751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직선 연결선 111"/>
          <p:cNvCxnSpPr>
            <a:stCxn id="99" idx="1"/>
            <a:endCxn id="29" idx="3"/>
          </p:cNvCxnSpPr>
          <p:nvPr/>
        </p:nvCxnSpPr>
        <p:spPr bwMode="auto">
          <a:xfrm rot="10800000">
            <a:off x="4148576" y="4102904"/>
            <a:ext cx="142877" cy="47430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직선 연결선 113"/>
          <p:cNvCxnSpPr>
            <a:stCxn id="101" idx="1"/>
            <a:endCxn id="30" idx="3"/>
          </p:cNvCxnSpPr>
          <p:nvPr/>
        </p:nvCxnSpPr>
        <p:spPr bwMode="auto">
          <a:xfrm rot="10800000" flipV="1">
            <a:off x="4148576" y="5270787"/>
            <a:ext cx="142877" cy="12117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115"/>
          <p:cNvCxnSpPr>
            <a:stCxn id="102" idx="1"/>
            <a:endCxn id="30" idx="3"/>
          </p:cNvCxnSpPr>
          <p:nvPr/>
        </p:nvCxnSpPr>
        <p:spPr bwMode="auto">
          <a:xfrm rot="10800000">
            <a:off x="4148575" y="5391960"/>
            <a:ext cx="146350" cy="24641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7" name="Rectangle 32"/>
          <p:cNvSpPr>
            <a:spLocks noChangeArrowheads="1"/>
          </p:cNvSpPr>
          <p:nvPr/>
        </p:nvSpPr>
        <p:spPr bwMode="auto">
          <a:xfrm>
            <a:off x="6145366" y="2765258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AM1_01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발생영향평가</a:t>
            </a:r>
          </a:p>
        </p:txBody>
      </p:sp>
      <p:sp>
        <p:nvSpPr>
          <p:cNvPr id="118" name="Rectangle 32"/>
          <p:cNvSpPr>
            <a:spLocks noChangeArrowheads="1"/>
          </p:cNvSpPr>
          <p:nvPr/>
        </p:nvSpPr>
        <p:spPr bwMode="auto">
          <a:xfrm>
            <a:off x="6148839" y="3132848"/>
            <a:ext cx="714380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AM1_02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사후실태점검</a:t>
            </a:r>
          </a:p>
        </p:txBody>
      </p:sp>
      <p:cxnSp>
        <p:nvCxnSpPr>
          <p:cNvPr id="120" name="직선 연결선 119"/>
          <p:cNvCxnSpPr>
            <a:stCxn id="117" idx="1"/>
            <a:endCxn id="31" idx="3"/>
          </p:cNvCxnSpPr>
          <p:nvPr/>
        </p:nvCxnSpPr>
        <p:spPr bwMode="auto">
          <a:xfrm rot="10800000" flipV="1">
            <a:off x="5859614" y="2913334"/>
            <a:ext cx="285752" cy="174982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직선 연결선 121"/>
          <p:cNvCxnSpPr>
            <a:stCxn id="118" idx="1"/>
            <a:endCxn id="31" idx="3"/>
          </p:cNvCxnSpPr>
          <p:nvPr/>
        </p:nvCxnSpPr>
        <p:spPr bwMode="auto">
          <a:xfrm rot="10800000">
            <a:off x="5859615" y="3088316"/>
            <a:ext cx="289225" cy="19260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3" name="Rectangle 32"/>
          <p:cNvSpPr>
            <a:spLocks noChangeArrowheads="1"/>
          </p:cNvSpPr>
          <p:nvPr/>
        </p:nvSpPr>
        <p:spPr bwMode="auto">
          <a:xfrm>
            <a:off x="7980680" y="2939692"/>
            <a:ext cx="928694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SM1-01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병해충 정보관리</a:t>
            </a:r>
          </a:p>
        </p:txBody>
      </p:sp>
      <p:sp>
        <p:nvSpPr>
          <p:cNvPr id="129" name="Rectangle 32"/>
          <p:cNvSpPr>
            <a:spLocks noChangeArrowheads="1"/>
          </p:cNvSpPr>
          <p:nvPr/>
        </p:nvSpPr>
        <p:spPr bwMode="auto">
          <a:xfrm>
            <a:off x="8019844" y="3765032"/>
            <a:ext cx="928694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SM2-01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장비 자원관리</a:t>
            </a:r>
          </a:p>
        </p:txBody>
      </p:sp>
      <p:sp>
        <p:nvSpPr>
          <p:cNvPr id="130" name="Rectangle 32"/>
          <p:cNvSpPr>
            <a:spLocks noChangeArrowheads="1"/>
          </p:cNvSpPr>
          <p:nvPr/>
        </p:nvSpPr>
        <p:spPr bwMode="auto">
          <a:xfrm>
            <a:off x="8030602" y="4204418"/>
            <a:ext cx="928694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SM2-02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인력 자원관리</a:t>
            </a:r>
          </a:p>
        </p:txBody>
      </p:sp>
      <p:sp>
        <p:nvSpPr>
          <p:cNvPr id="131" name="Rectangle 32"/>
          <p:cNvSpPr>
            <a:spLocks noChangeArrowheads="1"/>
          </p:cNvSpPr>
          <p:nvPr/>
        </p:nvSpPr>
        <p:spPr bwMode="auto">
          <a:xfrm>
            <a:off x="8030602" y="5050916"/>
            <a:ext cx="928694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SM3-01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민원처리</a:t>
            </a:r>
          </a:p>
        </p:txBody>
      </p:sp>
      <p:sp>
        <p:nvSpPr>
          <p:cNvPr id="132" name="Rectangle 32"/>
          <p:cNvSpPr>
            <a:spLocks noChangeArrowheads="1"/>
          </p:cNvSpPr>
          <p:nvPr/>
        </p:nvSpPr>
        <p:spPr bwMode="auto">
          <a:xfrm>
            <a:off x="8041360" y="5490302"/>
            <a:ext cx="928694" cy="2961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ko-KR" sz="800" b="1" dirty="0">
                <a:solidFill>
                  <a:srgbClr val="000000"/>
                </a:solidFill>
              </a:rPr>
              <a:t>SM3-02</a:t>
            </a:r>
          </a:p>
          <a:p>
            <a:pPr algn="ctr"/>
            <a:r>
              <a:rPr lang="ko-KR" altLang="en-US" sz="800" b="1" dirty="0">
                <a:solidFill>
                  <a:srgbClr val="000000"/>
                </a:solidFill>
              </a:rPr>
              <a:t>커뮤니티 운영</a:t>
            </a:r>
          </a:p>
        </p:txBody>
      </p:sp>
      <p:cxnSp>
        <p:nvCxnSpPr>
          <p:cNvPr id="134" name="직선 연결선 133"/>
          <p:cNvCxnSpPr>
            <a:stCxn id="32" idx="3"/>
            <a:endCxn id="123" idx="1"/>
          </p:cNvCxnSpPr>
          <p:nvPr/>
        </p:nvCxnSpPr>
        <p:spPr bwMode="auto">
          <a:xfrm flipV="1">
            <a:off x="7766366" y="3087768"/>
            <a:ext cx="214314" cy="1817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직선 연결선 135"/>
          <p:cNvCxnSpPr>
            <a:stCxn id="33" idx="3"/>
            <a:endCxn id="129" idx="1"/>
          </p:cNvCxnSpPr>
          <p:nvPr/>
        </p:nvCxnSpPr>
        <p:spPr bwMode="auto">
          <a:xfrm flipV="1">
            <a:off x="7766366" y="3913108"/>
            <a:ext cx="253478" cy="19296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8" name="직선 연결선 137"/>
          <p:cNvCxnSpPr>
            <a:stCxn id="33" idx="3"/>
            <a:endCxn id="130" idx="1"/>
          </p:cNvCxnSpPr>
          <p:nvPr/>
        </p:nvCxnSpPr>
        <p:spPr bwMode="auto">
          <a:xfrm>
            <a:off x="7766366" y="4106075"/>
            <a:ext cx="264236" cy="24641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1" name="직선 연결선 140"/>
          <p:cNvCxnSpPr>
            <a:stCxn id="34" idx="3"/>
            <a:endCxn id="131" idx="1"/>
          </p:cNvCxnSpPr>
          <p:nvPr/>
        </p:nvCxnSpPr>
        <p:spPr bwMode="auto">
          <a:xfrm flipV="1">
            <a:off x="7766366" y="5198992"/>
            <a:ext cx="264236" cy="19614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3" name="직선 연결선 142"/>
          <p:cNvCxnSpPr>
            <a:stCxn id="34" idx="3"/>
            <a:endCxn id="132" idx="1"/>
          </p:cNvCxnSpPr>
          <p:nvPr/>
        </p:nvCxnSpPr>
        <p:spPr bwMode="auto">
          <a:xfrm>
            <a:off x="7766366" y="5395132"/>
            <a:ext cx="274994" cy="24324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786346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44101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중요이해관계자 분석 시사점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7572396" y="34001"/>
            <a:ext cx="15536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3</a:t>
            </a:r>
            <a:r>
              <a:rPr lang="en-US" altLang="ko-KR" sz="1500" b="1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내부역량분석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Ⅲ.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현황분석</a:t>
            </a:r>
          </a:p>
        </p:txBody>
      </p:sp>
      <p:grpSp>
        <p:nvGrpSpPr>
          <p:cNvPr id="65" name="그룹 64"/>
          <p:cNvGrpSpPr/>
          <p:nvPr/>
        </p:nvGrpSpPr>
        <p:grpSpPr>
          <a:xfrm>
            <a:off x="108168" y="1015008"/>
            <a:ext cx="8892988" cy="5399244"/>
            <a:chOff x="0" y="1207591"/>
            <a:chExt cx="9162473" cy="5293243"/>
          </a:xfrm>
        </p:grpSpPr>
        <p:sp>
          <p:nvSpPr>
            <p:cNvPr id="15" name="Rectangle 2"/>
            <p:cNvSpPr>
              <a:spLocks noChangeArrowheads="1"/>
            </p:cNvSpPr>
            <p:nvPr/>
          </p:nvSpPr>
          <p:spPr bwMode="auto">
            <a:xfrm>
              <a:off x="2832100" y="2611459"/>
              <a:ext cx="1058863" cy="207803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정책수립 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의견수렴 및 민원해결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법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제도 제정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ko-KR" altLang="en-US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ko-KR" altLang="en-US" sz="800" b="1" dirty="0">
                <a:solidFill>
                  <a:srgbClr val="000000"/>
                </a:solidFill>
              </a:endParaRPr>
            </a:p>
          </p:txBody>
        </p:sp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757238" y="2617809"/>
              <a:ext cx="1089426" cy="20716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 연구정책 및 관리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기획 및 예산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통계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표준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 </a:t>
              </a:r>
              <a:r>
                <a:rPr lang="ko-KR" altLang="en-US" sz="800" b="1" dirty="0" err="1">
                  <a:solidFill>
                    <a:srgbClr val="000000"/>
                  </a:solidFill>
                </a:rPr>
                <a:t>방제력</a:t>
              </a:r>
              <a:endParaRPr lang="ko-KR" altLang="en-US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교육 훈련</a:t>
              </a: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0" y="1643050"/>
              <a:ext cx="604838" cy="765209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 fontAlgn="ctr" latinLnBrk="0">
                <a:defRPr/>
              </a:pPr>
              <a:r>
                <a:rPr lang="ko-KR" altLang="en-US" sz="1400" b="1" dirty="0">
                  <a:solidFill>
                    <a:schemeClr val="lt1"/>
                  </a:solidFill>
                  <a:latin typeface="굴림" pitchFamily="50" charset="-127"/>
                  <a:ea typeface="굴림" pitchFamily="50" charset="-127"/>
                </a:rPr>
                <a:t>정의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0" y="2552722"/>
              <a:ext cx="604838" cy="216058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 fontAlgn="ctr" latinLnBrk="0">
                <a:defRPr/>
              </a:pPr>
              <a:r>
                <a:rPr lang="ko-KR" altLang="en-US" sz="1400" b="1">
                  <a:solidFill>
                    <a:schemeClr val="lt1"/>
                  </a:solidFill>
                  <a:latin typeface="굴림" pitchFamily="50" charset="-127"/>
                  <a:ea typeface="굴림" pitchFamily="50" charset="-127"/>
                </a:rPr>
                <a:t>구조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0" y="4856184"/>
              <a:ext cx="604838" cy="935038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 fontAlgn="ctr" latinLnBrk="0">
                <a:defRPr/>
              </a:pPr>
              <a:r>
                <a:rPr lang="ko-KR" altLang="en-US" sz="1400" b="1" dirty="0">
                  <a:solidFill>
                    <a:schemeClr val="lt1"/>
                  </a:solidFill>
                  <a:latin typeface="굴림" pitchFamily="50" charset="-127"/>
                  <a:ea typeface="굴림" pitchFamily="50" charset="-127"/>
                </a:rPr>
                <a:t>주요</a:t>
              </a:r>
              <a:endParaRPr lang="en-US" altLang="ko-KR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endParaRPr>
            </a:p>
            <a:p>
              <a:pPr marL="88900" indent="-88900" algn="ctr" fontAlgn="ctr" latinLnBrk="0">
                <a:defRPr/>
              </a:pPr>
              <a:r>
                <a:rPr lang="ko-KR" altLang="en-US" sz="1400" b="1" dirty="0">
                  <a:solidFill>
                    <a:schemeClr val="lt1"/>
                  </a:solidFill>
                  <a:latin typeface="굴림" pitchFamily="50" charset="-127"/>
                  <a:ea typeface="굴림" pitchFamily="50" charset="-127"/>
                </a:rPr>
                <a:t>역할</a:t>
              </a: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2843213" y="2611459"/>
              <a:ext cx="1042987" cy="392255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>
                <a:defRPr/>
              </a:pPr>
              <a:r>
                <a:rPr lang="ko-KR" altLang="en-US" sz="1000" b="1" dirty="0" err="1">
                  <a:solidFill>
                    <a:sysClr val="windowText" lastClr="000000"/>
                  </a:solidFill>
                </a:rPr>
                <a:t>농림수산식품부</a:t>
              </a:r>
              <a:endParaRPr lang="ko-KR" altLang="en-US" sz="10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755650" y="2540022"/>
              <a:ext cx="1109663" cy="407341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>
                <a:defRPr/>
              </a:pPr>
              <a:r>
                <a:rPr lang="ko-KR" altLang="en-US" sz="1000" b="1" dirty="0">
                  <a:solidFill>
                    <a:sysClr val="windowText" lastClr="000000"/>
                  </a:solidFill>
                </a:rPr>
                <a:t>농촌진흥청</a:t>
              </a:r>
            </a:p>
            <a:p>
              <a:pPr marL="88900" indent="-88900" algn="ctr">
                <a:defRPr/>
              </a:pPr>
              <a:r>
                <a:rPr lang="en-US" altLang="ko-KR" sz="1000" b="1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000" b="1" dirty="0">
                  <a:solidFill>
                    <a:sysClr val="windowText" lastClr="000000"/>
                  </a:solidFill>
                </a:rPr>
                <a:t>본청</a:t>
              </a:r>
              <a:r>
                <a:rPr lang="en-US" altLang="ko-KR" sz="1000" b="1" dirty="0">
                  <a:solidFill>
                    <a:sysClr val="windowText" lastClr="000000"/>
                  </a:solidFill>
                </a:rPr>
                <a:t>)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>
              <a:off x="1930005" y="3546497"/>
              <a:ext cx="8655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H="1">
              <a:off x="1928813" y="3671909"/>
              <a:ext cx="8655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1821731" y="3806847"/>
              <a:ext cx="1181100" cy="6939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7A7A7A"/>
              </a:prstShdw>
            </a:effectLst>
          </p:spPr>
          <p:txBody>
            <a:bodyPr>
              <a:spAutoFit/>
            </a:bodyPr>
            <a:lstStyle/>
            <a:p>
              <a:pPr marL="85725" indent="-85725">
                <a:buFontTx/>
                <a:buChar char="•"/>
              </a:pPr>
              <a:r>
                <a:rPr lang="ko-KR" altLang="en-US" sz="800"/>
                <a:t>병해충 관련정책</a:t>
              </a:r>
              <a:r>
                <a:rPr lang="en-US" altLang="ko-KR" sz="800"/>
                <a:t>/</a:t>
              </a:r>
              <a:r>
                <a:rPr lang="ko-KR" altLang="en-US" sz="800"/>
                <a:t>법</a:t>
              </a:r>
              <a:r>
                <a:rPr lang="en-US" altLang="ko-KR" sz="800"/>
                <a:t>·</a:t>
              </a:r>
              <a:r>
                <a:rPr lang="ko-KR" altLang="en-US" sz="800"/>
                <a:t>제도 수립</a:t>
              </a:r>
            </a:p>
            <a:p>
              <a:pPr marL="85725" indent="-85725"/>
              <a:r>
                <a:rPr lang="ko-KR" altLang="en-US" sz="800"/>
                <a:t>  시달</a:t>
              </a:r>
            </a:p>
            <a:p>
              <a:pPr marL="85725" indent="-85725">
                <a:buFontTx/>
                <a:buChar char="•"/>
              </a:pPr>
              <a:r>
                <a:rPr lang="ko-KR" altLang="en-US" sz="800"/>
                <a:t>병해충 관련정보 요청</a:t>
              </a:r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1837606" y="2684484"/>
              <a:ext cx="1143000" cy="69398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7A7A7A"/>
              </a:prstShdw>
            </a:effectLst>
          </p:spPr>
          <p:txBody>
            <a:bodyPr>
              <a:spAutoFit/>
            </a:bodyPr>
            <a:lstStyle/>
            <a:p>
              <a:pPr marL="85725" indent="-85725">
                <a:buFontTx/>
                <a:buChar char="•"/>
              </a:pPr>
              <a:r>
                <a:rPr lang="ko-KR" altLang="en-US" sz="800" dirty="0"/>
                <a:t>병해충 정책</a:t>
              </a:r>
              <a:endParaRPr lang="en-US" altLang="ko-KR" sz="800" dirty="0"/>
            </a:p>
            <a:p>
              <a:pPr marL="85725" indent="-85725"/>
              <a:r>
                <a:rPr lang="en-US" altLang="ko-KR" sz="800" dirty="0"/>
                <a:t>  </a:t>
              </a:r>
              <a:r>
                <a:rPr lang="ko-KR" altLang="en-US" sz="800" dirty="0"/>
                <a:t>수립 기초자료</a:t>
              </a:r>
            </a:p>
            <a:p>
              <a:pPr marL="85725" indent="-85725"/>
              <a:r>
                <a:rPr lang="ko-KR" altLang="en-US" sz="800" dirty="0"/>
                <a:t>  제공 및 건의</a:t>
              </a:r>
            </a:p>
            <a:p>
              <a:pPr marL="85725" indent="-85725">
                <a:buFontTx/>
                <a:buChar char="•"/>
              </a:pPr>
              <a:r>
                <a:rPr lang="ko-KR" altLang="en-US" sz="800" dirty="0"/>
                <a:t>병해충 관련</a:t>
              </a:r>
              <a:endParaRPr lang="en-US" altLang="ko-KR" sz="800" dirty="0"/>
            </a:p>
            <a:p>
              <a:pPr marL="85725" indent="-85725"/>
              <a:r>
                <a:rPr lang="ko-KR" altLang="en-US" sz="800" dirty="0"/>
                <a:t>  정보 제공</a:t>
              </a:r>
            </a:p>
          </p:txBody>
        </p:sp>
        <p:sp>
          <p:nvSpPr>
            <p:cNvPr id="28" name="Rectangle 31"/>
            <p:cNvSpPr>
              <a:spLocks noChangeArrowheads="1"/>
            </p:cNvSpPr>
            <p:nvPr/>
          </p:nvSpPr>
          <p:spPr bwMode="auto">
            <a:xfrm>
              <a:off x="796925" y="1643050"/>
              <a:ext cx="2917819" cy="71438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국가 농업정책 수립 및 관계기관에 하달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농업 과학기술 계획 예산 편성 및 통제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행정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지도기관</a:t>
              </a:r>
            </a:p>
          </p:txBody>
        </p:sp>
        <p:sp>
          <p:nvSpPr>
            <p:cNvPr id="29" name="Rectangle 32"/>
            <p:cNvSpPr>
              <a:spLocks noChangeArrowheads="1"/>
            </p:cNvSpPr>
            <p:nvPr/>
          </p:nvSpPr>
          <p:spPr bwMode="auto">
            <a:xfrm>
              <a:off x="787400" y="4857773"/>
              <a:ext cx="3055938" cy="93503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국가 병해충 관련 중장기 기본계획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정책 수립 및 시달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농촌진흥청 업무 보고 접수 및 통제</a:t>
              </a:r>
            </a:p>
          </p:txBody>
        </p:sp>
        <p:sp>
          <p:nvSpPr>
            <p:cNvPr id="30" name="Rectangle 33"/>
            <p:cNvSpPr>
              <a:spLocks noChangeArrowheads="1"/>
            </p:cNvSpPr>
            <p:nvPr/>
          </p:nvSpPr>
          <p:spPr bwMode="auto">
            <a:xfrm>
              <a:off x="785786" y="1214422"/>
              <a:ext cx="2928958" cy="271561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u="sng" dirty="0">
                  <a:solidFill>
                    <a:schemeClr val="lt1"/>
                  </a:solidFill>
                </a:rPr>
                <a:t>정부기관</a:t>
              </a:r>
              <a:r>
                <a:rPr lang="en-US" altLang="ko-KR" sz="1200" b="1" u="sng" dirty="0">
                  <a:solidFill>
                    <a:schemeClr val="lt1"/>
                  </a:solidFill>
                </a:rPr>
                <a:t>(</a:t>
              </a:r>
              <a:r>
                <a:rPr lang="ko-KR" altLang="en-US" sz="1200" b="1" u="sng" dirty="0" err="1">
                  <a:solidFill>
                    <a:schemeClr val="lt1"/>
                  </a:solidFill>
                </a:rPr>
                <a:t>농림수산식품부</a:t>
              </a:r>
              <a:r>
                <a:rPr lang="en-US" altLang="ko-KR" sz="1200" b="1" u="sng" dirty="0">
                  <a:solidFill>
                    <a:schemeClr val="lt1"/>
                  </a:solidFill>
                </a:rPr>
                <a:t>,</a:t>
              </a:r>
              <a:r>
                <a:rPr lang="ko-KR" altLang="en-US" sz="1200" b="1" u="sng" dirty="0">
                  <a:solidFill>
                    <a:schemeClr val="lt1"/>
                  </a:solidFill>
                </a:rPr>
                <a:t>농촌진흥청</a:t>
              </a:r>
              <a:r>
                <a:rPr lang="en-US" altLang="ko-KR" sz="1200" b="1" u="sng" dirty="0">
                  <a:solidFill>
                    <a:schemeClr val="lt1"/>
                  </a:solidFill>
                </a:rPr>
                <a:t>)</a:t>
              </a:r>
              <a:endParaRPr lang="ko-KR" altLang="en-US" sz="1200" b="1" u="sng" dirty="0">
                <a:solidFill>
                  <a:schemeClr val="lt1"/>
                </a:solidFill>
              </a:endParaRPr>
            </a:p>
          </p:txBody>
        </p:sp>
        <p:sp>
          <p:nvSpPr>
            <p:cNvPr id="31" name="Rectangle 34"/>
            <p:cNvSpPr>
              <a:spLocks noChangeArrowheads="1"/>
            </p:cNvSpPr>
            <p:nvPr/>
          </p:nvSpPr>
          <p:spPr bwMode="auto">
            <a:xfrm>
              <a:off x="5387942" y="1214422"/>
              <a:ext cx="2228872" cy="274434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u="sng" dirty="0">
                  <a:solidFill>
                    <a:schemeClr val="lt1"/>
                  </a:solidFill>
                </a:rPr>
                <a:t>농촌지도기관</a:t>
              </a:r>
              <a:r>
                <a:rPr lang="en-US" altLang="ko-KR" sz="1200" b="1" u="sng" dirty="0">
                  <a:solidFill>
                    <a:schemeClr val="lt1"/>
                  </a:solidFill>
                </a:rPr>
                <a:t>(</a:t>
              </a:r>
              <a:r>
                <a:rPr lang="ko-KR" altLang="en-US" sz="1200" b="1" u="sng" dirty="0">
                  <a:solidFill>
                    <a:schemeClr val="lt1"/>
                  </a:solidFill>
                </a:rPr>
                <a:t>도원</a:t>
              </a:r>
              <a:r>
                <a:rPr lang="en-US" altLang="ko-KR" sz="1200" b="1" u="sng" dirty="0">
                  <a:solidFill>
                    <a:schemeClr val="lt1"/>
                  </a:solidFill>
                </a:rPr>
                <a:t>,</a:t>
              </a:r>
              <a:r>
                <a:rPr lang="ko-KR" altLang="en-US" sz="1200" b="1" u="sng" dirty="0">
                  <a:solidFill>
                    <a:schemeClr val="lt1"/>
                  </a:solidFill>
                </a:rPr>
                <a:t>기술센터</a:t>
              </a:r>
              <a:r>
                <a:rPr lang="en-US" altLang="ko-KR" sz="1200" b="1" u="sng" dirty="0">
                  <a:solidFill>
                    <a:schemeClr val="lt1"/>
                  </a:solidFill>
                </a:rPr>
                <a:t>)</a:t>
              </a:r>
              <a:endParaRPr lang="ko-KR" altLang="en-US" sz="1200" b="1" u="sng" dirty="0">
                <a:solidFill>
                  <a:schemeClr val="lt1"/>
                </a:solidFill>
              </a:endParaRPr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6176963" y="2663847"/>
              <a:ext cx="1214437" cy="20256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예찰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진단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방제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실무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애로기술 연구 개발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보급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전문인력 교육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 err="1">
                  <a:solidFill>
                    <a:srgbClr val="000000"/>
                  </a:solidFill>
                </a:rPr>
                <a:t>농업인에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 대한 교육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훈련</a:t>
              </a:r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4010278" y="2592409"/>
              <a:ext cx="1291972" cy="20970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연구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교육 훈련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기술 보급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병해충관련 기술컨설팅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방제 기술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진단 모델링</a:t>
              </a:r>
            </a:p>
          </p:txBody>
        </p:sp>
        <p:sp>
          <p:nvSpPr>
            <p:cNvPr id="34" name="Rectangle 37"/>
            <p:cNvSpPr>
              <a:spLocks noChangeArrowheads="1"/>
            </p:cNvSpPr>
            <p:nvPr/>
          </p:nvSpPr>
          <p:spPr bwMode="auto">
            <a:xfrm>
              <a:off x="5715008" y="1645069"/>
              <a:ext cx="1714512" cy="721149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연구 개발된 기술의 실용화 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defRPr/>
              </a:pPr>
              <a:r>
                <a:rPr lang="en-US" altLang="ko-KR" sz="800" b="1" dirty="0">
                  <a:solidFill>
                    <a:srgbClr val="000000"/>
                  </a:solidFill>
                  <a:sym typeface="Wingdings" pitchFamily="2" charset="2"/>
                </a:rPr>
                <a:t>  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 농업인에게 보급 및 교육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관련 </a:t>
              </a:r>
              <a:r>
                <a:rPr lang="ko-KR" altLang="en-US" sz="800" b="1" dirty="0" err="1">
                  <a:solidFill>
                    <a:srgbClr val="000000"/>
                  </a:solidFill>
                </a:rPr>
                <a:t>예찰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진단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관리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방제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현장일선기관</a:t>
              </a:r>
            </a:p>
          </p:txBody>
        </p:sp>
        <p:sp>
          <p:nvSpPr>
            <p:cNvPr id="36" name="Rectangle 38"/>
            <p:cNvSpPr>
              <a:spLocks noChangeArrowheads="1"/>
            </p:cNvSpPr>
            <p:nvPr/>
          </p:nvSpPr>
          <p:spPr bwMode="auto">
            <a:xfrm>
              <a:off x="3960813" y="4891109"/>
              <a:ext cx="3430587" cy="93503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농업기술 농업인에게 보급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지역농업 발전을 위한 현장농업연구</a:t>
              </a: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지역특화작목 개발지원 등</a:t>
              </a: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6156325" y="2684484"/>
              <a:ext cx="1223963" cy="24138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>
                <a:defRPr/>
              </a:pPr>
              <a:r>
                <a:rPr lang="ko-KR" altLang="en-US" sz="1000" b="1">
                  <a:solidFill>
                    <a:sysClr val="windowText" lastClr="000000"/>
                  </a:solidFill>
                </a:rPr>
                <a:t>농촌지도기관</a:t>
              </a:r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5248274" y="3663972"/>
              <a:ext cx="927100" cy="9353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7A7A7A"/>
              </a:prstShdw>
            </a:effectLst>
          </p:spPr>
          <p:txBody>
            <a:bodyPr>
              <a:spAutoFit/>
            </a:bodyPr>
            <a:lstStyle/>
            <a:p>
              <a:pPr marL="85725" indent="-85725">
                <a:buFontTx/>
                <a:buChar char="•"/>
              </a:pPr>
              <a:r>
                <a:rPr lang="ko-KR" altLang="en-US" sz="800"/>
                <a:t>병해충관련 현장정보</a:t>
              </a:r>
              <a:endParaRPr lang="en-US" altLang="ko-KR" sz="800"/>
            </a:p>
            <a:p>
              <a:pPr marL="85725" indent="-85725"/>
              <a:r>
                <a:rPr lang="en-US" altLang="ko-KR" sz="800"/>
                <a:t>  </a:t>
              </a:r>
              <a:r>
                <a:rPr lang="ko-KR" altLang="en-US" sz="800"/>
                <a:t>수집</a:t>
              </a:r>
            </a:p>
            <a:p>
              <a:pPr marL="85725" indent="-85725">
                <a:buFontTx/>
                <a:buChar char="•"/>
              </a:pPr>
              <a:r>
                <a:rPr lang="ko-KR" altLang="en-US" sz="800"/>
                <a:t>병해충관련현장애로사항 및 문제점 제출</a:t>
              </a:r>
            </a:p>
          </p:txBody>
        </p:sp>
        <p:sp>
          <p:nvSpPr>
            <p:cNvPr id="47" name="Text Box 42"/>
            <p:cNvSpPr txBox="1">
              <a:spLocks noChangeArrowheads="1"/>
            </p:cNvSpPr>
            <p:nvPr/>
          </p:nvSpPr>
          <p:spPr bwMode="auto">
            <a:xfrm>
              <a:off x="5292725" y="2540022"/>
              <a:ext cx="928688" cy="81468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7A7A7A"/>
              </a:prstShdw>
            </a:effectLst>
          </p:spPr>
          <p:txBody>
            <a:bodyPr>
              <a:spAutoFit/>
            </a:bodyPr>
            <a:lstStyle/>
            <a:p>
              <a:pPr marL="85725" indent="-85725">
                <a:buFontTx/>
                <a:buChar char="•"/>
              </a:pPr>
              <a:r>
                <a:rPr lang="ko-KR" altLang="en-US" sz="800" dirty="0"/>
                <a:t>병해충 관련 시험연구</a:t>
              </a:r>
              <a:endParaRPr lang="en-US" altLang="ko-KR" sz="800" dirty="0"/>
            </a:p>
            <a:p>
              <a:pPr marL="85725" indent="-85725"/>
              <a:r>
                <a:rPr lang="en-US" altLang="ko-KR" sz="800" dirty="0"/>
                <a:t>   </a:t>
              </a:r>
              <a:r>
                <a:rPr lang="ko-KR" altLang="en-US" sz="800" dirty="0"/>
                <a:t>지원</a:t>
              </a:r>
            </a:p>
            <a:p>
              <a:pPr marL="85725" indent="-85725">
                <a:buFontTx/>
                <a:buChar char="•"/>
              </a:pPr>
              <a:r>
                <a:rPr lang="ko-KR" altLang="en-US" sz="800" dirty="0"/>
                <a:t>병해충 관련 개발된 기술보급 및 진단</a:t>
              </a:r>
            </a:p>
          </p:txBody>
        </p:sp>
        <p:sp>
          <p:nvSpPr>
            <p:cNvPr id="48" name="Text Box 43"/>
            <p:cNvSpPr txBox="1">
              <a:spLocks noChangeArrowheads="1"/>
            </p:cNvSpPr>
            <p:nvPr/>
          </p:nvSpPr>
          <p:spPr bwMode="auto">
            <a:xfrm>
              <a:off x="4000496" y="2611459"/>
              <a:ext cx="1285884" cy="24138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>
                <a:defRPr/>
              </a:pPr>
              <a:r>
                <a:rPr lang="ko-KR" altLang="en-US" sz="1000" b="1" dirty="0">
                  <a:solidFill>
                    <a:sysClr val="windowText" lastClr="000000"/>
                  </a:solidFill>
                </a:rPr>
                <a:t>소속기관</a:t>
              </a: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 flipH="1">
              <a:off x="5392034" y="3449659"/>
              <a:ext cx="6420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H="1">
              <a:off x="5391150" y="3592534"/>
              <a:ext cx="6420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787400" y="5899172"/>
              <a:ext cx="3063875" cy="6016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농촌진흥청과 유관기관간 정보교환 채널 및 정보공유 필요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상호 협조체제</a:t>
              </a: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0" y="5899172"/>
              <a:ext cx="604838" cy="60166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marL="88900" indent="-88900" algn="ctr" fontAlgn="ctr" latinLnBrk="0">
                <a:spcBef>
                  <a:spcPct val="20000"/>
                </a:spcBef>
                <a:buClr>
                  <a:schemeClr val="tx1"/>
                </a:buClr>
                <a:buSzPct val="140000"/>
                <a:buFont typeface="Wingdings" pitchFamily="2" charset="2"/>
                <a:buNone/>
                <a:tabLst>
                  <a:tab pos="369888" algn="l"/>
                  <a:tab pos="379413" algn="l"/>
                  <a:tab pos="749300" algn="l"/>
                  <a:tab pos="857250" algn="l"/>
                </a:tabLst>
                <a:defRPr/>
              </a:pPr>
              <a:r>
                <a:rPr lang="ko-KR" altLang="en-US" sz="1200" b="1" dirty="0">
                  <a:solidFill>
                    <a:schemeClr val="lt1"/>
                  </a:solidFill>
                  <a:latin typeface="굴림" pitchFamily="50" charset="-127"/>
                  <a:ea typeface="굴림" pitchFamily="50" charset="-127"/>
                </a:rPr>
                <a:t>시사점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3960813" y="5924572"/>
              <a:ext cx="3430587" cy="5762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현장의 효율적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·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체계적인 정보수집체계 필요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신속한 </a:t>
              </a:r>
              <a:r>
                <a:rPr lang="ko-KR" altLang="en-US" sz="800" b="1" dirty="0" err="1">
                  <a:solidFill>
                    <a:srgbClr val="000000"/>
                  </a:solidFill>
                </a:rPr>
                <a:t>예찰에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 따른 진단으로 방제효율성 강화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상호 </a:t>
              </a:r>
              <a:r>
                <a:rPr lang="ko-KR" altLang="en-US" sz="800" b="1" dirty="0" err="1">
                  <a:solidFill>
                    <a:srgbClr val="000000"/>
                  </a:solidFill>
                </a:rPr>
                <a:t>일사분란한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 병해충 대응 체계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, </a:t>
              </a:r>
              <a:r>
                <a:rPr lang="ko-KR" altLang="en-US" sz="800" b="1" dirty="0" err="1">
                  <a:solidFill>
                    <a:srgbClr val="000000"/>
                  </a:solidFill>
                </a:rPr>
                <a:t>국가병해충예찰방제네트워크</a:t>
              </a:r>
              <a:endParaRPr lang="ko-KR" altLang="en-US" sz="8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Rectangle 34"/>
            <p:cNvSpPr>
              <a:spLocks noChangeArrowheads="1"/>
            </p:cNvSpPr>
            <p:nvPr/>
          </p:nvSpPr>
          <p:spPr bwMode="auto">
            <a:xfrm>
              <a:off x="7728931" y="1207591"/>
              <a:ext cx="1433542" cy="274434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u="sng" dirty="0">
                  <a:solidFill>
                    <a:schemeClr val="lt1"/>
                  </a:solidFill>
                </a:rPr>
                <a:t>농업인</a:t>
              </a:r>
            </a:p>
          </p:txBody>
        </p:sp>
        <p:sp>
          <p:nvSpPr>
            <p:cNvPr id="56" name="Rectangle 37"/>
            <p:cNvSpPr>
              <a:spLocks noChangeArrowheads="1"/>
            </p:cNvSpPr>
            <p:nvPr/>
          </p:nvSpPr>
          <p:spPr bwMode="auto">
            <a:xfrm>
              <a:off x="7920326" y="1631051"/>
              <a:ext cx="1214437" cy="64293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방제 직접 </a:t>
              </a:r>
              <a:r>
                <a:rPr lang="en-US" altLang="ko-KR" sz="800" b="1" dirty="0">
                  <a:solidFill>
                    <a:srgbClr val="000000"/>
                  </a:solidFill>
                </a:rPr>
                <a:t> </a:t>
              </a:r>
              <a:r>
                <a:rPr lang="ko-KR" altLang="en-US" sz="800" b="1" dirty="0">
                  <a:solidFill>
                    <a:srgbClr val="000000"/>
                  </a:solidFill>
                </a:rPr>
                <a:t>당사자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지원 받는 입장</a:t>
              </a:r>
              <a:endParaRPr lang="en-US" altLang="ko-KR" sz="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Rectangle 35"/>
            <p:cNvSpPr>
              <a:spLocks noChangeArrowheads="1"/>
            </p:cNvSpPr>
            <p:nvPr/>
          </p:nvSpPr>
          <p:spPr bwMode="auto">
            <a:xfrm>
              <a:off x="7929563" y="2643182"/>
              <a:ext cx="1071593" cy="20288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발생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</a:t>
              </a:r>
              <a:r>
                <a:rPr lang="ko-KR" altLang="en-US" sz="800" b="1" dirty="0" err="1">
                  <a:solidFill>
                    <a:srgbClr val="000000"/>
                  </a:solidFill>
                </a:rPr>
                <a:t>예찰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진단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방제의 </a:t>
              </a:r>
              <a:br>
                <a:rPr lang="en-US" altLang="ko-KR" sz="800" b="1" dirty="0">
                  <a:solidFill>
                    <a:srgbClr val="000000"/>
                  </a:solidFill>
                </a:rPr>
              </a:br>
              <a:r>
                <a:rPr lang="ko-KR" altLang="en-US" sz="800" b="1" dirty="0">
                  <a:solidFill>
                    <a:srgbClr val="000000"/>
                  </a:solidFill>
                </a:rPr>
                <a:t>현장 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ko-KR" altLang="en-US" sz="800" b="1" dirty="0">
                <a:solidFill>
                  <a:srgbClr val="000000"/>
                </a:solidFill>
              </a:endParaRPr>
            </a:p>
          </p:txBody>
        </p:sp>
        <p:sp>
          <p:nvSpPr>
            <p:cNvPr id="59" name="Line 45"/>
            <p:cNvSpPr>
              <a:spLocks noChangeShapeType="1"/>
            </p:cNvSpPr>
            <p:nvPr/>
          </p:nvSpPr>
          <p:spPr bwMode="auto">
            <a:xfrm flipH="1">
              <a:off x="7501429" y="3475059"/>
              <a:ext cx="3566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60" name="Line 46"/>
            <p:cNvSpPr>
              <a:spLocks noChangeShapeType="1"/>
            </p:cNvSpPr>
            <p:nvPr/>
          </p:nvSpPr>
          <p:spPr bwMode="auto">
            <a:xfrm flipH="1">
              <a:off x="7500938" y="3617934"/>
              <a:ext cx="3566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61" name="Rectangle 38"/>
            <p:cNvSpPr>
              <a:spLocks noChangeArrowheads="1"/>
            </p:cNvSpPr>
            <p:nvPr/>
          </p:nvSpPr>
          <p:spPr bwMode="auto">
            <a:xfrm>
              <a:off x="7858125" y="4903809"/>
              <a:ext cx="1285875" cy="9271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발생 신고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방제</a:t>
              </a:r>
            </a:p>
          </p:txBody>
        </p:sp>
        <p:sp>
          <p:nvSpPr>
            <p:cNvPr id="62" name="Rectangle 52"/>
            <p:cNvSpPr>
              <a:spLocks noChangeArrowheads="1"/>
            </p:cNvSpPr>
            <p:nvPr/>
          </p:nvSpPr>
          <p:spPr bwMode="auto">
            <a:xfrm>
              <a:off x="7858125" y="5975372"/>
              <a:ext cx="1285875" cy="45243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신속방제</a:t>
              </a:r>
            </a:p>
          </p:txBody>
        </p:sp>
        <p:sp>
          <p:nvSpPr>
            <p:cNvPr id="63" name="Rectangle 31"/>
            <p:cNvSpPr>
              <a:spLocks noChangeArrowheads="1"/>
            </p:cNvSpPr>
            <p:nvPr/>
          </p:nvSpPr>
          <p:spPr bwMode="auto">
            <a:xfrm>
              <a:off x="3857620" y="1643050"/>
              <a:ext cx="1500198" cy="71913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농촌진흥청의 연구 개발 과제 수행 지원</a:t>
              </a:r>
              <a:endParaRPr lang="en-US" altLang="ko-KR" sz="800" b="1" dirty="0">
                <a:solidFill>
                  <a:srgbClr val="000000"/>
                </a:solidFill>
              </a:endParaRPr>
            </a:p>
            <a:p>
              <a:pPr indent="-84138">
                <a:lnSpc>
                  <a:spcPct val="130000"/>
                </a:lnSpc>
                <a:spcBef>
                  <a:spcPct val="20000"/>
                </a:spcBef>
                <a:buFontTx/>
                <a:buChar char="•"/>
                <a:defRPr/>
              </a:pPr>
              <a:r>
                <a:rPr lang="ko-KR" altLang="en-US" sz="800" b="1" dirty="0">
                  <a:solidFill>
                    <a:srgbClr val="000000"/>
                  </a:solidFill>
                </a:rPr>
                <a:t>병해충  관련 모델 연구</a:t>
              </a:r>
            </a:p>
          </p:txBody>
        </p:sp>
        <p:sp>
          <p:nvSpPr>
            <p:cNvPr id="64" name="Rectangle 34"/>
            <p:cNvSpPr>
              <a:spLocks noChangeArrowheads="1"/>
            </p:cNvSpPr>
            <p:nvPr/>
          </p:nvSpPr>
          <p:spPr bwMode="auto">
            <a:xfrm>
              <a:off x="3792103" y="1225536"/>
              <a:ext cx="1524552" cy="27463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u="sng" dirty="0">
                  <a:solidFill>
                    <a:schemeClr val="lt1"/>
                  </a:solidFill>
                </a:rPr>
                <a:t>소속기관</a:t>
              </a: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378" descr="농심엔디에스컨소시엄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6228" y="6572272"/>
            <a:ext cx="1880147" cy="2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" name="Picture 374" descr="기본로고"/>
          <p:cNvPicPr>
            <a:picLocks noChangeAspect="1" noChangeArrowheads="1"/>
          </p:cNvPicPr>
          <p:nvPr/>
        </p:nvPicPr>
        <p:blipFill>
          <a:blip r:embed="rId4" cstate="print"/>
          <a:srcRect l="10979" t="26436" r="40082" b="45566"/>
          <a:stretch>
            <a:fillRect/>
          </a:stretch>
        </p:blipFill>
        <p:spPr bwMode="auto">
          <a:xfrm>
            <a:off x="0" y="0"/>
            <a:ext cx="1571604" cy="37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/>
          <p:nvPr/>
        </p:nvSpPr>
        <p:spPr>
          <a:xfrm>
            <a:off x="2214546" y="2214554"/>
            <a:ext cx="657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Ⅳ.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미래 모형 정의</a:t>
            </a:r>
            <a:r>
              <a:rPr lang="en-US" altLang="ko-KR" sz="6600" dirty="0">
                <a:latin typeface="휴먼매직체" pitchFamily="18" charset="-127"/>
                <a:ea typeface="휴먼매직체" pitchFamily="18" charset="-127"/>
              </a:rPr>
              <a:t> </a:t>
            </a:r>
            <a:r>
              <a:rPr lang="ko-KR" altLang="en-US" sz="6600" dirty="0">
                <a:latin typeface="휴먼매직체" pitchFamily="18" charset="-127"/>
                <a:ea typeface="휴먼매직체" pitchFamily="18" charset="-127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072098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5" name="TextBox 14"/>
          <p:cNvSpPr txBox="1"/>
          <p:nvPr/>
        </p:nvSpPr>
        <p:spPr>
          <a:xfrm>
            <a:off x="6897904" y="34001"/>
            <a:ext cx="22461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1.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핵심과제도출 및 선정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58" name="Text Box 19"/>
          <p:cNvSpPr txBox="1">
            <a:spLocks noChangeArrowheads="1"/>
          </p:cNvSpPr>
          <p:nvPr/>
        </p:nvSpPr>
        <p:spPr bwMode="gray">
          <a:xfrm>
            <a:off x="1974604" y="100442"/>
            <a:ext cx="4982746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핵심과제 및 상세 실천과제 도출</a:t>
            </a:r>
            <a:r>
              <a:rPr lang="en-US" altLang="ko-KR" sz="26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26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계속</a:t>
            </a:r>
            <a:r>
              <a:rPr lang="en-US" altLang="ko-KR" sz="26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214282" y="685328"/>
            <a:ext cx="87154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앞에 도출된 개선 방향을 분석하여 아래와 같은 </a:t>
            </a:r>
            <a:r>
              <a:rPr lang="en-US" altLang="ko-KR" sz="1400" b="1" dirty="0"/>
              <a:t>4</a:t>
            </a:r>
            <a:r>
              <a:rPr lang="ko-KR" altLang="en-US" sz="1400" b="1" dirty="0"/>
              <a:t>대 핵심과제로 도출하였고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더불어 각 핵심과제 달성을  위한 상세 추진과제를 도출 함</a:t>
            </a:r>
            <a:endParaRPr lang="ko-KR" altLang="en-US" sz="1400" dirty="0"/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auto">
          <a:xfrm>
            <a:off x="684213" y="1230870"/>
            <a:ext cx="2016125" cy="284166"/>
          </a:xfrm>
          <a:prstGeom prst="homePlate">
            <a:avLst>
              <a:gd name="adj" fmla="val 91429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개선방향</a:t>
            </a:r>
          </a:p>
        </p:txBody>
      </p:sp>
      <p:sp>
        <p:nvSpPr>
          <p:cNvPr id="61" name="Text Box 5"/>
          <p:cNvSpPr txBox="1">
            <a:spLocks noChangeArrowheads="1"/>
          </p:cNvSpPr>
          <p:nvPr/>
        </p:nvSpPr>
        <p:spPr bwMode="auto">
          <a:xfrm>
            <a:off x="323850" y="3134496"/>
            <a:ext cx="3241675" cy="260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  <a:defRPr/>
            </a:pPr>
            <a:endParaRPr lang="ko-KR" altLang="en-US" sz="1100"/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219413" y="3589548"/>
            <a:ext cx="1104791" cy="3077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en-US" altLang="ko-KR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SWOT </a:t>
            </a: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분석</a:t>
            </a:r>
          </a:p>
        </p:txBody>
      </p:sp>
      <p:sp>
        <p:nvSpPr>
          <p:cNvPr id="63" name="Rectangle 8"/>
          <p:cNvSpPr>
            <a:spLocks noChangeArrowheads="1"/>
          </p:cNvSpPr>
          <p:nvPr/>
        </p:nvSpPr>
        <p:spPr bwMode="auto">
          <a:xfrm>
            <a:off x="213731" y="4576596"/>
            <a:ext cx="1125629" cy="3077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인터뷰 분석</a:t>
            </a:r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auto">
          <a:xfrm>
            <a:off x="6556403" y="1257848"/>
            <a:ext cx="2016125" cy="284166"/>
          </a:xfrm>
          <a:prstGeom prst="homePlate">
            <a:avLst>
              <a:gd name="adj" fmla="val 133203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추진과제</a:t>
            </a:r>
          </a:p>
        </p:txBody>
      </p:sp>
      <p:sp>
        <p:nvSpPr>
          <p:cNvPr id="65" name="Rectangle 11"/>
          <p:cNvSpPr>
            <a:spLocks noChangeArrowheads="1"/>
          </p:cNvSpPr>
          <p:nvPr/>
        </p:nvSpPr>
        <p:spPr bwMode="auto">
          <a:xfrm>
            <a:off x="3929063" y="2457732"/>
            <a:ext cx="1584325" cy="50040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조직 및 업무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연구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)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역량강화</a:t>
            </a:r>
          </a:p>
        </p:txBody>
      </p:sp>
      <p:sp>
        <p:nvSpPr>
          <p:cNvPr id="66" name="Rectangle 12"/>
          <p:cNvSpPr>
            <a:spLocks noChangeArrowheads="1"/>
          </p:cNvSpPr>
          <p:nvPr/>
        </p:nvSpPr>
        <p:spPr bwMode="auto">
          <a:xfrm>
            <a:off x="3929063" y="4315107"/>
            <a:ext cx="1584325" cy="50040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정보시스템 역량강화</a:t>
            </a:r>
          </a:p>
        </p:txBody>
      </p:sp>
      <p:sp>
        <p:nvSpPr>
          <p:cNvPr id="67" name="Rectangle 13"/>
          <p:cNvSpPr>
            <a:spLocks noChangeArrowheads="1"/>
          </p:cNvSpPr>
          <p:nvPr/>
        </p:nvSpPr>
        <p:spPr bwMode="auto">
          <a:xfrm>
            <a:off x="3929063" y="3457857"/>
            <a:ext cx="1584325" cy="50040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업무프로세스 표준화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3929063" y="5100918"/>
            <a:ext cx="1584325" cy="50040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법제도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규정개정 및 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marL="88900" indent="-88900">
              <a:spcBef>
                <a:spcPct val="50000"/>
              </a:spcBef>
              <a:defRPr/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관련 프로세스</a:t>
            </a:r>
          </a:p>
        </p:txBody>
      </p:sp>
      <p:sp>
        <p:nvSpPr>
          <p:cNvPr id="69" name="Rectangle 15"/>
          <p:cNvSpPr>
            <a:spLocks noChangeArrowheads="1"/>
          </p:cNvSpPr>
          <p:nvPr/>
        </p:nvSpPr>
        <p:spPr bwMode="auto">
          <a:xfrm>
            <a:off x="5783987" y="2017006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A.</a:t>
            </a:r>
            <a:r>
              <a:rPr lang="ko-KR" altLang="en-US" sz="1000" b="1" dirty="0">
                <a:solidFill>
                  <a:schemeClr val="bg1"/>
                </a:solidFill>
              </a:rPr>
              <a:t>조직 및 업무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연구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r>
              <a:rPr lang="ko-KR" altLang="en-US" sz="1000" b="1" dirty="0">
                <a:solidFill>
                  <a:schemeClr val="bg1"/>
                </a:solidFill>
              </a:rPr>
              <a:t>역량 강화방안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 err="1">
                <a:solidFill>
                  <a:schemeClr val="bg1"/>
                </a:solidFill>
              </a:rPr>
              <a:t>광역예찰반운영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0" name="Rectangle 17"/>
          <p:cNvSpPr>
            <a:spLocks noChangeArrowheads="1"/>
          </p:cNvSpPr>
          <p:nvPr/>
        </p:nvSpPr>
        <p:spPr bwMode="auto">
          <a:xfrm>
            <a:off x="5783987" y="3374319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C.</a:t>
            </a:r>
            <a:r>
              <a:rPr lang="ko-KR" altLang="en-US" sz="1000" b="1" dirty="0">
                <a:solidFill>
                  <a:schemeClr val="bg1"/>
                </a:solidFill>
              </a:rPr>
              <a:t>표준화된 병해충관리 프로세스 정립</a:t>
            </a:r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5783987" y="4660194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E.</a:t>
            </a:r>
            <a:r>
              <a:rPr lang="ko-KR" altLang="en-US" sz="1000" b="1" dirty="0">
                <a:solidFill>
                  <a:schemeClr val="bg1"/>
                </a:solidFill>
              </a:rPr>
              <a:t>정보 시스템운영 및 관리조직 강화</a:t>
            </a:r>
          </a:p>
        </p:txBody>
      </p:sp>
      <p:sp>
        <p:nvSpPr>
          <p:cNvPr id="72" name="Text Box 23"/>
          <p:cNvSpPr txBox="1">
            <a:spLocks noChangeArrowheads="1"/>
          </p:cNvSpPr>
          <p:nvPr/>
        </p:nvSpPr>
        <p:spPr bwMode="auto">
          <a:xfrm>
            <a:off x="214313" y="3888900"/>
            <a:ext cx="3097212" cy="5847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병해충관련 업무의 일원화된 통합적 관리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 err="1">
                <a:solidFill>
                  <a:sysClr val="windowText" lastClr="000000"/>
                </a:solidFill>
              </a:rPr>
              <a:t>범정부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차원의 공동대응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병해충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진단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방제시스템 통합화</a:t>
            </a:r>
          </a:p>
        </p:txBody>
      </p:sp>
      <p:sp>
        <p:nvSpPr>
          <p:cNvPr id="73" name="Text Box 24"/>
          <p:cNvSpPr txBox="1">
            <a:spLocks noChangeArrowheads="1"/>
          </p:cNvSpPr>
          <p:nvPr/>
        </p:nvSpPr>
        <p:spPr bwMode="auto">
          <a:xfrm>
            <a:off x="214313" y="4864470"/>
            <a:ext cx="3097212" cy="5847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en-US" altLang="ko-KR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일사분란한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대응 체계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방제 지도업무 프로세스의 표준화 수립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시스템과의 통합 개선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안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마련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단순 시스템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쉬운시스템 요구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</a:t>
            </a:r>
          </a:p>
        </p:txBody>
      </p:sp>
      <p:cxnSp>
        <p:nvCxnSpPr>
          <p:cNvPr id="74" name="직선 연결선 73"/>
          <p:cNvCxnSpPr>
            <a:stCxn id="72" idx="3"/>
            <a:endCxn id="65" idx="1"/>
          </p:cNvCxnSpPr>
          <p:nvPr/>
        </p:nvCxnSpPr>
        <p:spPr>
          <a:xfrm flipV="1">
            <a:off x="3311525" y="2707935"/>
            <a:ext cx="617538" cy="147335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>
            <a:stCxn id="72" idx="3"/>
            <a:endCxn id="67" idx="1"/>
          </p:cNvCxnSpPr>
          <p:nvPr/>
        </p:nvCxnSpPr>
        <p:spPr>
          <a:xfrm flipV="1">
            <a:off x="3311525" y="3708060"/>
            <a:ext cx="617538" cy="47322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>
            <a:stCxn id="72" idx="3"/>
            <a:endCxn id="66" idx="1"/>
          </p:cNvCxnSpPr>
          <p:nvPr/>
        </p:nvCxnSpPr>
        <p:spPr>
          <a:xfrm>
            <a:off x="3311525" y="4181288"/>
            <a:ext cx="617538" cy="38402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72" idx="3"/>
            <a:endCxn id="68" idx="1"/>
          </p:cNvCxnSpPr>
          <p:nvPr/>
        </p:nvCxnSpPr>
        <p:spPr>
          <a:xfrm>
            <a:off x="3311525" y="4181288"/>
            <a:ext cx="617538" cy="1169834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>
            <a:stCxn id="73" idx="3"/>
            <a:endCxn id="65" idx="1"/>
          </p:cNvCxnSpPr>
          <p:nvPr/>
        </p:nvCxnSpPr>
        <p:spPr>
          <a:xfrm flipV="1">
            <a:off x="3311525" y="2707935"/>
            <a:ext cx="617538" cy="244892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>
            <a:stCxn id="73" idx="3"/>
            <a:endCxn id="67" idx="1"/>
          </p:cNvCxnSpPr>
          <p:nvPr/>
        </p:nvCxnSpPr>
        <p:spPr>
          <a:xfrm flipV="1">
            <a:off x="3311525" y="3708060"/>
            <a:ext cx="617538" cy="144879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73" idx="3"/>
            <a:endCxn id="66" idx="1"/>
          </p:cNvCxnSpPr>
          <p:nvPr/>
        </p:nvCxnSpPr>
        <p:spPr>
          <a:xfrm flipV="1">
            <a:off x="3311525" y="4565310"/>
            <a:ext cx="617538" cy="59154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stCxn id="95" idx="3"/>
            <a:endCxn id="67" idx="1"/>
          </p:cNvCxnSpPr>
          <p:nvPr/>
        </p:nvCxnSpPr>
        <p:spPr>
          <a:xfrm flipV="1">
            <a:off x="3311525" y="3708060"/>
            <a:ext cx="617538" cy="245934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65" idx="3"/>
            <a:endCxn id="69" idx="1"/>
          </p:cNvCxnSpPr>
          <p:nvPr/>
        </p:nvCxnSpPr>
        <p:spPr>
          <a:xfrm flipV="1">
            <a:off x="5513388" y="2212995"/>
            <a:ext cx="270599" cy="49494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stCxn id="65" idx="3"/>
          </p:cNvCxnSpPr>
          <p:nvPr/>
        </p:nvCxnSpPr>
        <p:spPr>
          <a:xfrm>
            <a:off x="5513388" y="2707935"/>
            <a:ext cx="358775" cy="39766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67" idx="3"/>
            <a:endCxn id="70" idx="1"/>
          </p:cNvCxnSpPr>
          <p:nvPr/>
        </p:nvCxnSpPr>
        <p:spPr>
          <a:xfrm flipV="1">
            <a:off x="5513388" y="3570308"/>
            <a:ext cx="270599" cy="13775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>
            <a:stCxn id="66" idx="3"/>
            <a:endCxn id="89" idx="1"/>
          </p:cNvCxnSpPr>
          <p:nvPr/>
        </p:nvCxnSpPr>
        <p:spPr>
          <a:xfrm flipV="1">
            <a:off x="5513388" y="4213245"/>
            <a:ext cx="270599" cy="35206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>
            <a:stCxn id="66" idx="3"/>
            <a:endCxn id="71" idx="1"/>
          </p:cNvCxnSpPr>
          <p:nvPr/>
        </p:nvCxnSpPr>
        <p:spPr>
          <a:xfrm>
            <a:off x="5513388" y="4565310"/>
            <a:ext cx="270599" cy="29087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stCxn id="68" idx="3"/>
            <a:endCxn id="90" idx="1"/>
          </p:cNvCxnSpPr>
          <p:nvPr/>
        </p:nvCxnSpPr>
        <p:spPr>
          <a:xfrm>
            <a:off x="5513388" y="5351122"/>
            <a:ext cx="270599" cy="14799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46"/>
          <p:cNvSpPr>
            <a:spLocks noChangeArrowheads="1"/>
          </p:cNvSpPr>
          <p:nvPr/>
        </p:nvSpPr>
        <p:spPr bwMode="auto">
          <a:xfrm>
            <a:off x="5783987" y="2731381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B.</a:t>
            </a:r>
            <a:r>
              <a:rPr lang="ko-KR" altLang="en-US" sz="1000" b="1" dirty="0">
                <a:solidFill>
                  <a:schemeClr val="bg1"/>
                </a:solidFill>
              </a:rPr>
              <a:t>주산단지별 조사지역선정 </a:t>
            </a: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조직</a:t>
            </a:r>
            <a:r>
              <a:rPr lang="en-US" altLang="ko-KR" sz="1000" b="1" dirty="0">
                <a:solidFill>
                  <a:schemeClr val="bg1"/>
                </a:solidFill>
              </a:rPr>
              <a:t>.</a:t>
            </a:r>
            <a:r>
              <a:rPr lang="ko-KR" altLang="en-US" sz="1000" b="1" dirty="0" err="1">
                <a:solidFill>
                  <a:schemeClr val="bg1"/>
                </a:solidFill>
              </a:rPr>
              <a:t>인원내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89" name="Rectangle 48"/>
          <p:cNvSpPr>
            <a:spLocks noChangeArrowheads="1"/>
          </p:cNvSpPr>
          <p:nvPr/>
        </p:nvSpPr>
        <p:spPr bwMode="auto">
          <a:xfrm>
            <a:off x="5783987" y="4017256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D.</a:t>
            </a:r>
            <a:r>
              <a:rPr lang="ko-KR" altLang="en-US" sz="1000" b="1" dirty="0" err="1">
                <a:solidFill>
                  <a:schemeClr val="bg1"/>
                </a:solidFill>
              </a:rPr>
              <a:t>통합원뷰</a:t>
            </a:r>
            <a:r>
              <a:rPr lang="ko-KR" altLang="en-US" sz="1000" b="1" dirty="0">
                <a:solidFill>
                  <a:schemeClr val="bg1"/>
                </a:solidFill>
              </a:rPr>
              <a:t> 시스템 도입 </a:t>
            </a:r>
            <a:br>
              <a:rPr lang="en-US" altLang="ko-KR" sz="1000" b="1" dirty="0">
                <a:solidFill>
                  <a:schemeClr val="bg1"/>
                </a:solidFill>
              </a:rPr>
            </a:b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 err="1">
                <a:solidFill>
                  <a:schemeClr val="bg1"/>
                </a:solidFill>
              </a:rPr>
              <a:t>시계열</a:t>
            </a:r>
            <a:r>
              <a:rPr lang="ko-KR" altLang="en-US" sz="1000" b="1" dirty="0">
                <a:solidFill>
                  <a:schemeClr val="bg1"/>
                </a:solidFill>
              </a:rPr>
              <a:t> 데이터 </a:t>
            </a:r>
            <a:r>
              <a:rPr lang="ko-KR" altLang="en-US" sz="1000" b="1" dirty="0" err="1">
                <a:solidFill>
                  <a:schemeClr val="bg1"/>
                </a:solidFill>
              </a:rPr>
              <a:t>마트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커뮤니티</a:t>
            </a:r>
            <a:r>
              <a:rPr lang="en-US" altLang="ko-KR" sz="1000" b="1" dirty="0">
                <a:solidFill>
                  <a:schemeClr val="bg1"/>
                </a:solidFill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</a:rPr>
              <a:t>개인역량강화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90" name="Rectangle 51"/>
          <p:cNvSpPr>
            <a:spLocks noChangeArrowheads="1"/>
          </p:cNvSpPr>
          <p:nvPr/>
        </p:nvSpPr>
        <p:spPr bwMode="auto">
          <a:xfrm>
            <a:off x="5783987" y="5303131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F.</a:t>
            </a:r>
            <a:r>
              <a:rPr lang="ko-KR" altLang="en-US" sz="1000" b="1" dirty="0">
                <a:solidFill>
                  <a:schemeClr val="bg1"/>
                </a:solidFill>
              </a:rPr>
              <a:t>역학조사 등 법 </a:t>
            </a:r>
            <a:r>
              <a:rPr lang="en-US" altLang="ko-KR" sz="1000" b="1" dirty="0">
                <a:solidFill>
                  <a:schemeClr val="bg1"/>
                </a:solidFill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</a:rPr>
              <a:t>규정 개정</a:t>
            </a:r>
          </a:p>
        </p:txBody>
      </p:sp>
      <p:sp>
        <p:nvSpPr>
          <p:cNvPr id="91" name="Rectangle 51"/>
          <p:cNvSpPr>
            <a:spLocks noChangeArrowheads="1"/>
          </p:cNvSpPr>
          <p:nvPr/>
        </p:nvSpPr>
        <p:spPr bwMode="auto">
          <a:xfrm>
            <a:off x="5783987" y="5946069"/>
            <a:ext cx="3202998" cy="3919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176213" indent="-176213" fontAlgn="ctr" latinLnBrk="0">
              <a:spcBef>
                <a:spcPct val="50000"/>
              </a:spcBef>
              <a:buBlip>
                <a:blip r:embed="rId6"/>
              </a:buBlip>
              <a:defRPr/>
            </a:pPr>
            <a:r>
              <a:rPr lang="en-US" altLang="ko-KR" sz="1000" b="1" dirty="0">
                <a:solidFill>
                  <a:schemeClr val="bg1"/>
                </a:solidFill>
              </a:rPr>
              <a:t>G.</a:t>
            </a:r>
            <a:r>
              <a:rPr lang="ko-KR" altLang="en-US" sz="1000" b="1" dirty="0">
                <a:solidFill>
                  <a:schemeClr val="bg1"/>
                </a:solidFill>
              </a:rPr>
              <a:t>긴급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돌발 관련 규정 개정에 따른 프로세스 정립</a:t>
            </a:r>
          </a:p>
        </p:txBody>
      </p:sp>
      <p:cxnSp>
        <p:nvCxnSpPr>
          <p:cNvPr id="92" name="직선 화살표 연결선 91"/>
          <p:cNvCxnSpPr>
            <a:stCxn id="68" idx="3"/>
            <a:endCxn id="91" idx="1"/>
          </p:cNvCxnSpPr>
          <p:nvPr/>
        </p:nvCxnSpPr>
        <p:spPr>
          <a:xfrm>
            <a:off x="5513388" y="5351122"/>
            <a:ext cx="270599" cy="79093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utoShape 6"/>
          <p:cNvSpPr>
            <a:spLocks noChangeArrowheads="1"/>
          </p:cNvSpPr>
          <p:nvPr/>
        </p:nvSpPr>
        <p:spPr bwMode="auto">
          <a:xfrm>
            <a:off x="3643306" y="1257848"/>
            <a:ext cx="2087563" cy="284166"/>
          </a:xfrm>
          <a:prstGeom prst="homePlate">
            <a:avLst>
              <a:gd name="adj" fmla="val 120148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defRPr/>
            </a:pPr>
            <a:r>
              <a:rPr lang="ko-KR" altLang="en-US" sz="1300" b="1" dirty="0">
                <a:solidFill>
                  <a:schemeClr val="dk1"/>
                </a:solidFill>
              </a:rPr>
              <a:t>핵심과제  그룹 핑</a:t>
            </a:r>
          </a:p>
        </p:txBody>
      </p: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08446" y="5515245"/>
            <a:ext cx="889987" cy="3077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벤치마킹</a:t>
            </a:r>
          </a:p>
        </p:txBody>
      </p:sp>
      <p:sp>
        <p:nvSpPr>
          <p:cNvPr id="95" name="Text Box 23"/>
          <p:cNvSpPr txBox="1">
            <a:spLocks noChangeArrowheads="1"/>
          </p:cNvSpPr>
          <p:nvPr/>
        </p:nvSpPr>
        <p:spPr bwMode="auto">
          <a:xfrm>
            <a:off x="214313" y="5782685"/>
            <a:ext cx="3097212" cy="769441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긴급방제 업무강화 및 별도 프로세스 관리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 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미국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</a:t>
            </a:r>
            <a:endParaRPr lang="ko-KR" altLang="en-US" sz="800" dirty="0">
              <a:solidFill>
                <a:sysClr val="windowText" lastClr="000000"/>
              </a:solidFill>
            </a:endParaRP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외래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긴급 병해충 방제지침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메뉴얼화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 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호주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병해충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3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가지 모델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뉴질랜드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병해충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이미지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센싱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일본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)</a:t>
            </a:r>
          </a:p>
        </p:txBody>
      </p:sp>
      <p:cxnSp>
        <p:nvCxnSpPr>
          <p:cNvPr id="96" name="직선 화살표 연결선 95"/>
          <p:cNvCxnSpPr>
            <a:stCxn id="95" idx="3"/>
            <a:endCxn id="65" idx="1"/>
          </p:cNvCxnSpPr>
          <p:nvPr/>
        </p:nvCxnSpPr>
        <p:spPr bwMode="auto">
          <a:xfrm flipV="1">
            <a:off x="3311525" y="2707935"/>
            <a:ext cx="617538" cy="345947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95" idx="3"/>
            <a:endCxn id="66" idx="1"/>
          </p:cNvCxnSpPr>
          <p:nvPr/>
        </p:nvCxnSpPr>
        <p:spPr>
          <a:xfrm flipV="1">
            <a:off x="3311525" y="4565310"/>
            <a:ext cx="617538" cy="160209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95" idx="3"/>
            <a:endCxn id="68" idx="1"/>
          </p:cNvCxnSpPr>
          <p:nvPr/>
        </p:nvCxnSpPr>
        <p:spPr>
          <a:xfrm flipV="1">
            <a:off x="3311525" y="5351122"/>
            <a:ext cx="617538" cy="816284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214282" y="2571745"/>
            <a:ext cx="731290" cy="296961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algn="ctr" fontAlgn="ctr" latinLnBrk="0">
              <a:defRPr/>
            </a:pPr>
            <a:r>
              <a:rPr lang="en-US" altLang="ko-KR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3C </a:t>
            </a: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분석</a:t>
            </a:r>
          </a:p>
        </p:txBody>
      </p:sp>
      <p:sp>
        <p:nvSpPr>
          <p:cNvPr id="101" name="Text Box 23"/>
          <p:cNvSpPr txBox="1">
            <a:spLocks noChangeArrowheads="1"/>
          </p:cNvSpPr>
          <p:nvPr/>
        </p:nvSpPr>
        <p:spPr bwMode="auto">
          <a:xfrm>
            <a:off x="214282" y="2880834"/>
            <a:ext cx="3097212" cy="5847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이해관계자간 업무협조체계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범정부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차원의 공동대응</a:t>
            </a: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통합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대민서비스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 및 정보제공채널</a:t>
            </a:r>
            <a:endParaRPr lang="en-US" altLang="ko-KR" sz="800" dirty="0">
              <a:solidFill>
                <a:sysClr val="windowText" lastClr="000000"/>
              </a:solidFill>
            </a:endParaRP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국가간 작물병해충 공동 대응 방안모색</a:t>
            </a:r>
          </a:p>
        </p:txBody>
      </p:sp>
      <p:sp>
        <p:nvSpPr>
          <p:cNvPr id="102" name="Rectangle 6"/>
          <p:cNvSpPr>
            <a:spLocks noChangeArrowheads="1"/>
          </p:cNvSpPr>
          <p:nvPr/>
        </p:nvSpPr>
        <p:spPr bwMode="auto">
          <a:xfrm>
            <a:off x="214282" y="1577787"/>
            <a:ext cx="1264894" cy="32552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 fontAlgn="ctr" latinLnBrk="0">
              <a:defRPr/>
            </a:pP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외부환경</a:t>
            </a:r>
            <a:r>
              <a:rPr lang="en-US" altLang="ko-KR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1400" b="1" dirty="0">
                <a:solidFill>
                  <a:schemeClr val="lt1"/>
                </a:solidFill>
                <a:latin typeface="굴림" pitchFamily="50" charset="-127"/>
                <a:ea typeface="굴림" pitchFamily="50" charset="-127"/>
              </a:rPr>
              <a:t>분석</a:t>
            </a:r>
          </a:p>
        </p:txBody>
      </p:sp>
      <p:sp>
        <p:nvSpPr>
          <p:cNvPr id="103" name="Text Box 23"/>
          <p:cNvSpPr txBox="1">
            <a:spLocks noChangeArrowheads="1"/>
          </p:cNvSpPr>
          <p:nvPr/>
        </p:nvSpPr>
        <p:spPr bwMode="auto">
          <a:xfrm>
            <a:off x="214282" y="1847410"/>
            <a:ext cx="3097212" cy="64477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기관 간 방역활동 협업프로세스를 개선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사전예방 및 통합 병해충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진단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방제 시스템 필요</a:t>
            </a:r>
            <a:endParaRPr lang="en-US" altLang="ko-KR" sz="800" dirty="0">
              <a:solidFill>
                <a:sysClr val="windowText" lastClr="000000"/>
              </a:solidFill>
            </a:endParaRPr>
          </a:p>
          <a:p>
            <a:pPr marL="88900" indent="-88900">
              <a:spcBef>
                <a:spcPct val="50000"/>
              </a:spcBef>
              <a:buFontTx/>
              <a:buChar char="•"/>
              <a:defRPr/>
            </a:pPr>
            <a:r>
              <a:rPr lang="ko-KR" altLang="en-US" sz="800" dirty="0">
                <a:solidFill>
                  <a:sysClr val="windowText" lastClr="000000"/>
                </a:solidFill>
              </a:rPr>
              <a:t>최신 정보기술의 활용과 타 산업 및 기술과의 융합으로 병해충 </a:t>
            </a:r>
            <a:r>
              <a:rPr lang="ko-KR" altLang="en-US" sz="800" dirty="0" err="1">
                <a:solidFill>
                  <a:sysClr val="windowText" lastClr="000000"/>
                </a:solidFill>
              </a:rPr>
              <a:t>예찰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진단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800" dirty="0">
                <a:solidFill>
                  <a:sysClr val="windowText" lastClr="000000"/>
                </a:solidFill>
              </a:rPr>
              <a:t>방제 시스템의 고도화 요구</a:t>
            </a:r>
          </a:p>
        </p:txBody>
      </p:sp>
      <p:cxnSp>
        <p:nvCxnSpPr>
          <p:cNvPr id="116" name="직선 연결선 115"/>
          <p:cNvCxnSpPr>
            <a:stCxn id="103" idx="3"/>
            <a:endCxn id="65" idx="1"/>
          </p:cNvCxnSpPr>
          <p:nvPr/>
        </p:nvCxnSpPr>
        <p:spPr>
          <a:xfrm>
            <a:off x="3311494" y="2169799"/>
            <a:ext cx="617569" cy="53813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stCxn id="103" idx="3"/>
            <a:endCxn id="67" idx="1"/>
          </p:cNvCxnSpPr>
          <p:nvPr/>
        </p:nvCxnSpPr>
        <p:spPr>
          <a:xfrm>
            <a:off x="3311494" y="2169799"/>
            <a:ext cx="617569" cy="153826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>
            <a:stCxn id="103" idx="3"/>
            <a:endCxn id="66" idx="1"/>
          </p:cNvCxnSpPr>
          <p:nvPr/>
        </p:nvCxnSpPr>
        <p:spPr>
          <a:xfrm>
            <a:off x="3311494" y="2169799"/>
            <a:ext cx="617569" cy="239551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>
            <a:stCxn id="103" idx="3"/>
            <a:endCxn id="68" idx="1"/>
          </p:cNvCxnSpPr>
          <p:nvPr/>
        </p:nvCxnSpPr>
        <p:spPr>
          <a:xfrm>
            <a:off x="3311494" y="2169799"/>
            <a:ext cx="617569" cy="318132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>
            <a:stCxn id="101" idx="3"/>
            <a:endCxn id="65" idx="1"/>
          </p:cNvCxnSpPr>
          <p:nvPr/>
        </p:nvCxnSpPr>
        <p:spPr>
          <a:xfrm flipV="1">
            <a:off x="3311494" y="2707935"/>
            <a:ext cx="617569" cy="46528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stCxn id="101" idx="3"/>
            <a:endCxn id="67" idx="1"/>
          </p:cNvCxnSpPr>
          <p:nvPr/>
        </p:nvCxnSpPr>
        <p:spPr>
          <a:xfrm>
            <a:off x="3311494" y="3173222"/>
            <a:ext cx="617569" cy="53483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>
            <a:stCxn id="101" idx="3"/>
            <a:endCxn id="66" idx="1"/>
          </p:cNvCxnSpPr>
          <p:nvPr/>
        </p:nvCxnSpPr>
        <p:spPr>
          <a:xfrm>
            <a:off x="3311494" y="3173222"/>
            <a:ext cx="617569" cy="139208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>
            <a:stCxn id="101" idx="3"/>
            <a:endCxn id="68" idx="1"/>
          </p:cNvCxnSpPr>
          <p:nvPr/>
        </p:nvCxnSpPr>
        <p:spPr>
          <a:xfrm>
            <a:off x="3311494" y="3173222"/>
            <a:ext cx="617569" cy="217790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714908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483873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병해충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예찰방제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조직 개선안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2643174" y="1057896"/>
          <a:ext cx="2071702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7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-88900" algn="l" defTabSz="914400" rtl="0" eaLnBrk="1" fontAlgn="ctr" latinLnBrk="1" hangingPunct="1"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농촌지원국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총괄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/>
        </p:nvGraphicFramePr>
        <p:xfrm>
          <a:off x="5595966" y="1343648"/>
          <a:ext cx="304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지식정보화담당관실</a:t>
                      </a:r>
                      <a:r>
                        <a:rPr lang="en-US" altLang="ko-KR" dirty="0"/>
                        <a:t>(IS</a:t>
                      </a:r>
                      <a:r>
                        <a:rPr lang="ko-KR" altLang="en-US" dirty="0"/>
                        <a:t>개발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1406" y="702214"/>
            <a:ext cx="3708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sz="1600" dirty="0"/>
              <a:t>○</a:t>
            </a:r>
            <a:r>
              <a:rPr lang="ko-KR" altLang="en-US" dirty="0"/>
              <a:t> </a:t>
            </a:r>
            <a:r>
              <a:rPr lang="ko-KR" altLang="en-US" b="1" dirty="0"/>
              <a:t>현 농촌진흥청 병해충 관련조직</a:t>
            </a:r>
          </a:p>
        </p:txBody>
      </p:sp>
      <p:cxnSp>
        <p:nvCxnSpPr>
          <p:cNvPr id="42" name="직선 연결선 41"/>
          <p:cNvCxnSpPr/>
          <p:nvPr/>
        </p:nvCxnSpPr>
        <p:spPr bwMode="auto">
          <a:xfrm rot="5400000">
            <a:off x="3464711" y="1592887"/>
            <a:ext cx="357190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직선 연결선 59"/>
          <p:cNvCxnSpPr/>
          <p:nvPr/>
        </p:nvCxnSpPr>
        <p:spPr bwMode="auto">
          <a:xfrm>
            <a:off x="3643306" y="1557962"/>
            <a:ext cx="1928826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142844" y="2786058"/>
            <a:ext cx="7247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○</a:t>
            </a:r>
            <a:r>
              <a:rPr lang="ko-KR" altLang="en-US" dirty="0"/>
              <a:t> </a:t>
            </a:r>
            <a:r>
              <a:rPr lang="ko-KR" altLang="en-US" b="1" dirty="0"/>
              <a:t>관련근거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b="1" dirty="0"/>
              <a:t>농촌진흥청과 그 소속기관 직제 시행규칙 </a:t>
            </a:r>
            <a:r>
              <a:rPr lang="en-US" altLang="ko-KR" b="1" dirty="0"/>
              <a:t>(2009.9.6)</a:t>
            </a:r>
            <a:r>
              <a:rPr lang="ko-KR" altLang="en-US" dirty="0"/>
              <a:t> 외</a:t>
            </a: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142844" y="3226828"/>
          <a:ext cx="8858313" cy="279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2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err="1"/>
                        <a:t>역활</a:t>
                      </a:r>
                      <a:endParaRPr lang="ko-KR" altLang="en-US" sz="13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조직</a:t>
                      </a:r>
                      <a:endParaRPr lang="ko-KR" altLang="en-US" sz="13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관련근거</a:t>
                      </a:r>
                      <a:endParaRPr lang="ko-KR" altLang="en-US" sz="13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비고</a:t>
                      </a:r>
                      <a:endParaRPr lang="ko-KR" altLang="en-US" sz="1300" b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총괄 및 정보시스템 운영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농촌지원국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/>
                        <a:t>제</a:t>
                      </a:r>
                      <a:r>
                        <a:rPr lang="en-US" altLang="ko-KR" sz="1200" kern="1200" dirty="0"/>
                        <a:t>8</a:t>
                      </a:r>
                      <a:r>
                        <a:rPr lang="ko-KR" altLang="en-US" sz="1200" kern="1200" dirty="0"/>
                        <a:t>조 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농촌지원국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 ⑥식량축산과 </a:t>
                      </a:r>
                      <a:r>
                        <a:rPr lang="en-US" altLang="ko-KR" sz="1200" kern="1200" dirty="0"/>
                        <a:t>5. </a:t>
                      </a:r>
                      <a:r>
                        <a:rPr lang="ko-KR" altLang="en-US" sz="1200" kern="1200" dirty="0"/>
                        <a:t>농작물 재해예방 및 병해충 종합관리 지원 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연구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latinLnBrk="1"/>
                      <a:r>
                        <a:rPr lang="ko-KR" altLang="en-US" sz="1400" dirty="0"/>
                        <a:t>진단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latinLnBrk="1"/>
                      <a:r>
                        <a:rPr lang="ko-KR" altLang="en-US" sz="1400" dirty="0"/>
                        <a:t>모델링 등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국립농업과학원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농업미생물과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13</a:t>
                      </a:r>
                      <a:r>
                        <a:rPr lang="ko-KR" altLang="en-US" sz="1000" kern="1200" dirty="0"/>
                        <a:t>조 </a:t>
                      </a: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 err="1"/>
                        <a:t>농업생물부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 ③ 농업미생물과 </a:t>
                      </a:r>
                      <a:r>
                        <a:rPr lang="en-US" altLang="ko-KR" sz="1000" kern="1200" dirty="0"/>
                        <a:t>4. </a:t>
                      </a:r>
                      <a:r>
                        <a:rPr lang="ko-KR" altLang="en-US" sz="1000" kern="1200" dirty="0" err="1"/>
                        <a:t>식물병</a:t>
                      </a:r>
                      <a:r>
                        <a:rPr lang="ko-KR" altLang="en-US" sz="1000" kern="1200" dirty="0"/>
                        <a:t> 발생조사</a:t>
                      </a:r>
                      <a:r>
                        <a:rPr lang="en-US" altLang="ko-KR" sz="1000" kern="1200" dirty="0"/>
                        <a:t>, </a:t>
                      </a:r>
                      <a:r>
                        <a:rPr lang="ko-KR" altLang="en-US" sz="1000" kern="1200" dirty="0" err="1"/>
                        <a:t>예찰기술</a:t>
                      </a:r>
                      <a:r>
                        <a:rPr lang="ko-KR" altLang="en-US" sz="1000" kern="1200" dirty="0"/>
                        <a:t> 개발 및 피해해석에 관한 연구 </a:t>
                      </a:r>
                    </a:p>
                    <a:p>
                      <a:r>
                        <a:rPr lang="ko-KR" altLang="en-US" sz="1000" kern="1200" dirty="0"/>
                        <a:t>  </a:t>
                      </a:r>
                      <a:r>
                        <a:rPr lang="en-US" altLang="ko-KR" sz="1000" kern="1200" dirty="0"/>
                        <a:t>5. </a:t>
                      </a:r>
                      <a:r>
                        <a:rPr lang="ko-KR" altLang="en-US" sz="1000" kern="1200" dirty="0"/>
                        <a:t>유용미생물을 이용한 </a:t>
                      </a:r>
                      <a:r>
                        <a:rPr lang="ko-KR" altLang="en-US" sz="1000" kern="1200" dirty="0" err="1"/>
                        <a:t>식물병</a:t>
                      </a:r>
                      <a:r>
                        <a:rPr lang="ko-KR" altLang="en-US" sz="1000" kern="1200" dirty="0"/>
                        <a:t> 방제기술 개발 </a:t>
                      </a:r>
                    </a:p>
                    <a:p>
                      <a:r>
                        <a:rPr lang="ko-KR" altLang="en-US" sz="1000" kern="1200" dirty="0"/>
                        <a:t>  </a:t>
                      </a:r>
                      <a:r>
                        <a:rPr lang="en-US" altLang="ko-KR" sz="1000" kern="1200" dirty="0"/>
                        <a:t>6. </a:t>
                      </a:r>
                      <a:r>
                        <a:rPr lang="ko-KR" altLang="en-US" sz="1000" kern="1200" dirty="0"/>
                        <a:t>농작물병 종합관리 기반기술 및 모형 개발에 관한 연구 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dirty="0"/>
                        <a:t>국립식량과학원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/>
                        <a:t>제</a:t>
                      </a:r>
                      <a:r>
                        <a:rPr lang="en-US" altLang="ko-KR" sz="1050" kern="1200" dirty="0"/>
                        <a:t>20</a:t>
                      </a:r>
                      <a:r>
                        <a:rPr lang="ko-KR" altLang="en-US" sz="1050" kern="1200" dirty="0"/>
                        <a:t>조 </a:t>
                      </a:r>
                      <a:r>
                        <a:rPr lang="en-US" altLang="ko-KR" sz="1050" kern="1200" dirty="0"/>
                        <a:t>(</a:t>
                      </a:r>
                      <a:r>
                        <a:rPr lang="ko-KR" altLang="en-US" sz="1050" kern="1200" dirty="0"/>
                        <a:t>국립식량과학원</a:t>
                      </a:r>
                      <a:r>
                        <a:rPr lang="en-US" altLang="ko-KR" sz="1050" kern="1200" dirty="0"/>
                        <a:t>)</a:t>
                      </a:r>
                      <a:r>
                        <a:rPr lang="ko-KR" altLang="en-US" sz="1050" kern="1200" dirty="0"/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/>
                        <a:t>⑥ 작물환경과장 </a:t>
                      </a:r>
                      <a:r>
                        <a:rPr lang="en-US" altLang="ko-KR" sz="1050" kern="1200" dirty="0"/>
                        <a:t>4. </a:t>
                      </a:r>
                      <a:r>
                        <a:rPr lang="ko-KR" altLang="en-US" sz="1050" kern="1200" dirty="0"/>
                        <a:t>작물 병해충 및 잡초 친환경 종합관리 연구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국립원예특작과학원 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/>
                        <a:t>국립원예특작과학원 훈령 제</a:t>
                      </a:r>
                      <a:r>
                        <a:rPr lang="en-US" altLang="ko-KR" sz="1050" kern="1200" dirty="0"/>
                        <a:t>30</a:t>
                      </a:r>
                      <a:r>
                        <a:rPr lang="ko-KR" altLang="en-US" sz="1050" kern="1200" dirty="0"/>
                        <a:t>호 제</a:t>
                      </a:r>
                      <a:r>
                        <a:rPr lang="en-US" altLang="ko-KR" sz="1050" kern="1200" dirty="0"/>
                        <a:t>14</a:t>
                      </a:r>
                      <a:r>
                        <a:rPr lang="ko-KR" altLang="en-US" sz="1050" kern="1200" dirty="0"/>
                        <a:t>조</a:t>
                      </a:r>
                      <a:r>
                        <a:rPr lang="en-US" altLang="ko-KR" sz="1050" kern="1200" dirty="0"/>
                        <a:t>(</a:t>
                      </a:r>
                      <a:r>
                        <a:rPr lang="ko-KR" altLang="en-US" sz="1050" kern="1200" dirty="0"/>
                        <a:t>원예특작환경과</a:t>
                      </a:r>
                      <a:r>
                        <a:rPr lang="en-US" altLang="ko-KR" sz="1050" kern="1200" dirty="0"/>
                        <a:t>)</a:t>
                      </a:r>
                      <a:r>
                        <a:rPr lang="ko-KR" altLang="en-US" sz="1050" kern="1200" dirty="0"/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/>
                        <a:t>2. </a:t>
                      </a:r>
                      <a:r>
                        <a:rPr lang="ko-KR" altLang="en-US" sz="1050" kern="1200" dirty="0"/>
                        <a:t>원예</a:t>
                      </a:r>
                      <a:r>
                        <a:rPr lang="en-US" altLang="ko-KR" sz="1050" kern="1200" dirty="0"/>
                        <a:t>․</a:t>
                      </a:r>
                      <a:r>
                        <a:rPr lang="ko-KR" altLang="en-US" sz="1050" kern="1200" dirty="0"/>
                        <a:t>특작 병해충의 예방 및 방제에 관한 시험</a:t>
                      </a:r>
                      <a:r>
                        <a:rPr lang="en-US" altLang="ko-KR" sz="1050" kern="1200" dirty="0"/>
                        <a:t>․</a:t>
                      </a:r>
                      <a:r>
                        <a:rPr lang="ko-KR" altLang="en-US" sz="1050" kern="1200" dirty="0"/>
                        <a:t>연구 </a:t>
                      </a:r>
                      <a:endParaRPr lang="ko-KR" altLang="en-US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정보시스템 개발 및 위탁지원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지식정보화담당관실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농촌진흥청 사무분장규정</a:t>
                      </a:r>
                      <a:r>
                        <a:rPr lang="en-US" altLang="ko-KR" sz="1100" dirty="0"/>
                        <a:t>(2009.11.13)</a:t>
                      </a:r>
                      <a:r>
                        <a:rPr lang="ko-KR" altLang="en-US" sz="1100" dirty="0"/>
                        <a:t>제</a:t>
                      </a:r>
                      <a:r>
                        <a:rPr lang="en-US" altLang="ko-KR" sz="1100" dirty="0"/>
                        <a:t>8</a:t>
                      </a:r>
                      <a:r>
                        <a:rPr lang="ko-KR" altLang="en-US" sz="1100" dirty="0"/>
                        <a:t>조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지식정보화담당관</a:t>
                      </a:r>
                      <a:r>
                        <a:rPr lang="en-US" altLang="ko-KR" sz="1100" dirty="0"/>
                        <a:t>)4.</a:t>
                      </a:r>
                      <a:r>
                        <a:rPr lang="ko-KR" altLang="en-US" sz="1100" dirty="0"/>
                        <a:t>지식정보시스템 개발 및 지원에 </a:t>
                      </a:r>
                      <a:r>
                        <a:rPr lang="ko-KR" altLang="en-US" sz="1100" dirty="0" err="1"/>
                        <a:t>관한사항</a:t>
                      </a:r>
                      <a:endParaRPr lang="ko-KR" altLang="en-US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714348" y="1772276"/>
          <a:ext cx="777387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7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800" kern="1200" dirty="0"/>
                        <a:t>소속기관</a:t>
                      </a:r>
                      <a:r>
                        <a:rPr lang="en-US" altLang="ko-KR" sz="1800" kern="1200" dirty="0"/>
                        <a:t>(</a:t>
                      </a:r>
                      <a:r>
                        <a:rPr lang="ko-KR" altLang="en-US" sz="1800" kern="1200" dirty="0"/>
                        <a:t>국립농업과학원</a:t>
                      </a:r>
                      <a:r>
                        <a:rPr lang="en-US" altLang="ko-KR" sz="1800" kern="1200" dirty="0"/>
                        <a:t>,</a:t>
                      </a:r>
                      <a:r>
                        <a:rPr lang="ko-KR" altLang="en-US" sz="1800" kern="1200" dirty="0"/>
                        <a:t>국립식량과학원</a:t>
                      </a:r>
                      <a:r>
                        <a:rPr lang="en-US" altLang="ko-KR" sz="1800" kern="1200" dirty="0"/>
                        <a:t>,</a:t>
                      </a:r>
                      <a:r>
                        <a:rPr lang="ko-KR" altLang="en-US" sz="1800" kern="1200" dirty="0"/>
                        <a:t>국립원예특작과학원</a:t>
                      </a:r>
                      <a:r>
                        <a:rPr lang="en-US" altLang="ko-KR" sz="1800" kern="1200" dirty="0"/>
                        <a:t>)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표 45"/>
          <p:cNvGraphicFramePr>
            <a:graphicFrameLocks noGrp="1"/>
          </p:cNvGraphicFramePr>
          <p:nvPr/>
        </p:nvGraphicFramePr>
        <p:xfrm>
          <a:off x="714348" y="2272342"/>
          <a:ext cx="7786742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86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지방농촌지도기관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도 농업기술원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시군 농업기술센터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 err="1"/>
                        <a:t>예찰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방제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현장지도</a:t>
                      </a:r>
                      <a:r>
                        <a:rPr lang="en-US" altLang="ko-KR" dirty="0"/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291836" cy="547151"/>
            <a:chOff x="2784" y="624"/>
            <a:chExt cx="2067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1823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청의 병해충 담당조직 </a:t>
            </a:r>
            <a:r>
              <a:rPr lang="en-US" altLang="ko-KR" sz="25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25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25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87117" y="985924"/>
          <a:ext cx="8605873" cy="55089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안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안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명칭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 err="1"/>
                        <a:t>병해충예찰단</a:t>
                      </a:r>
                      <a:endParaRPr lang="ko-KR" alt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 err="1"/>
                        <a:t>병해충타스크포스팀</a:t>
                      </a:r>
                      <a:endParaRPr lang="ko-KR" alt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8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인력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명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명</a:t>
                      </a:r>
                      <a:endParaRPr lang="ko-KR" altLang="en-US" sz="1400" b="1" dirty="0"/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∴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안 선택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제안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785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중요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업무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 err="1"/>
                        <a:t>광역예찰단</a:t>
                      </a:r>
                      <a:r>
                        <a:rPr lang="ko-KR" altLang="en-US" sz="1400" baseline="0" dirty="0"/>
                        <a:t> 운영지원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○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Tx/>
                        <a:buChar char="-"/>
                      </a:pPr>
                      <a:r>
                        <a:rPr lang="ko-KR" altLang="en-US" sz="1400" dirty="0"/>
                        <a:t> 위원회 활성화 운영</a:t>
                      </a:r>
                      <a:endParaRPr lang="en-US" altLang="ko-KR" sz="1400" dirty="0"/>
                    </a:p>
                    <a:p>
                      <a:pPr algn="l" latinLnBrk="1">
                        <a:buFontTx/>
                        <a:buChar char="-"/>
                      </a:pP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7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Tx/>
                        <a:buChar char="-"/>
                      </a:pPr>
                      <a:r>
                        <a:rPr lang="ko-KR" altLang="en-US" sz="1400" dirty="0"/>
                        <a:t> 돌발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긴급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외래등</a:t>
                      </a:r>
                      <a:r>
                        <a:rPr lang="ko-KR" altLang="en-US" sz="1400" dirty="0"/>
                        <a:t> 병해충 신속방제</a:t>
                      </a:r>
                      <a:endParaRPr lang="en-US" altLang="ko-KR" sz="1400" dirty="0"/>
                    </a:p>
                    <a:p>
                      <a:pPr algn="l" latinLnBrk="1">
                        <a:buFontTx/>
                        <a:buChar char="-"/>
                      </a:pP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7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Tx/>
                        <a:buChar char="-"/>
                      </a:pP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국가병해충예찰방제네트워크운영</a:t>
                      </a:r>
                      <a:endParaRPr lang="en-US" altLang="ko-KR" sz="1400" dirty="0"/>
                    </a:p>
                    <a:p>
                      <a:pPr algn="l" latinLnBrk="1">
                        <a:buFontTx/>
                        <a:buChar char="-"/>
                      </a:pP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Tx/>
                        <a:buChar char="-"/>
                      </a:pPr>
                      <a:r>
                        <a:rPr lang="ko-KR" altLang="en-US" sz="1400" dirty="0"/>
                        <a:t> 지역별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품목별 표준 </a:t>
                      </a:r>
                      <a:r>
                        <a:rPr lang="ko-KR" altLang="en-US" sz="1400" dirty="0" err="1"/>
                        <a:t>방제력</a:t>
                      </a:r>
                      <a:endParaRPr lang="en-US" altLang="ko-KR" sz="1400" dirty="0"/>
                    </a:p>
                    <a:p>
                      <a:pPr algn="l" latinLnBrk="1">
                        <a:buFontTx/>
                        <a:buChar char="-"/>
                      </a:pP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7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Tx/>
                        <a:buChar char="-"/>
                      </a:pPr>
                      <a:r>
                        <a:rPr lang="ko-KR" altLang="en-US" sz="1400" dirty="0"/>
                        <a:t> 병해충 전문인력 양성교육 외</a:t>
                      </a:r>
                    </a:p>
                    <a:p>
                      <a:pPr algn="l" latinLnBrk="1">
                        <a:buFontTx/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97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장점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책임소재 명확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상기업무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가지 원활운영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작목확대 운영 가능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buFontTx/>
                        <a:buChar char="-"/>
                      </a:pPr>
                      <a:r>
                        <a:rPr lang="ko-KR" altLang="en-US" sz="1400" dirty="0"/>
                        <a:t> 쉽게 실행가능</a:t>
                      </a:r>
                      <a:endParaRPr lang="en-US" altLang="ko-KR" sz="1400" dirty="0"/>
                    </a:p>
                    <a:p>
                      <a:pPr algn="l" latinLnBrk="1">
                        <a:buFontTx/>
                        <a:buChar char="-"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융통성 있는 조직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29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단점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신규 팀 구성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책임소재 불명확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상기 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가지 업무 </a:t>
                      </a:r>
                      <a:r>
                        <a:rPr lang="en-US" altLang="ko-KR" sz="1400" dirty="0"/>
                        <a:t>Communication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문제발생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일사분란 하지 않음으로 긴급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돌발 병해충 대처곤란</a:t>
                      </a:r>
                      <a:endParaRPr lang="ko-KR" altLang="en-US" sz="14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21497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143108" y="0"/>
            <a:ext cx="557216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광역예찰단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운영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331694" y="887506"/>
          <a:ext cx="8480612" cy="557016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8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2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     분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                        용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  고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9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전담팀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광역예찰단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도 농업기술원 소속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  </a:t>
                      </a:r>
                      <a:r>
                        <a:rPr lang="en-US" altLang="ko-KR" sz="1600" dirty="0"/>
                        <a:t>+  </a:t>
                      </a:r>
                      <a:r>
                        <a:rPr lang="ko-KR" altLang="en-US" sz="1600" dirty="0"/>
                        <a:t>시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군 농업기술센터 </a:t>
                      </a:r>
                      <a:endParaRPr lang="ko-KR" altLang="en-US" sz="1600" b="1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인원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전국 </a:t>
                      </a:r>
                      <a:r>
                        <a:rPr lang="en-US" altLang="ko-KR" sz="1600" dirty="0"/>
                        <a:t>45</a:t>
                      </a:r>
                      <a:r>
                        <a:rPr lang="ko-KR" altLang="en-US" sz="1600" dirty="0"/>
                        <a:t>명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도별 평균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명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역활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600" dirty="0"/>
                        <a:t> 품목 확대에 따른 도별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주산단지별 </a:t>
                      </a:r>
                      <a:r>
                        <a:rPr lang="ko-KR" altLang="en-US" sz="1600" dirty="0" err="1"/>
                        <a:t>예찰업무</a:t>
                      </a:r>
                      <a:r>
                        <a:rPr lang="ko-KR" altLang="en-US" sz="1600" dirty="0"/>
                        <a:t> 실시</a:t>
                      </a:r>
                      <a:endParaRPr lang="en-US" altLang="ko-KR" sz="1600" dirty="0"/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600" dirty="0"/>
                        <a:t> 도에서 센터를 지원하는 개념으로 운영</a:t>
                      </a:r>
                      <a:endParaRPr lang="ko-KR" altLang="en-US" sz="16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장점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시군 센터의 부족한 점 보완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인력 부족 보완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전문성 보완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주산단지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 err="1"/>
                        <a:t>주작목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latinLnBrk="1"/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추가 작목  확대 시  신속한 대응</a:t>
                      </a:r>
                      <a:endParaRPr lang="ko-KR" altLang="en-US" sz="16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7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단점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문제점</a:t>
                      </a:r>
                      <a:r>
                        <a:rPr lang="en-US" altLang="ko-KR" sz="1600" dirty="0"/>
                        <a:t>)</a:t>
                      </a:r>
                      <a:endParaRPr lang="en-US" altLang="ko-KR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-</a:t>
                      </a:r>
                      <a:r>
                        <a:rPr lang="ko-KR" altLang="en-US" sz="1600" dirty="0"/>
                        <a:t>전문인력 티오문제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-</a:t>
                      </a:r>
                      <a:r>
                        <a:rPr lang="ko-KR" altLang="en-US" sz="1600" dirty="0"/>
                        <a:t>인력부족으로 당분간 모니터링 요원 중 정년퇴임 인원 선발</a:t>
                      </a:r>
                      <a:endParaRPr lang="ko-KR" altLang="en-US" sz="16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7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보완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600" dirty="0"/>
                        <a:t> 병해충 </a:t>
                      </a:r>
                      <a:r>
                        <a:rPr lang="ko-KR" altLang="en-US" sz="1600" dirty="0" err="1"/>
                        <a:t>예찰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진단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방제 전문가 양성을 위한 체계화 집중교육</a:t>
                      </a:r>
                      <a:endParaRPr lang="ko-KR" altLang="en-US" sz="16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28628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관찰포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선정 및 운영 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252534" y="812407"/>
            <a:ext cx="8507413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sz="1200" dirty="0"/>
              <a:t> </a:t>
            </a:r>
            <a:r>
              <a:rPr lang="ko-KR" altLang="en-US" sz="1200" dirty="0" err="1"/>
              <a:t>관찰포</a:t>
            </a:r>
            <a:r>
              <a:rPr lang="ko-KR" altLang="en-US" sz="1200" dirty="0"/>
              <a:t> 운영방안</a:t>
            </a:r>
            <a:endParaRPr lang="en-US" altLang="ko-KR" sz="1200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주산 단지를 중심으로 </a:t>
            </a:r>
            <a:r>
              <a:rPr lang="ko-KR" altLang="en-US" sz="1200" dirty="0" err="1"/>
              <a:t>관찰포</a:t>
            </a:r>
            <a:r>
              <a:rPr lang="ko-KR" altLang="en-US" sz="1200" dirty="0"/>
              <a:t> 운영</a:t>
            </a:r>
            <a:endParaRPr lang="en-US" altLang="ko-KR" sz="1200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선정방법 </a:t>
            </a:r>
            <a:r>
              <a:rPr lang="en-US" altLang="ko-KR" sz="1200" dirty="0"/>
              <a:t>: </a:t>
            </a:r>
            <a:r>
              <a:rPr lang="ko-KR" altLang="en-US" sz="1200" dirty="0"/>
              <a:t>대표성</a:t>
            </a:r>
            <a:r>
              <a:rPr lang="en-US" altLang="ko-KR" sz="1200" dirty="0"/>
              <a:t>, </a:t>
            </a:r>
            <a:r>
              <a:rPr lang="ko-KR" altLang="en-US" sz="1200" dirty="0"/>
              <a:t>신속성</a:t>
            </a:r>
            <a:r>
              <a:rPr lang="en-US" altLang="ko-KR" sz="1200" dirty="0"/>
              <a:t>, </a:t>
            </a:r>
            <a:r>
              <a:rPr lang="ko-KR" altLang="en-US" sz="1200" dirty="0"/>
              <a:t>정확성을 기하기 위한 조사방법에 의한  선정</a:t>
            </a:r>
            <a:endParaRPr lang="en-US" altLang="ko-KR" sz="1200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고려사항 </a:t>
            </a:r>
            <a:r>
              <a:rPr lang="en-US" altLang="ko-KR" sz="1200" dirty="0"/>
              <a:t>: </a:t>
            </a:r>
            <a:r>
              <a:rPr lang="ko-KR" altLang="en-US" sz="1200" dirty="0"/>
              <a:t>인력</a:t>
            </a:r>
            <a:r>
              <a:rPr lang="en-US" altLang="ko-KR" sz="1200" dirty="0"/>
              <a:t>, </a:t>
            </a:r>
            <a:r>
              <a:rPr lang="ko-KR" altLang="en-US" sz="1200" dirty="0"/>
              <a:t>예산 </a:t>
            </a:r>
            <a:r>
              <a:rPr lang="ko-KR" altLang="en-US" sz="1200" dirty="0" err="1"/>
              <a:t>범위내에서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년차적으로</a:t>
            </a:r>
            <a:r>
              <a:rPr lang="ko-KR" altLang="en-US" sz="1200" dirty="0"/>
              <a:t> 확대</a:t>
            </a:r>
            <a:endParaRPr lang="en-US" altLang="ko-KR" sz="1200" dirty="0"/>
          </a:p>
          <a:p>
            <a:endParaRPr lang="en-US" altLang="ko-KR" sz="1200" dirty="0"/>
          </a:p>
          <a:p>
            <a:pPr>
              <a:buFont typeface="굴림" pitchFamily="50" charset="-127"/>
              <a:buChar char="○"/>
            </a:pPr>
            <a:r>
              <a:rPr lang="ko-KR" altLang="en-US" sz="1200" dirty="0"/>
              <a:t> </a:t>
            </a:r>
            <a:r>
              <a:rPr lang="ko-KR" altLang="en-US" sz="1200" dirty="0" err="1"/>
              <a:t>관찰포</a:t>
            </a:r>
            <a:r>
              <a:rPr lang="ko-KR" altLang="en-US" sz="1200" dirty="0"/>
              <a:t> 선정 방안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ko-KR" altLang="en-US" sz="1200" dirty="0"/>
              <a:t>기운영 </a:t>
            </a:r>
            <a:r>
              <a:rPr lang="ko-KR" altLang="en-US" sz="1200" dirty="0" err="1"/>
              <a:t>경험있는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관찰포와</a:t>
            </a:r>
            <a:r>
              <a:rPr lang="ko-KR" altLang="en-US" sz="1200" dirty="0"/>
              <a:t> 현재의 재배면적</a:t>
            </a:r>
            <a:r>
              <a:rPr lang="en-US" altLang="ko-KR" sz="1200" dirty="0"/>
              <a:t>, </a:t>
            </a:r>
            <a:r>
              <a:rPr lang="ko-KR" altLang="en-US" sz="1200" dirty="0"/>
              <a:t>생산량을 기초로 자료를 작성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ko-KR" altLang="en-US" sz="1200" dirty="0"/>
              <a:t> 현업 담당자와 협의</a:t>
            </a:r>
            <a:r>
              <a:rPr lang="en-US" altLang="ko-KR" sz="1200" dirty="0"/>
              <a:t> (</a:t>
            </a:r>
            <a:r>
              <a:rPr lang="ko-KR" altLang="en-US" sz="1200" dirty="0"/>
              <a:t>지리적 위치 감안</a:t>
            </a:r>
            <a:r>
              <a:rPr lang="en-US" altLang="ko-KR" sz="1200" dirty="0"/>
              <a:t>)</a:t>
            </a:r>
          </a:p>
          <a:p>
            <a:pPr>
              <a:buFontTx/>
              <a:buChar char="-"/>
            </a:pPr>
            <a:r>
              <a:rPr lang="en-US" altLang="ko-KR" sz="1200" dirty="0"/>
              <a:t> </a:t>
            </a:r>
            <a:r>
              <a:rPr lang="ko-KR" altLang="en-US" sz="1200" dirty="0"/>
              <a:t>도 농업기술원과 시군 농업기술센터와의 최종협의를 거쳐야 할 것으로 판단됨</a:t>
            </a:r>
            <a:r>
              <a:rPr lang="en-US" altLang="ko-KR" sz="1200" dirty="0"/>
              <a:t>.</a:t>
            </a:r>
          </a:p>
          <a:p>
            <a:pPr>
              <a:buFont typeface="굴림" pitchFamily="50" charset="-127"/>
              <a:buChar char="○"/>
            </a:pPr>
            <a:endParaRPr lang="en-US" altLang="ko-KR" sz="1200" dirty="0"/>
          </a:p>
          <a:p>
            <a:pPr>
              <a:buFont typeface="굴림" pitchFamily="50" charset="-127"/>
              <a:buChar char="○"/>
            </a:pPr>
            <a:r>
              <a:rPr lang="en-US" altLang="ko-KR" sz="1200" dirty="0"/>
              <a:t> </a:t>
            </a:r>
            <a:r>
              <a:rPr lang="ko-KR" altLang="en-US" sz="1200" dirty="0"/>
              <a:t>품목 확대 방안</a:t>
            </a:r>
          </a:p>
        </p:txBody>
      </p:sp>
      <p:sp>
        <p:nvSpPr>
          <p:cNvPr id="1068" name="TextBox 4"/>
          <p:cNvSpPr txBox="1">
            <a:spLocks noChangeArrowheads="1"/>
          </p:cNvSpPr>
          <p:nvPr/>
        </p:nvSpPr>
        <p:spPr bwMode="auto">
          <a:xfrm>
            <a:off x="214282" y="4429132"/>
            <a:ext cx="71481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200"/>
              <a:buFont typeface="굴림" pitchFamily="50" charset="-127"/>
              <a:buChar char="○"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 참조사항 </a:t>
            </a:r>
            <a:r>
              <a:rPr kumimoji="1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&lt;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주요 </a:t>
            </a:r>
            <a:r>
              <a:rPr kumimoji="1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25 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품목</a:t>
            </a:r>
            <a:r>
              <a:rPr kumimoji="1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: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농수산물 생산</a:t>
            </a:r>
            <a:r>
              <a:rPr kumimoji="1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. 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유통구조개선 대책에서 </a:t>
            </a:r>
            <a:r>
              <a:rPr kumimoji="1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(2008.12. 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림수산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식품부자료</a:t>
            </a:r>
            <a:r>
              <a:rPr kumimoji="1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rPr>
              <a:t>)&gt; 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500034" y="4786322"/>
          <a:ext cx="8330259" cy="16459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390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4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1" 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품목</a:t>
                      </a:r>
                      <a:endParaRPr kumimoji="1" 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채소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및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특용작물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( 7 )</a:t>
                      </a: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배추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고추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토마토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딸기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파프리카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인삼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버섯</a:t>
                      </a:r>
                      <a:endParaRPr kumimoji="1" 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과수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및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화훼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( 6 )</a:t>
                      </a: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배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포도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감귤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단감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백합</a:t>
                      </a:r>
                      <a:endParaRPr kumimoji="1" 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식량작물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(1 )</a:t>
                      </a:r>
                      <a:endParaRPr kumimoji="1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쌀</a:t>
                      </a:r>
                      <a:endParaRPr kumimoji="1" 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축산물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( 5 )</a:t>
                      </a:r>
                      <a:endParaRPr kumimoji="1" lang="ko-KR" alt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한육우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돼지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닭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우유</a:t>
                      </a: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계란</a:t>
                      </a:r>
                      <a:endParaRPr kumimoji="1" lang="ko-K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수산물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( 6 )</a:t>
                      </a: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넙치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전복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고등어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멸치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오징어</a:t>
                      </a:r>
                      <a:endParaRPr kumimoji="1" 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표 7"/>
          <p:cNvGraphicFramePr>
            <a:graphicFrameLocks noGrp="1"/>
          </p:cNvGraphicFramePr>
          <p:nvPr/>
        </p:nvGraphicFramePr>
        <p:xfrm>
          <a:off x="500032" y="3143248"/>
          <a:ext cx="8339168" cy="1217613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084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현재</a:t>
                      </a:r>
                      <a:endParaRPr kumimoji="1" lang="ko-KR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2010</a:t>
                      </a:r>
                      <a:endParaRPr kumimoji="1" lang="ko-KR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2011</a:t>
                      </a:r>
                      <a:endParaRPr kumimoji="1" lang="ko-KR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2012</a:t>
                      </a:r>
                      <a:endParaRPr kumimoji="1" lang="ko-KR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벼</a:t>
                      </a:r>
                      <a:endParaRPr kumimoji="1" 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고추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배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감귤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  <a:b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토마토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두류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맥류</a:t>
                      </a:r>
                      <a:endParaRPr kumimoji="1" lang="ko-KR" altLang="en-US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( 7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품목 추가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마늘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양파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복숭아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  <a:b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포도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배추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딸기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  <a:b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1" lang="ko-KR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파프리카</a:t>
                      </a:r>
                      <a:endParaRPr kumimoji="1" lang="ko-KR" altLang="en-US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( 7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품목 추가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단감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백합</a:t>
                      </a:r>
                      <a:endParaRPr kumimoji="1" lang="ko-KR" altLang="en-US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( 2</a:t>
                      </a:r>
                      <a:r>
                        <a:rPr kumimoji="1" 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품목 추가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28628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고추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관찰포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선정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214282" y="642918"/>
            <a:ext cx="8507413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ko-KR" sz="1200" dirty="0"/>
          </a:p>
          <a:p>
            <a:pPr>
              <a:buFont typeface="굴림" pitchFamily="50" charset="-127"/>
              <a:buChar char="○"/>
            </a:pPr>
            <a:r>
              <a:rPr lang="ko-KR" altLang="en-US" sz="1400" b="1" dirty="0"/>
              <a:t>고추 </a:t>
            </a:r>
            <a:r>
              <a:rPr lang="ko-KR" altLang="en-US" sz="1400" b="1" dirty="0" err="1"/>
              <a:t>관찰포</a:t>
            </a:r>
            <a:r>
              <a:rPr lang="ko-KR" altLang="en-US" sz="1400" b="1" dirty="0"/>
              <a:t> 설치조정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안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42844" y="1285860"/>
          <a:ext cx="8786870" cy="4491743"/>
        </p:xfrm>
        <a:graphic>
          <a:graphicData uri="http://schemas.openxmlformats.org/drawingml/2006/table">
            <a:tbl>
              <a:tblPr firstRow="1" firstCol="1" lastRow="1" lastCol="1">
                <a:tableStyleId>{10A1B5D5-9B99-4C35-A422-299274C87663}</a:tableStyleId>
              </a:tblPr>
              <a:tblGrid>
                <a:gridCol w="57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2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0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65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구분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경기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강원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충북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충남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전북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전남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경북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경남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기타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47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관찰포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기운영경험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(59)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여주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화성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양평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이천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용인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안성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춘천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홍천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횡성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원주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영월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평창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정선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청주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제천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진천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보은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옥천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괴산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음성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충주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단양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연기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공주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latinLnBrk="1"/>
                      <a:r>
                        <a:rPr lang="ko-KR" altLang="en-US" sz="1100" dirty="0"/>
                        <a:t>청양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천안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예산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태안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진안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무주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임실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순창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정읍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고창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김제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장수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익산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부안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나주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영광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화순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순천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의성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안동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청송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포항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청도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상주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문경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예천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봉화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구미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영덕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의령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거창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함양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면적</a:t>
                      </a:r>
                      <a:r>
                        <a:rPr lang="en-US" altLang="ko-KR" sz="1100" dirty="0"/>
                        <a:t>(41</a:t>
                      </a:r>
                      <a:r>
                        <a:rPr lang="ko-KR" altLang="en-US" sz="1100" dirty="0"/>
                        <a:t>위까지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영월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제천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괴산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단양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충주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보은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청원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음성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청양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태안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공주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당진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홍성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예산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고창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진안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정읍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무주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부안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김제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완주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임실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신안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해남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영광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나주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진도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무안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화순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순천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안동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봉화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의성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청송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영주</a:t>
                      </a:r>
                      <a:r>
                        <a:rPr lang="en-US" altLang="ko-KR" sz="1100" dirty="0"/>
                        <a:t>,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예천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경주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상주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4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전체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도상표시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algn="ctr" latinLnBrk="1"/>
                      <a:r>
                        <a:rPr lang="en-US" altLang="ko-KR" sz="1100" dirty="0"/>
                        <a:t>(68)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여주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화성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양평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이천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용인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안성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춘천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홍천</a:t>
                      </a:r>
                      <a:r>
                        <a:rPr lang="en-US" altLang="ko-KR" sz="1100" dirty="0"/>
                        <a:t>,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횡성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원주</a:t>
                      </a:r>
                      <a:r>
                        <a:rPr lang="en-US" altLang="ko-KR" sz="1100" dirty="0"/>
                        <a:t>,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영월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평창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baseline="0" dirty="0"/>
                        <a:t> </a:t>
                      </a:r>
                      <a:br>
                        <a:rPr lang="en-US" altLang="ko-KR" sz="1100" baseline="0" dirty="0"/>
                      </a:br>
                      <a:r>
                        <a:rPr lang="ko-KR" altLang="en-US" sz="1100" baseline="0" dirty="0"/>
                        <a:t>정선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청주</a:t>
                      </a:r>
                      <a:r>
                        <a:rPr lang="en-US" altLang="ko-KR" sz="1100" dirty="0"/>
                        <a:t>,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/>
                        <a:t>제천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청원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진천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보은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옥천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괴산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음성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충주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단양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연기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공주</a:t>
                      </a:r>
                      <a:r>
                        <a:rPr lang="en-US" altLang="ko-KR" sz="1100" dirty="0"/>
                        <a:t>,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청양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천안</a:t>
                      </a:r>
                      <a:r>
                        <a:rPr lang="en-US" altLang="ko-KR" sz="1100" dirty="0"/>
                        <a:t>,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예산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태안</a:t>
                      </a:r>
                      <a:r>
                        <a:rPr lang="en-US" altLang="ko-KR" sz="1100" dirty="0"/>
                        <a:t>,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당진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홍성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진안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무주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임실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순창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정읍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고창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김제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장수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익산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부안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완주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나주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화순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순천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신안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해남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진도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무안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의성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안동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청송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포항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청도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상주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문경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예천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봉화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구미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영덕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경주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의령</a:t>
                      </a:r>
                      <a:r>
                        <a:rPr lang="en-US" altLang="ko-KR" sz="1100" dirty="0"/>
                        <a:t>,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/>
                        <a:t>거창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함양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758" y="5750876"/>
            <a:ext cx="526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/>
              <a:t>※ </a:t>
            </a:r>
            <a:r>
              <a:rPr lang="ko-KR" altLang="en-US" sz="1200" dirty="0"/>
              <a:t>고추재배지는 전국 골고루 분포</a:t>
            </a:r>
            <a:r>
              <a:rPr lang="en-US" altLang="ko-KR" sz="1200" dirty="0"/>
              <a:t>.</a:t>
            </a:r>
          </a:p>
          <a:p>
            <a:pPr algn="l"/>
            <a:r>
              <a:rPr lang="ko-KR" altLang="en-US" sz="1200" dirty="0"/>
              <a:t>    생산이 가장 많은 경북지역은 토양의 특성상 고추재배지로 유리한 조건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286412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12449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관찰포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대상지역 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68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지역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 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071966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시스템 개선 방향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20" name="Rectangle 161"/>
          <p:cNvSpPr>
            <a:spLocks noChangeArrowheads="1"/>
          </p:cNvSpPr>
          <p:nvPr/>
        </p:nvSpPr>
        <p:spPr bwMode="auto">
          <a:xfrm>
            <a:off x="3000364" y="1463694"/>
            <a:ext cx="2808287" cy="4608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/>
          </a:p>
        </p:txBody>
      </p:sp>
      <p:sp>
        <p:nvSpPr>
          <p:cNvPr id="21" name="Rectangle 160"/>
          <p:cNvSpPr>
            <a:spLocks noChangeArrowheads="1"/>
          </p:cNvSpPr>
          <p:nvPr/>
        </p:nvSpPr>
        <p:spPr bwMode="auto">
          <a:xfrm>
            <a:off x="142845" y="1463694"/>
            <a:ext cx="2773394" cy="4608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22" name="Picture 15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4282" y="1571612"/>
            <a:ext cx="2643206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157" descr="목표시스템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29322" y="1463694"/>
            <a:ext cx="3071835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Text Box 158"/>
          <p:cNvSpPr txBox="1">
            <a:spLocks noChangeArrowheads="1"/>
          </p:cNvSpPr>
          <p:nvPr/>
        </p:nvSpPr>
        <p:spPr bwMode="auto">
          <a:xfrm>
            <a:off x="3132138" y="1606569"/>
            <a:ext cx="2663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400" b="1">
                <a:effectLst>
                  <a:outerShdw blurRad="38100" dist="38100" dir="2700000" algn="tl">
                    <a:srgbClr val="C0C0C0"/>
                  </a:outerShdw>
                </a:effectLst>
              </a:rPr>
              <a:t>병해충 예찰</a:t>
            </a:r>
            <a:r>
              <a:rPr lang="en-US" altLang="ko-KR" sz="1400" b="1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ko-KR" altLang="en-US" sz="1400" b="1">
                <a:effectLst>
                  <a:outerShdw blurRad="38100" dist="38100" dir="2700000" algn="tl">
                    <a:srgbClr val="C0C0C0"/>
                  </a:outerShdw>
                </a:effectLst>
              </a:rPr>
              <a:t>방제 통합시스템</a:t>
            </a:r>
          </a:p>
        </p:txBody>
      </p:sp>
      <p:sp>
        <p:nvSpPr>
          <p:cNvPr id="25" name="Text Box 159"/>
          <p:cNvSpPr txBox="1">
            <a:spLocks noChangeArrowheads="1"/>
          </p:cNvSpPr>
          <p:nvPr/>
        </p:nvSpPr>
        <p:spPr bwMode="auto">
          <a:xfrm>
            <a:off x="3071802" y="1966931"/>
            <a:ext cx="2808288" cy="381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농촌진흥청 중심의 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포괄 네트워크 구축</a:t>
            </a:r>
          </a:p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실시간 관제 기능</a:t>
            </a:r>
          </a:p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ko-KR" altLang="en-US" sz="1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모바일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ko-KR" altLang="en-US" sz="1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핸폰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SMS) 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조기 경보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기능</a:t>
            </a:r>
          </a:p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진단의뢰와 결과제공의 일원화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기능</a:t>
            </a:r>
          </a:p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진단 모델을 활용한 자가 진단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기능</a:t>
            </a:r>
          </a:p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병해충 검색 기능</a:t>
            </a:r>
          </a:p>
          <a:p>
            <a:pPr>
              <a:spcBef>
                <a:spcPct val="50000"/>
              </a:spcBef>
              <a:buFontTx/>
              <a:buBlip>
                <a:blip r:embed="rId8"/>
              </a:buBlip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병해충 </a:t>
            </a:r>
            <a:r>
              <a:rPr lang="ko-KR" altLang="en-US" sz="14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예찰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방제를 위한 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커뮤니티</a:t>
            </a:r>
          </a:p>
        </p:txBody>
      </p:sp>
      <p:sp>
        <p:nvSpPr>
          <p:cNvPr id="26" name="Rectangle 162"/>
          <p:cNvSpPr>
            <a:spLocks noChangeArrowheads="1"/>
          </p:cNvSpPr>
          <p:nvPr/>
        </p:nvSpPr>
        <p:spPr bwMode="auto">
          <a:xfrm>
            <a:off x="250825" y="958869"/>
            <a:ext cx="2665413" cy="431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As-Is </a:t>
            </a:r>
            <a:r>
              <a:rPr lang="ko-KR" altLang="en-US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시스템</a:t>
            </a:r>
            <a:r>
              <a:rPr lang="en-US" altLang="ko-KR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분산</a:t>
            </a:r>
            <a:r>
              <a:rPr lang="en-US" altLang="ko-KR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)</a:t>
            </a:r>
          </a:p>
        </p:txBody>
      </p:sp>
      <p:sp>
        <p:nvSpPr>
          <p:cNvPr id="27" name="Rectangle 163"/>
          <p:cNvSpPr>
            <a:spLocks noChangeArrowheads="1"/>
          </p:cNvSpPr>
          <p:nvPr/>
        </p:nvSpPr>
        <p:spPr bwMode="auto">
          <a:xfrm>
            <a:off x="6156325" y="958869"/>
            <a:ext cx="2665413" cy="431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To-Be </a:t>
            </a:r>
            <a:r>
              <a:rPr lang="ko-KR" altLang="en-US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시스템</a:t>
            </a:r>
            <a:r>
              <a:rPr lang="en-US" altLang="ko-KR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통합</a:t>
            </a:r>
            <a:r>
              <a:rPr lang="en-US" altLang="ko-KR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)</a:t>
            </a:r>
          </a:p>
        </p:txBody>
      </p:sp>
      <p:sp>
        <p:nvSpPr>
          <p:cNvPr id="28" name="Rectangle 165"/>
          <p:cNvSpPr>
            <a:spLocks noChangeArrowheads="1"/>
          </p:cNvSpPr>
          <p:nvPr/>
        </p:nvSpPr>
        <p:spPr bwMode="auto">
          <a:xfrm>
            <a:off x="3130550" y="958869"/>
            <a:ext cx="2665413" cy="431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b="1" dirty="0">
                <a:solidFill>
                  <a:schemeClr val="tx1"/>
                </a:solidFill>
              </a:rPr>
              <a:t>개선 기능</a:t>
            </a:r>
          </a:p>
        </p:txBody>
      </p:sp>
      <p:sp>
        <p:nvSpPr>
          <p:cNvPr id="29" name="AutoShape 164"/>
          <p:cNvSpPr>
            <a:spLocks noChangeArrowheads="1"/>
          </p:cNvSpPr>
          <p:nvPr/>
        </p:nvSpPr>
        <p:spPr bwMode="auto">
          <a:xfrm rot="5400000">
            <a:off x="5706270" y="1019987"/>
            <a:ext cx="468312" cy="288925"/>
          </a:xfrm>
          <a:prstGeom prst="triangle">
            <a:avLst>
              <a:gd name="adj" fmla="val 50000"/>
            </a:avLst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357290" y="5264168"/>
            <a:ext cx="7524750" cy="6651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900"/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572032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작목확대시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예찰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프로세스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333501" y="3492488"/>
            <a:ext cx="7524750" cy="8080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900"/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1330570" y="1714488"/>
            <a:ext cx="7524750" cy="11572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1800"/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460131" y="1719252"/>
            <a:ext cx="800100" cy="1690687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>
                <a:solidFill>
                  <a:srgbClr val="000000"/>
                </a:solidFill>
              </a:rPr>
              <a:t>농촌진흥청</a:t>
            </a:r>
            <a:endParaRPr lang="en-US" altLang="ko-KR" sz="900" b="1">
              <a:solidFill>
                <a:srgbClr val="000000"/>
              </a:solidFill>
            </a:endParaRPr>
          </a:p>
        </p:txBody>
      </p:sp>
      <p:cxnSp>
        <p:nvCxnSpPr>
          <p:cNvPr id="40" name="직선 연결선 108"/>
          <p:cNvCxnSpPr>
            <a:cxnSpLocks noChangeShapeType="1"/>
            <a:stCxn id="36" idx="1"/>
            <a:endCxn id="36" idx="3"/>
          </p:cNvCxnSpPr>
          <p:nvPr/>
        </p:nvCxnSpPr>
        <p:spPr bwMode="auto">
          <a:xfrm rot="10800000" flipH="1">
            <a:off x="1956312" y="2132796"/>
            <a:ext cx="125836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2" name="모서리가 둥근 직사각형 41"/>
          <p:cNvSpPr/>
          <p:nvPr/>
        </p:nvSpPr>
        <p:spPr bwMode="auto">
          <a:xfrm>
            <a:off x="2151209" y="3006713"/>
            <a:ext cx="1003788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예찰계획</a:t>
            </a:r>
            <a:endParaRPr lang="ko-KR" altLang="en-US" sz="900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6" name="AutoShape 4"/>
          <p:cNvSpPr>
            <a:spLocks noChangeArrowheads="1"/>
          </p:cNvSpPr>
          <p:nvPr/>
        </p:nvSpPr>
        <p:spPr bwMode="auto">
          <a:xfrm>
            <a:off x="465993" y="3451213"/>
            <a:ext cx="782515" cy="844550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rgbClr val="000000"/>
                </a:solidFill>
              </a:rPr>
              <a:t>도 농업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rgbClr val="000000"/>
                </a:solidFill>
              </a:rPr>
              <a:t>기술원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en-US" altLang="ko-KR" sz="900" b="1" dirty="0">
                <a:solidFill>
                  <a:srgbClr val="000000"/>
                </a:solidFill>
              </a:rPr>
              <a:t>(</a:t>
            </a:r>
            <a:r>
              <a:rPr lang="ko-KR" altLang="en-US" sz="900" b="1" dirty="0">
                <a:solidFill>
                  <a:srgbClr val="000000"/>
                </a:solidFill>
              </a:rPr>
              <a:t>광역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 err="1">
                <a:solidFill>
                  <a:srgbClr val="000000"/>
                </a:solidFill>
              </a:rPr>
              <a:t>예찰단</a:t>
            </a:r>
            <a:r>
              <a:rPr lang="en-US" altLang="ko-KR" sz="900" b="1" dirty="0">
                <a:solidFill>
                  <a:srgbClr val="000000"/>
                </a:solidFill>
              </a:rPr>
              <a:t>)</a:t>
            </a:r>
            <a:endParaRPr lang="ko-KR" altLang="en-US" sz="900" b="1" dirty="0">
              <a:solidFill>
                <a:srgbClr val="000000"/>
              </a:solidFill>
            </a:endParaRPr>
          </a:p>
        </p:txBody>
      </p:sp>
      <p:sp>
        <p:nvSpPr>
          <p:cNvPr id="47" name="모서리가 둥근 직사각형 131"/>
          <p:cNvSpPr/>
          <p:nvPr/>
        </p:nvSpPr>
        <p:spPr bwMode="auto">
          <a:xfrm>
            <a:off x="2160002" y="3727438"/>
            <a:ext cx="1011115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예찰계획</a:t>
            </a:r>
            <a:endParaRPr lang="ko-KR" altLang="en-US" sz="900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cxnSp>
        <p:nvCxnSpPr>
          <p:cNvPr id="49" name="AutoShape 42"/>
          <p:cNvCxnSpPr>
            <a:cxnSpLocks noChangeShapeType="1"/>
            <a:endCxn id="74" idx="1"/>
          </p:cNvCxnSpPr>
          <p:nvPr/>
        </p:nvCxnSpPr>
        <p:spPr bwMode="auto">
          <a:xfrm>
            <a:off x="4749335" y="3155938"/>
            <a:ext cx="549520" cy="0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0" name="직선 화살표 연결선 126"/>
          <p:cNvCxnSpPr>
            <a:cxnSpLocks noChangeShapeType="1"/>
            <a:stCxn id="74" idx="3"/>
            <a:endCxn id="56" idx="1"/>
          </p:cNvCxnSpPr>
          <p:nvPr/>
        </p:nvCxnSpPr>
        <p:spPr bwMode="auto">
          <a:xfrm>
            <a:off x="6295317" y="3155938"/>
            <a:ext cx="606669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" name="AutoShape 112"/>
          <p:cNvCxnSpPr>
            <a:cxnSpLocks noChangeShapeType="1"/>
            <a:stCxn id="47" idx="3"/>
            <a:endCxn id="52" idx="1"/>
          </p:cNvCxnSpPr>
          <p:nvPr/>
        </p:nvCxnSpPr>
        <p:spPr bwMode="auto">
          <a:xfrm>
            <a:off x="3171117" y="3873488"/>
            <a:ext cx="554276" cy="578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2" name="Rectangle 35"/>
          <p:cNvSpPr>
            <a:spLocks noChangeArrowheads="1"/>
          </p:cNvSpPr>
          <p:nvPr/>
        </p:nvSpPr>
        <p:spPr bwMode="auto">
          <a:xfrm>
            <a:off x="3725393" y="3057236"/>
            <a:ext cx="1060921" cy="164407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72000" tIns="42876" rIns="0" bIns="42876" anchor="ctr">
            <a:noAutofit/>
          </a:bodyPr>
          <a:lstStyle/>
          <a:p>
            <a:pPr defTabSz="857250" eaLnBrk="0" latinLnBrk="0">
              <a:buFont typeface="Arial" pitchFamily="34" charset="0"/>
              <a:buChar char="•"/>
            </a:pPr>
            <a:r>
              <a:rPr lang="ko-KR" altLang="en-US" sz="800" dirty="0" err="1">
                <a:solidFill>
                  <a:srgbClr val="000000"/>
                </a:solidFill>
              </a:rPr>
              <a:t>정기예찰</a:t>
            </a:r>
            <a:r>
              <a:rPr lang="en-US" altLang="ko-KR" sz="800" dirty="0">
                <a:solidFill>
                  <a:srgbClr val="000000"/>
                </a:solidFill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</a:rPr>
              <a:t>광역예찰단과</a:t>
            </a:r>
            <a:r>
              <a:rPr lang="ko-KR" altLang="en-US" sz="800" dirty="0">
                <a:solidFill>
                  <a:srgbClr val="000000"/>
                </a:solidFill>
              </a:rPr>
              <a:t> 기술센터</a:t>
            </a:r>
            <a:r>
              <a:rPr lang="en-US" altLang="ko-KR" sz="800" dirty="0">
                <a:solidFill>
                  <a:srgbClr val="000000"/>
                </a:solidFill>
              </a:rPr>
              <a:t> </a:t>
            </a:r>
            <a:r>
              <a:rPr lang="ko-KR" altLang="en-US" sz="800" dirty="0">
                <a:solidFill>
                  <a:srgbClr val="000000"/>
                </a:solidFill>
              </a:rPr>
              <a:t>공동조사</a:t>
            </a:r>
            <a:r>
              <a:rPr lang="en-US" altLang="ko-KR" sz="800" dirty="0">
                <a:solidFill>
                  <a:srgbClr val="000000"/>
                </a:solidFill>
              </a:rPr>
              <a:t>)</a:t>
            </a:r>
          </a:p>
          <a:p>
            <a:pPr defTabSz="857250" eaLnBrk="0" latinLnBrk="0">
              <a:buFont typeface="Arial" pitchFamily="34" charset="0"/>
              <a:buChar char="•"/>
            </a:pPr>
            <a:endParaRPr lang="en-US" altLang="ko-KR" sz="800" dirty="0">
              <a:solidFill>
                <a:srgbClr val="000000"/>
              </a:solidFill>
            </a:endParaRPr>
          </a:p>
          <a:p>
            <a:pPr defTabSz="857250" eaLnBrk="0" latinLnBrk="0">
              <a:buFont typeface="Arial" pitchFamily="34" charset="0"/>
              <a:buChar char="•"/>
            </a:pPr>
            <a:r>
              <a:rPr lang="ko-KR" altLang="en-US" sz="800" dirty="0" err="1">
                <a:solidFill>
                  <a:srgbClr val="000000"/>
                </a:solidFill>
              </a:rPr>
              <a:t>수시예찰</a:t>
            </a:r>
            <a:r>
              <a:rPr lang="en-US" altLang="ko-KR" sz="800" dirty="0">
                <a:solidFill>
                  <a:srgbClr val="000000"/>
                </a:solidFill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</a:rPr>
              <a:t>광역예찰단</a:t>
            </a:r>
            <a:r>
              <a:rPr lang="ko-KR" altLang="en-US" sz="800" dirty="0">
                <a:solidFill>
                  <a:srgbClr val="000000"/>
                </a:solidFill>
              </a:rPr>
              <a:t> 단독조사</a:t>
            </a:r>
            <a:endParaRPr lang="en-US" altLang="ko-KR" sz="800" dirty="0">
              <a:solidFill>
                <a:srgbClr val="000000"/>
              </a:solidFill>
            </a:endParaRPr>
          </a:p>
          <a:p>
            <a:pPr defTabSz="857250" eaLnBrk="0" latinLnBrk="0"/>
            <a:endParaRPr lang="en-US" altLang="ko-KR" sz="900" dirty="0">
              <a:solidFill>
                <a:srgbClr val="000000"/>
              </a:solidFill>
            </a:endParaRPr>
          </a:p>
          <a:p>
            <a:pPr defTabSz="857250" eaLnBrk="0" latinLnBrk="0"/>
            <a:endParaRPr lang="en-US" altLang="ko-KR" sz="900" dirty="0">
              <a:solidFill>
                <a:srgbClr val="000000"/>
              </a:solidFill>
            </a:endParaRPr>
          </a:p>
          <a:p>
            <a:pPr defTabSz="857250" eaLnBrk="0" latinLnBrk="0"/>
            <a:endParaRPr lang="en-US" altLang="ko-KR" sz="900" dirty="0">
              <a:solidFill>
                <a:srgbClr val="000000"/>
              </a:solidFill>
            </a:endParaRPr>
          </a:p>
          <a:p>
            <a:pPr defTabSz="857250" eaLnBrk="0" latinLnBrk="0"/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53" name="Rectangle 36"/>
          <p:cNvSpPr>
            <a:spLocks noChangeArrowheads="1"/>
          </p:cNvSpPr>
          <p:nvPr/>
        </p:nvSpPr>
        <p:spPr bwMode="auto">
          <a:xfrm>
            <a:off x="5326697" y="3732201"/>
            <a:ext cx="939312" cy="2921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b="1" dirty="0">
                <a:solidFill>
                  <a:schemeClr val="bg1"/>
                </a:solidFill>
              </a:rPr>
              <a:t>기록 및 보고</a:t>
            </a:r>
          </a:p>
        </p:txBody>
      </p:sp>
      <p:cxnSp>
        <p:nvCxnSpPr>
          <p:cNvPr id="54" name="AutoShape 42"/>
          <p:cNvCxnSpPr>
            <a:cxnSpLocks noChangeShapeType="1"/>
            <a:stCxn id="52" idx="3"/>
            <a:endCxn id="53" idx="1"/>
          </p:cNvCxnSpPr>
          <p:nvPr/>
        </p:nvCxnSpPr>
        <p:spPr bwMode="auto">
          <a:xfrm flipV="1">
            <a:off x="4786314" y="3878251"/>
            <a:ext cx="540383" cy="1023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직선 화살표 연결선 126"/>
          <p:cNvCxnSpPr>
            <a:cxnSpLocks noChangeShapeType="1"/>
            <a:stCxn id="53" idx="3"/>
            <a:endCxn id="57" idx="1"/>
          </p:cNvCxnSpPr>
          <p:nvPr/>
        </p:nvCxnSpPr>
        <p:spPr bwMode="auto">
          <a:xfrm>
            <a:off x="6295317" y="3878252"/>
            <a:ext cx="606669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6" name="모서리가 둥근 직사각형 55"/>
          <p:cNvSpPr/>
          <p:nvPr/>
        </p:nvSpPr>
        <p:spPr bwMode="auto">
          <a:xfrm>
            <a:off x="6915174" y="3016238"/>
            <a:ext cx="1085850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예찰결과보고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6915174" y="3733788"/>
            <a:ext cx="1085850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예찰결과보고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</p:txBody>
      </p:sp>
      <p:cxnSp>
        <p:nvCxnSpPr>
          <p:cNvPr id="58" name="AutoShape 42"/>
          <p:cNvCxnSpPr>
            <a:cxnSpLocks noChangeShapeType="1"/>
            <a:stCxn id="42" idx="3"/>
          </p:cNvCxnSpPr>
          <p:nvPr/>
        </p:nvCxnSpPr>
        <p:spPr bwMode="auto">
          <a:xfrm>
            <a:off x="3168186" y="3154352"/>
            <a:ext cx="641838" cy="1587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9" name="AutoShape 59"/>
          <p:cNvSpPr>
            <a:spLocks noChangeArrowheads="1"/>
          </p:cNvSpPr>
          <p:nvPr/>
        </p:nvSpPr>
        <p:spPr bwMode="auto">
          <a:xfrm>
            <a:off x="3588751" y="2871777"/>
            <a:ext cx="1374531" cy="2084387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60" name="AutoShape 60"/>
          <p:cNvSpPr>
            <a:spLocks noChangeArrowheads="1"/>
          </p:cNvSpPr>
          <p:nvPr/>
        </p:nvSpPr>
        <p:spPr bwMode="auto">
          <a:xfrm>
            <a:off x="5108355" y="2871777"/>
            <a:ext cx="1374531" cy="2084387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61" name="Rectangle 35"/>
          <p:cNvSpPr>
            <a:spLocks noChangeArrowheads="1"/>
          </p:cNvSpPr>
          <p:nvPr/>
        </p:nvSpPr>
        <p:spPr bwMode="auto">
          <a:xfrm>
            <a:off x="3443678" y="2333614"/>
            <a:ext cx="1085850" cy="40322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en-US" altLang="ko-KR" sz="900" dirty="0">
                <a:solidFill>
                  <a:srgbClr val="000000"/>
                </a:solidFill>
              </a:rPr>
              <a:t>PC1_02_03</a:t>
            </a:r>
          </a:p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보고접수 및</a:t>
            </a:r>
          </a:p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종합</a:t>
            </a:r>
          </a:p>
        </p:txBody>
      </p:sp>
      <p:cxnSp>
        <p:nvCxnSpPr>
          <p:cNvPr id="62" name="AutoShape 62"/>
          <p:cNvCxnSpPr>
            <a:cxnSpLocks noChangeShapeType="1"/>
            <a:stCxn id="36" idx="2"/>
            <a:endCxn id="61" idx="1"/>
          </p:cNvCxnSpPr>
          <p:nvPr/>
        </p:nvCxnSpPr>
        <p:spPr bwMode="auto">
          <a:xfrm rot="16200000" flipH="1">
            <a:off x="2947911" y="2039460"/>
            <a:ext cx="133350" cy="858183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63" name="AutoShape 4"/>
          <p:cNvSpPr>
            <a:spLocks noChangeArrowheads="1"/>
          </p:cNvSpPr>
          <p:nvPr/>
        </p:nvSpPr>
        <p:spPr bwMode="auto">
          <a:xfrm>
            <a:off x="465993" y="4362439"/>
            <a:ext cx="794238" cy="739775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시∙군 농업</a:t>
            </a:r>
          </a:p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기술센터</a:t>
            </a:r>
          </a:p>
        </p:txBody>
      </p:sp>
      <p:sp>
        <p:nvSpPr>
          <p:cNvPr id="64" name="모서리가 둥근 직사각형 131"/>
          <p:cNvSpPr/>
          <p:nvPr/>
        </p:nvSpPr>
        <p:spPr bwMode="auto">
          <a:xfrm>
            <a:off x="2142417" y="4597388"/>
            <a:ext cx="1011472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예찰계획</a:t>
            </a:r>
            <a:endParaRPr lang="ko-KR" altLang="en-US" sz="900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cxnSp>
        <p:nvCxnSpPr>
          <p:cNvPr id="65" name="AutoShape 78"/>
          <p:cNvCxnSpPr>
            <a:cxnSpLocks noChangeShapeType="1"/>
          </p:cNvCxnSpPr>
          <p:nvPr/>
        </p:nvCxnSpPr>
        <p:spPr bwMode="auto">
          <a:xfrm flipV="1">
            <a:off x="3153532" y="4740264"/>
            <a:ext cx="652096" cy="47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7" name="Rectangle 36"/>
          <p:cNvSpPr>
            <a:spLocks noChangeArrowheads="1"/>
          </p:cNvSpPr>
          <p:nvPr/>
        </p:nvSpPr>
        <p:spPr bwMode="auto">
          <a:xfrm>
            <a:off x="5326697" y="4594213"/>
            <a:ext cx="939312" cy="2921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b="1" dirty="0">
                <a:solidFill>
                  <a:schemeClr val="bg1"/>
                </a:solidFill>
              </a:rPr>
              <a:t>기록 및 보고</a:t>
            </a:r>
          </a:p>
        </p:txBody>
      </p:sp>
      <p:cxnSp>
        <p:nvCxnSpPr>
          <p:cNvPr id="68" name="AutoShape 42"/>
          <p:cNvCxnSpPr>
            <a:cxnSpLocks noChangeShapeType="1"/>
            <a:endCxn id="67" idx="1"/>
          </p:cNvCxnSpPr>
          <p:nvPr/>
        </p:nvCxnSpPr>
        <p:spPr bwMode="auto">
          <a:xfrm>
            <a:off x="4818209" y="4740263"/>
            <a:ext cx="480646" cy="0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9" name="직선 화살표 연결선 126"/>
          <p:cNvCxnSpPr>
            <a:cxnSpLocks noChangeShapeType="1"/>
            <a:stCxn id="67" idx="3"/>
            <a:endCxn id="70" idx="1"/>
          </p:cNvCxnSpPr>
          <p:nvPr/>
        </p:nvCxnSpPr>
        <p:spPr bwMode="auto">
          <a:xfrm flipV="1">
            <a:off x="6295317" y="4738677"/>
            <a:ext cx="606669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0" name="모서리가 둥근 직사각형 69"/>
          <p:cNvSpPr/>
          <p:nvPr/>
        </p:nvSpPr>
        <p:spPr bwMode="auto">
          <a:xfrm>
            <a:off x="6915174" y="4592626"/>
            <a:ext cx="1085850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예찰결과보고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</p:txBody>
      </p:sp>
      <p:cxnSp>
        <p:nvCxnSpPr>
          <p:cNvPr id="71" name="AutoShape 95"/>
          <p:cNvCxnSpPr>
            <a:cxnSpLocks noChangeShapeType="1"/>
            <a:stCxn id="74" idx="0"/>
            <a:endCxn id="36" idx="3"/>
          </p:cNvCxnSpPr>
          <p:nvPr/>
        </p:nvCxnSpPr>
        <p:spPr bwMode="auto">
          <a:xfrm rot="16200000" flipV="1">
            <a:off x="4067764" y="1279711"/>
            <a:ext cx="875505" cy="25816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diamond" w="med" len="med"/>
            <a:tailEnd type="triangle" w="med" len="med"/>
          </a:ln>
        </p:spPr>
      </p:cxnSp>
      <p:cxnSp>
        <p:nvCxnSpPr>
          <p:cNvPr id="72" name="AutoShape 130"/>
          <p:cNvCxnSpPr>
            <a:cxnSpLocks noChangeShapeType="1"/>
          </p:cNvCxnSpPr>
          <p:nvPr/>
        </p:nvCxnSpPr>
        <p:spPr bwMode="auto">
          <a:xfrm rot="16200000" flipV="1">
            <a:off x="3118171" y="2351865"/>
            <a:ext cx="2357453" cy="2143140"/>
          </a:xfrm>
          <a:prstGeom prst="bentConnector3">
            <a:avLst>
              <a:gd name="adj1" fmla="val 100956"/>
            </a:avLst>
          </a:prstGeom>
          <a:noFill/>
          <a:ln w="12700">
            <a:solidFill>
              <a:schemeClr val="tx1"/>
            </a:solidFill>
            <a:miter lim="800000"/>
            <a:headEnd type="diamond" w="med" len="med"/>
            <a:tailEnd type="triangle" w="med" len="med"/>
          </a:ln>
        </p:spPr>
      </p:cxnSp>
      <p:cxnSp>
        <p:nvCxnSpPr>
          <p:cNvPr id="73" name="AutoShape 106"/>
          <p:cNvCxnSpPr>
            <a:cxnSpLocks noChangeShapeType="1"/>
            <a:stCxn id="67" idx="2"/>
            <a:endCxn id="36" idx="1"/>
          </p:cNvCxnSpPr>
          <p:nvPr/>
        </p:nvCxnSpPr>
        <p:spPr bwMode="auto">
          <a:xfrm rot="5400000" flipH="1">
            <a:off x="2499574" y="1589535"/>
            <a:ext cx="2753517" cy="3840041"/>
          </a:xfrm>
          <a:prstGeom prst="bentConnector4">
            <a:avLst>
              <a:gd name="adj1" fmla="val -8302"/>
              <a:gd name="adj2" fmla="val 105953"/>
            </a:avLst>
          </a:prstGeom>
          <a:noFill/>
          <a:ln w="12700">
            <a:solidFill>
              <a:schemeClr val="tx1"/>
            </a:solidFill>
            <a:miter lim="800000"/>
            <a:headEnd type="diamond" w="med" len="med"/>
            <a:tailEnd type="triangle" w="med" len="med"/>
          </a:ln>
        </p:spPr>
      </p:cxnSp>
      <p:sp>
        <p:nvSpPr>
          <p:cNvPr id="74" name="Rectangle 36"/>
          <p:cNvSpPr>
            <a:spLocks noChangeArrowheads="1"/>
          </p:cNvSpPr>
          <p:nvPr/>
        </p:nvSpPr>
        <p:spPr bwMode="auto">
          <a:xfrm>
            <a:off x="5326697" y="3008301"/>
            <a:ext cx="939312" cy="2921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b="1" dirty="0">
                <a:solidFill>
                  <a:schemeClr val="bg1"/>
                </a:solidFill>
              </a:rPr>
              <a:t>기록 및 보고</a:t>
            </a:r>
          </a:p>
        </p:txBody>
      </p:sp>
      <p:sp>
        <p:nvSpPr>
          <p:cNvPr id="75" name="AutoShape 4"/>
          <p:cNvSpPr>
            <a:spLocks noChangeArrowheads="1"/>
          </p:cNvSpPr>
          <p:nvPr/>
        </p:nvSpPr>
        <p:spPr bwMode="auto">
          <a:xfrm>
            <a:off x="500034" y="5173665"/>
            <a:ext cx="794238" cy="739775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농업인</a:t>
            </a:r>
          </a:p>
        </p:txBody>
      </p: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491614" y="1357298"/>
            <a:ext cx="794238" cy="268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ko-KR" altLang="en-US" sz="1400" b="1"/>
              <a:t>조직</a:t>
            </a:r>
          </a:p>
        </p:txBody>
      </p:sp>
      <p:sp>
        <p:nvSpPr>
          <p:cNvPr id="78" name="Rectangle 2"/>
          <p:cNvSpPr>
            <a:spLocks noChangeArrowheads="1"/>
          </p:cNvSpPr>
          <p:nvPr/>
        </p:nvSpPr>
        <p:spPr bwMode="auto">
          <a:xfrm>
            <a:off x="1357290" y="1357298"/>
            <a:ext cx="7521820" cy="268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400" b="1" dirty="0"/>
              <a:t>Activity</a:t>
            </a:r>
          </a:p>
        </p:txBody>
      </p:sp>
      <p:sp>
        <p:nvSpPr>
          <p:cNvPr id="79" name="AutoShape 59"/>
          <p:cNvSpPr>
            <a:spLocks noChangeArrowheads="1"/>
          </p:cNvSpPr>
          <p:nvPr/>
        </p:nvSpPr>
        <p:spPr bwMode="auto">
          <a:xfrm>
            <a:off x="2010881" y="2887649"/>
            <a:ext cx="1374531" cy="2084387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cxnSp>
        <p:nvCxnSpPr>
          <p:cNvPr id="81" name="직선 화살표 연결선 80"/>
          <p:cNvCxnSpPr>
            <a:stCxn id="42" idx="2"/>
            <a:endCxn id="47" idx="0"/>
          </p:cNvCxnSpPr>
          <p:nvPr/>
        </p:nvCxnSpPr>
        <p:spPr bwMode="auto">
          <a:xfrm rot="16200000" flipH="1">
            <a:off x="2445019" y="3506896"/>
            <a:ext cx="428625" cy="1245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3" name="직선 화살표 연결선 82"/>
          <p:cNvCxnSpPr>
            <a:endCxn id="64" idx="0"/>
          </p:cNvCxnSpPr>
          <p:nvPr/>
        </p:nvCxnSpPr>
        <p:spPr bwMode="auto">
          <a:xfrm rot="5400000">
            <a:off x="2367627" y="4311188"/>
            <a:ext cx="566727" cy="5673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AutoShape 40"/>
          <p:cNvSpPr>
            <a:spLocks noChangeArrowheads="1"/>
          </p:cNvSpPr>
          <p:nvPr/>
        </p:nvSpPr>
        <p:spPr bwMode="auto">
          <a:xfrm>
            <a:off x="1956312" y="1863714"/>
            <a:ext cx="1258366" cy="538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/>
            <a:r>
              <a:rPr lang="ko-KR" altLang="en-US" sz="900" dirty="0" err="1">
                <a:solidFill>
                  <a:srgbClr val="000000"/>
                </a:solidFill>
              </a:rPr>
              <a:t>국가병해충예찰방제</a:t>
            </a:r>
            <a:endParaRPr lang="en-US" altLang="ko-KR" sz="900" dirty="0">
              <a:solidFill>
                <a:srgbClr val="000000"/>
              </a:solidFill>
            </a:endParaRPr>
          </a:p>
          <a:p>
            <a:pPr algn="ctr" defTabSz="857250"/>
            <a:r>
              <a:rPr lang="ko-KR" altLang="en-US" sz="900" dirty="0">
                <a:solidFill>
                  <a:srgbClr val="000000"/>
                </a:solidFill>
              </a:rPr>
              <a:t>네트워크</a:t>
            </a:r>
            <a:r>
              <a:rPr lang="en-US" altLang="ko-KR" sz="900" dirty="0">
                <a:solidFill>
                  <a:srgbClr val="000000"/>
                </a:solidFill>
              </a:rPr>
              <a:t>(</a:t>
            </a:r>
            <a:r>
              <a:rPr lang="ko-KR" altLang="en-US" sz="900" dirty="0">
                <a:solidFill>
                  <a:srgbClr val="000000"/>
                </a:solidFill>
              </a:rPr>
              <a:t>병해충</a:t>
            </a:r>
            <a:endParaRPr lang="en-US" altLang="ko-KR" sz="900" dirty="0">
              <a:solidFill>
                <a:srgbClr val="000000"/>
              </a:solidFill>
            </a:endParaRPr>
          </a:p>
          <a:p>
            <a:pPr algn="ctr" defTabSz="857250"/>
            <a:r>
              <a:rPr lang="ko-KR" altLang="en-US" sz="900" dirty="0" err="1">
                <a:solidFill>
                  <a:srgbClr val="000000"/>
                </a:solidFill>
              </a:rPr>
              <a:t>예찰단</a:t>
            </a:r>
            <a:r>
              <a:rPr lang="en-US" altLang="ko-KR" sz="9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66" name="모서리가 둥근 직사각형 131"/>
          <p:cNvSpPr/>
          <p:nvPr/>
        </p:nvSpPr>
        <p:spPr bwMode="auto">
          <a:xfrm>
            <a:off x="2294816" y="5429264"/>
            <a:ext cx="3205877" cy="2921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>
              <a:defRPr/>
            </a:pP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                         협조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214842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병해충 대상과 전담기관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graphicFrame>
        <p:nvGraphicFramePr>
          <p:cNvPr id="137" name="표 136"/>
          <p:cNvGraphicFramePr>
            <a:graphicFrameLocks noGrp="1"/>
          </p:cNvGraphicFramePr>
          <p:nvPr/>
        </p:nvGraphicFramePr>
        <p:xfrm>
          <a:off x="214282" y="857233"/>
          <a:ext cx="8429683" cy="32308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00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3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7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정기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수시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조사구분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일반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국가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병해충구분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품목과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관리대상 병해충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전담기관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38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/>
                        <a:t>정기예찰</a:t>
                      </a:r>
                      <a:endParaRPr lang="en-US" altLang="ko-KR" sz="1400" dirty="0"/>
                    </a:p>
                    <a:p>
                      <a:pPr algn="l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일반병해충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대상작목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벼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원예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400" dirty="0"/>
                        <a:t>총괄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 err="1"/>
                        <a:t>병해충예찰단</a:t>
                      </a:r>
                      <a:endParaRPr lang="en-US" altLang="ko-KR" sz="1400" dirty="0"/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400" dirty="0"/>
                        <a:t>조사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군 농업기술센터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1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국가병해충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대상작목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벼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원예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 대상병해충 </a:t>
                      </a:r>
                      <a:r>
                        <a:rPr lang="en-US" altLang="ko-KR" sz="1400" dirty="0"/>
                        <a:t>: 1</a:t>
                      </a:r>
                      <a:r>
                        <a:rPr lang="ko-KR" altLang="en-US" sz="1400" dirty="0"/>
                        <a:t>종</a:t>
                      </a:r>
                      <a:r>
                        <a:rPr lang="en-US" altLang="ko-KR" sz="1400" dirty="0"/>
                        <a:t>, 2</a:t>
                      </a:r>
                      <a:r>
                        <a:rPr lang="ko-KR" altLang="en-US" sz="1400" dirty="0"/>
                        <a:t>종</a:t>
                      </a:r>
                      <a:endParaRPr lang="en-US" altLang="ko-KR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총괄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 err="1"/>
                        <a:t>병해충예찰단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조사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군 농업기술센터 </a:t>
                      </a:r>
                      <a:r>
                        <a:rPr lang="en-US" altLang="ko-KR" sz="1400" dirty="0"/>
                        <a:t>+ </a:t>
                      </a:r>
                    </a:p>
                    <a:p>
                      <a:pPr latinLnBrk="1"/>
                      <a:r>
                        <a:rPr lang="en-US" altLang="ko-KR" sz="1400" dirty="0"/>
                        <a:t>          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광역예찰단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16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/>
                        <a:t>수시예찰</a:t>
                      </a:r>
                      <a:endParaRPr lang="en-US" altLang="ko-KR" sz="1400" dirty="0"/>
                    </a:p>
                    <a:p>
                      <a:pPr algn="l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일반병해충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대상작목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벼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원예</a:t>
                      </a:r>
                      <a:endParaRPr lang="en-US" altLang="ko-KR" sz="1400" dirty="0"/>
                    </a:p>
                    <a:p>
                      <a:pPr latinLnBrk="1"/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전담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국립농업과학원</a:t>
                      </a:r>
                      <a:endParaRPr lang="en-US" altLang="ko-KR" sz="14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조사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 err="1"/>
                        <a:t>광역예찰단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진단불가할</a:t>
                      </a:r>
                      <a:r>
                        <a:rPr lang="ko-KR" altLang="en-US" sz="1400" dirty="0"/>
                        <a:t> 경우 </a:t>
                      </a:r>
                      <a:r>
                        <a:rPr lang="ko-KR" altLang="en-US" sz="1400" dirty="0" err="1"/>
                        <a:t>병해충예찰단에</a:t>
                      </a:r>
                      <a:r>
                        <a:rPr lang="ko-KR" altLang="en-US" sz="1400" dirty="0"/>
                        <a:t> 의뢰진단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1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국가병해충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대상작목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벼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원예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 대상병해충 </a:t>
                      </a:r>
                      <a:r>
                        <a:rPr lang="en-US" altLang="ko-KR" sz="1400" dirty="0"/>
                        <a:t>: 1</a:t>
                      </a:r>
                      <a:r>
                        <a:rPr lang="ko-KR" altLang="en-US" sz="1400" dirty="0"/>
                        <a:t>종</a:t>
                      </a:r>
                      <a:r>
                        <a:rPr lang="en-US" altLang="ko-KR" sz="1400" dirty="0"/>
                        <a:t>, 2</a:t>
                      </a:r>
                      <a:r>
                        <a:rPr lang="ko-KR" altLang="en-US" sz="1400" dirty="0"/>
                        <a:t>종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전담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국립농업과학원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조사 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 err="1"/>
                        <a:t>광역예찰단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진단불가할</a:t>
                      </a:r>
                      <a:r>
                        <a:rPr lang="ko-KR" altLang="en-US" sz="1400" dirty="0"/>
                        <a:t> 경우 </a:t>
                      </a:r>
                      <a:r>
                        <a:rPr lang="ko-KR" altLang="en-US" sz="1400" dirty="0" err="1"/>
                        <a:t>병해충예찰단에</a:t>
                      </a:r>
                      <a:r>
                        <a:rPr lang="ko-KR" altLang="en-US" sz="1400" dirty="0"/>
                        <a:t> 의뢰진단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643438" y="4500570"/>
            <a:ext cx="45005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ㅇ</a:t>
            </a:r>
            <a:r>
              <a:rPr lang="en-US" altLang="ko-KR" dirty="0"/>
              <a:t>. </a:t>
            </a:r>
            <a:r>
              <a:rPr lang="ko-KR" altLang="en-US" dirty="0"/>
              <a:t>병해충을 제</a:t>
            </a:r>
            <a:r>
              <a:rPr lang="en-US" altLang="ko-KR" dirty="0"/>
              <a:t>1</a:t>
            </a:r>
            <a:r>
              <a:rPr lang="ko-KR" altLang="en-US" dirty="0"/>
              <a:t>종</a:t>
            </a:r>
            <a:r>
              <a:rPr lang="en-US" altLang="ko-KR" dirty="0"/>
              <a:t>(</a:t>
            </a:r>
            <a:r>
              <a:rPr lang="ko-KR" altLang="en-US" dirty="0"/>
              <a:t>외래</a:t>
            </a:r>
            <a:r>
              <a:rPr lang="en-US" altLang="ko-KR" dirty="0"/>
              <a:t>),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종</a:t>
            </a:r>
            <a:r>
              <a:rPr lang="en-US" altLang="ko-KR" dirty="0"/>
              <a:t>(</a:t>
            </a:r>
            <a:r>
              <a:rPr lang="ko-KR" altLang="en-US" dirty="0"/>
              <a:t>돌발</a:t>
            </a:r>
            <a:r>
              <a:rPr lang="en-US" altLang="ko-KR" dirty="0"/>
              <a:t>), 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종</a:t>
            </a:r>
            <a:r>
              <a:rPr lang="en-US" altLang="ko-KR" dirty="0"/>
              <a:t>(</a:t>
            </a:r>
            <a:r>
              <a:rPr lang="ko-KR" altLang="en-US" dirty="0"/>
              <a:t>일반</a:t>
            </a:r>
            <a:r>
              <a:rPr lang="en-US" altLang="ko-KR" dirty="0"/>
              <a:t>)</a:t>
            </a:r>
            <a:r>
              <a:rPr lang="ko-KR" altLang="en-US" dirty="0"/>
              <a:t>으로 구분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 err="1"/>
              <a:t>ㅇ</a:t>
            </a:r>
            <a:r>
              <a:rPr lang="en-US" altLang="ko-KR" dirty="0"/>
              <a:t>. </a:t>
            </a:r>
            <a:r>
              <a:rPr lang="ko-KR" altLang="en-US" dirty="0"/>
              <a:t>제 </a:t>
            </a:r>
            <a:r>
              <a:rPr lang="en-US" altLang="ko-KR" dirty="0"/>
              <a:t>1, 2</a:t>
            </a:r>
            <a:r>
              <a:rPr lang="ko-KR" altLang="en-US" dirty="0"/>
              <a:t>종을 국가 또는 </a:t>
            </a:r>
            <a:r>
              <a:rPr lang="ko-KR" altLang="en-US" dirty="0" err="1"/>
              <a:t>지자체의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     </a:t>
            </a:r>
            <a:r>
              <a:rPr lang="ko-KR" altLang="en-US" dirty="0"/>
              <a:t>방제대상 병해충으로함</a:t>
            </a:r>
            <a:endParaRPr lang="en-US" altLang="ko-KR" dirty="0"/>
          </a:p>
          <a:p>
            <a:r>
              <a:rPr lang="en-US" altLang="ko-KR" dirty="0"/>
              <a:t>    </a:t>
            </a:r>
            <a:endParaRPr lang="ko-KR" alt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4282" y="4286256"/>
            <a:ext cx="4214842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/>
          <p:cNvSpPr/>
          <p:nvPr/>
        </p:nvSpPr>
        <p:spPr bwMode="auto">
          <a:xfrm>
            <a:off x="500034" y="5072074"/>
            <a:ext cx="8358246" cy="1369464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</a:endParaRPr>
          </a:p>
        </p:txBody>
      </p:sp>
      <p:sp>
        <p:nvSpPr>
          <p:cNvPr id="117" name="직사각형 116"/>
          <p:cNvSpPr/>
          <p:nvPr/>
        </p:nvSpPr>
        <p:spPr bwMode="auto">
          <a:xfrm>
            <a:off x="4659158" y="3790526"/>
            <a:ext cx="2571768" cy="5715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</a:endParaRPr>
          </a:p>
        </p:txBody>
      </p:sp>
      <p:sp>
        <p:nvSpPr>
          <p:cNvPr id="107" name="직사각형 106"/>
          <p:cNvSpPr/>
          <p:nvPr/>
        </p:nvSpPr>
        <p:spPr bwMode="auto">
          <a:xfrm>
            <a:off x="1301572" y="3790526"/>
            <a:ext cx="3000396" cy="5715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28628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91004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algn="ctr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예찰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모델 베이스 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59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9214" y="2069228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 err="1"/>
              <a:t>예찰</a:t>
            </a:r>
            <a:r>
              <a:rPr lang="ko-KR" altLang="en-US" b="1" u="sng" dirty="0"/>
              <a:t> 모델 구성도</a:t>
            </a:r>
          </a:p>
        </p:txBody>
      </p:sp>
      <p:sp>
        <p:nvSpPr>
          <p:cNvPr id="94" name="직사각형 93"/>
          <p:cNvSpPr/>
          <p:nvPr/>
        </p:nvSpPr>
        <p:spPr bwMode="auto">
          <a:xfrm>
            <a:off x="3444712" y="2504642"/>
            <a:ext cx="2143140" cy="10001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rPr>
              <a:t>병해충예찰모델</a:t>
            </a:r>
            <a:endParaRPr kumimoji="1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dirty="0">
                <a:solidFill>
                  <a:schemeClr val="tx1"/>
                </a:solidFill>
                <a:latin typeface="굴림" charset="-127"/>
                <a:ea typeface="굴림" charset="-127"/>
              </a:rPr>
              <a:t>(</a:t>
            </a:r>
            <a:r>
              <a:rPr kumimoji="1" lang="ko-KR" altLang="en-US" sz="1400" dirty="0" err="1">
                <a:solidFill>
                  <a:schemeClr val="tx1"/>
                </a:solidFill>
                <a:latin typeface="굴림" charset="-127"/>
                <a:ea typeface="굴림" charset="-127"/>
              </a:rPr>
              <a:t>국가간이동성경로예측모델포함</a:t>
            </a:r>
            <a:r>
              <a:rPr kumimoji="1" lang="en-US" altLang="ko-KR" sz="1400" dirty="0">
                <a:solidFill>
                  <a:schemeClr val="tx1"/>
                </a:solidFill>
                <a:latin typeface="굴림" charset="-127"/>
                <a:ea typeface="굴림" charset="-127"/>
              </a:rPr>
              <a:t>)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</a:endParaRPr>
          </a:p>
        </p:txBody>
      </p:sp>
      <p:sp>
        <p:nvSpPr>
          <p:cNvPr id="98" name="원통 97"/>
          <p:cNvSpPr/>
          <p:nvPr/>
        </p:nvSpPr>
        <p:spPr bwMode="auto">
          <a:xfrm>
            <a:off x="1087258" y="2433204"/>
            <a:ext cx="1428760" cy="1071570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1" lang="ko-KR" altLang="en-US" sz="1400" b="1" dirty="0">
                <a:latin typeface="굴림" charset="-127"/>
                <a:ea typeface="굴림" charset="-127"/>
              </a:rPr>
              <a:t>농업기상</a:t>
            </a:r>
            <a:endParaRPr kumimoji="1" lang="en-US" altLang="ko-KR" sz="1400" b="1" dirty="0">
              <a:latin typeface="굴림" charset="-127"/>
              <a:ea typeface="굴림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ko-KR" altLang="en-US" sz="1400" b="1" dirty="0" err="1">
                <a:latin typeface="굴림" charset="-127"/>
                <a:ea typeface="굴림" charset="-127"/>
              </a:rPr>
              <a:t>종관기상</a:t>
            </a:r>
            <a:endParaRPr kumimoji="1" lang="en-US" altLang="ko-KR" sz="1400" b="1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1" lang="ko-KR" altLang="en-US" sz="1400" b="1" dirty="0">
                <a:latin typeface="굴림" charset="-127"/>
                <a:ea typeface="굴림" charset="-127"/>
              </a:rPr>
              <a:t>읍면동 예보</a:t>
            </a:r>
          </a:p>
        </p:txBody>
      </p:sp>
      <p:sp>
        <p:nvSpPr>
          <p:cNvPr id="99" name="순서도: 문서 98"/>
          <p:cNvSpPr/>
          <p:nvPr/>
        </p:nvSpPr>
        <p:spPr bwMode="auto">
          <a:xfrm>
            <a:off x="6373670" y="2433204"/>
            <a:ext cx="1714512" cy="1143008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rPr>
              <a:t>지역별 품목별 </a:t>
            </a:r>
            <a:r>
              <a:rPr kumimoji="1" lang="ko-KR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rPr>
              <a:t>병해충별</a:t>
            </a:r>
            <a:r>
              <a: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rPr>
              <a:t> 위험도 분석</a:t>
            </a:r>
          </a:p>
        </p:txBody>
      </p:sp>
      <p:cxnSp>
        <p:nvCxnSpPr>
          <p:cNvPr id="101" name="직선 화살표 연결선 100"/>
          <p:cNvCxnSpPr>
            <a:stCxn id="94" idx="3"/>
            <a:endCxn id="99" idx="1"/>
          </p:cNvCxnSpPr>
          <p:nvPr/>
        </p:nvCxnSpPr>
        <p:spPr bwMode="auto">
          <a:xfrm>
            <a:off x="5587852" y="3004708"/>
            <a:ext cx="785818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4" name="직선 화살표 연결선 103"/>
          <p:cNvCxnSpPr/>
          <p:nvPr/>
        </p:nvCxnSpPr>
        <p:spPr bwMode="auto">
          <a:xfrm>
            <a:off x="2516018" y="3004708"/>
            <a:ext cx="928694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1373010" y="3861964"/>
            <a:ext cx="289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기상청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종관기상</a:t>
            </a:r>
            <a:r>
              <a:rPr lang="en-US" altLang="ko-KR" sz="1400" dirty="0"/>
              <a:t>,</a:t>
            </a:r>
            <a:r>
              <a:rPr lang="ko-KR" altLang="en-US" sz="1400" dirty="0" err="1"/>
              <a:t>읍면동</a:t>
            </a:r>
            <a:r>
              <a:rPr lang="ko-KR" altLang="en-US" sz="1400" dirty="0"/>
              <a:t> 예보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농촌진흥청</a:t>
            </a:r>
            <a:r>
              <a:rPr lang="en-US" altLang="ko-KR" sz="1400" dirty="0"/>
              <a:t>(</a:t>
            </a:r>
            <a:r>
              <a:rPr lang="ko-KR" altLang="en-US" sz="1400" dirty="0"/>
              <a:t>농업기상정보</a:t>
            </a:r>
            <a:r>
              <a:rPr lang="en-US" altLang="ko-KR" sz="1400" dirty="0"/>
              <a:t>)</a:t>
            </a:r>
            <a:r>
              <a:rPr lang="ko-KR" altLang="en-US" sz="1400" dirty="0" err="1"/>
              <a:t>등선택</a:t>
            </a:r>
            <a:endParaRPr lang="ko-KR" altLang="en-US" sz="1400" dirty="0"/>
          </a:p>
        </p:txBody>
      </p:sp>
      <p:cxnSp>
        <p:nvCxnSpPr>
          <p:cNvPr id="109" name="직선 화살표 연결선 108"/>
          <p:cNvCxnSpPr/>
          <p:nvPr/>
        </p:nvCxnSpPr>
        <p:spPr bwMode="auto">
          <a:xfrm rot="5400000" flipH="1" flipV="1">
            <a:off x="2588254" y="3361902"/>
            <a:ext cx="713578" cy="794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4659158" y="3790526"/>
            <a:ext cx="2643206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sz="1400" dirty="0"/>
              <a:t>   </a:t>
            </a:r>
            <a:r>
              <a:rPr lang="ko-KR" altLang="en-US" sz="1400" dirty="0" err="1">
                <a:solidFill>
                  <a:schemeClr val="tx1"/>
                </a:solidFill>
              </a:rPr>
              <a:t>작목별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  <a:r>
              <a:rPr lang="ko-KR" altLang="en-US" sz="1400" dirty="0">
                <a:solidFill>
                  <a:schemeClr val="tx1"/>
                </a:solidFill>
              </a:rPr>
              <a:t> 시기별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  <a:r>
              <a:rPr lang="ko-KR" altLang="en-US" sz="1400" dirty="0">
                <a:solidFill>
                  <a:schemeClr val="tx1"/>
                </a:solidFill>
              </a:rPr>
              <a:t> 지역별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</a:rPr>
              <a:t>병해충 종류 위험도 등 선택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555812" y="5125582"/>
            <a:ext cx="8247529" cy="12557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4138" indent="-84138">
              <a:spcBef>
                <a:spcPct val="20000"/>
              </a:spcBef>
              <a:buFontTx/>
              <a:buChar char="•"/>
            </a:pPr>
            <a:r>
              <a:rPr lang="ko-KR" altLang="en-US" dirty="0"/>
              <a:t> </a:t>
            </a:r>
            <a:r>
              <a:rPr lang="ko-KR" altLang="en-US" sz="1400" dirty="0"/>
              <a:t>입력 자료 </a:t>
            </a:r>
            <a:r>
              <a:rPr lang="en-US" altLang="ko-KR" sz="1400" dirty="0"/>
              <a:t>: </a:t>
            </a:r>
            <a:r>
              <a:rPr lang="ko-KR" altLang="en-US" sz="1400" dirty="0"/>
              <a:t>년 월 일시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법정동</a:t>
            </a:r>
            <a:r>
              <a:rPr lang="ko-KR" altLang="en-US" sz="1400" dirty="0"/>
              <a:t> 코드</a:t>
            </a:r>
            <a:r>
              <a:rPr lang="en-US" altLang="ko-KR" sz="1400" dirty="0"/>
              <a:t>, </a:t>
            </a:r>
            <a:r>
              <a:rPr lang="ko-KR" altLang="en-US" sz="1400" dirty="0"/>
              <a:t>지대코드</a:t>
            </a:r>
            <a:r>
              <a:rPr lang="en-US" altLang="ko-KR" sz="1400" dirty="0"/>
              <a:t>, </a:t>
            </a:r>
            <a:r>
              <a:rPr lang="ko-KR" altLang="en-US" sz="1400" dirty="0"/>
              <a:t>일별평균기온</a:t>
            </a:r>
            <a:r>
              <a:rPr lang="en-US" altLang="ko-KR" sz="1400" dirty="0"/>
              <a:t>, </a:t>
            </a:r>
            <a:r>
              <a:rPr lang="ko-KR" altLang="en-US" sz="1400" dirty="0"/>
              <a:t>일별평균상대습도</a:t>
            </a:r>
            <a:r>
              <a:rPr lang="en-US" altLang="ko-KR" sz="1400" dirty="0"/>
              <a:t>, 5</a:t>
            </a:r>
            <a:r>
              <a:rPr lang="ko-KR" altLang="en-US" sz="1400" dirty="0"/>
              <a:t>일 온도 이동 </a:t>
            </a:r>
            <a:endParaRPr lang="en-US" altLang="ko-KR" sz="1400" dirty="0"/>
          </a:p>
          <a:p>
            <a:pPr marL="84138" indent="-84138">
              <a:spcBef>
                <a:spcPct val="20000"/>
              </a:spcBef>
            </a:pPr>
            <a:r>
              <a:rPr lang="en-US" altLang="ko-KR" sz="1400" dirty="0"/>
              <a:t>                   </a:t>
            </a:r>
            <a:r>
              <a:rPr lang="ko-KR" altLang="en-US" sz="1400" dirty="0"/>
              <a:t>평균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시간별평균기온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시간별평균상대습도</a:t>
            </a:r>
            <a:endParaRPr lang="en-US" altLang="ko-KR" sz="1400" dirty="0"/>
          </a:p>
          <a:p>
            <a:pPr marL="84138" indent="-84138">
              <a:spcBef>
                <a:spcPct val="20000"/>
              </a:spcBef>
              <a:buFontTx/>
              <a:buChar char="•"/>
            </a:pPr>
            <a:r>
              <a:rPr lang="en-US" altLang="ko-KR" dirty="0"/>
              <a:t> </a:t>
            </a:r>
            <a:r>
              <a:rPr lang="ko-KR" altLang="en-US" sz="1400" dirty="0"/>
              <a:t>프로세스 </a:t>
            </a:r>
            <a:r>
              <a:rPr lang="en-US" altLang="ko-KR" sz="1400" dirty="0"/>
              <a:t>: </a:t>
            </a:r>
            <a:r>
              <a:rPr lang="ko-KR" altLang="en-US" sz="1400" dirty="0"/>
              <a:t>인과 관계분석기법 활용</a:t>
            </a:r>
            <a:endParaRPr lang="en-US" altLang="ko-KR" dirty="0"/>
          </a:p>
          <a:p>
            <a:pPr marL="84138" indent="-84138">
              <a:spcBef>
                <a:spcPct val="20000"/>
              </a:spcBef>
              <a:buFontTx/>
              <a:buChar char="•"/>
            </a:pPr>
            <a:r>
              <a:rPr lang="en-US" altLang="ko-KR" sz="1600" dirty="0"/>
              <a:t> </a:t>
            </a:r>
            <a:r>
              <a:rPr lang="ko-KR" altLang="en-US" sz="1400" dirty="0"/>
              <a:t>출력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잎집무늬마름병</a:t>
            </a:r>
            <a:r>
              <a:rPr lang="ko-KR" altLang="en-US" sz="1400" dirty="0"/>
              <a:t> 온도기반 균사 생장률</a:t>
            </a:r>
            <a:r>
              <a:rPr lang="en-US" altLang="ko-KR" sz="1400" dirty="0"/>
              <a:t>, </a:t>
            </a:r>
            <a:r>
              <a:rPr lang="ko-KR" altLang="en-US" sz="1400" dirty="0"/>
              <a:t>도열병습윤시간</a:t>
            </a:r>
            <a:r>
              <a:rPr lang="en-US" altLang="ko-KR" sz="1400" dirty="0"/>
              <a:t>, </a:t>
            </a:r>
            <a:r>
              <a:rPr lang="ko-KR" altLang="en-US" sz="1400" dirty="0"/>
              <a:t>도열병 </a:t>
            </a:r>
            <a:r>
              <a:rPr lang="ko-KR" altLang="en-US" sz="1400" dirty="0" err="1"/>
              <a:t>시간별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경고수준외</a:t>
            </a:r>
            <a:endParaRPr lang="en-US" altLang="ko-KR" sz="1600" dirty="0"/>
          </a:p>
        </p:txBody>
      </p:sp>
      <p:sp>
        <p:nvSpPr>
          <p:cNvPr id="132" name="직사각형 131"/>
          <p:cNvSpPr/>
          <p:nvPr/>
        </p:nvSpPr>
        <p:spPr>
          <a:xfrm>
            <a:off x="412588" y="4631304"/>
            <a:ext cx="5176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u="sng" dirty="0"/>
              <a:t>벼 병해 예측모형의 입출력 자료 및 프로세스 </a:t>
            </a:r>
            <a:r>
              <a:rPr lang="en-US" altLang="ko-KR" b="1" u="sng" dirty="0"/>
              <a:t>(</a:t>
            </a:r>
            <a:r>
              <a:rPr lang="ko-KR" altLang="en-US" b="1" u="sng" dirty="0"/>
              <a:t>예</a:t>
            </a:r>
            <a:r>
              <a:rPr lang="en-US" altLang="ko-KR" b="1" u="sng" dirty="0"/>
              <a:t>)</a:t>
            </a:r>
            <a:endParaRPr lang="ko-KR" altLang="en-US" b="1" u="sng" dirty="0"/>
          </a:p>
        </p:txBody>
      </p:sp>
      <p:sp>
        <p:nvSpPr>
          <p:cNvPr id="30" name="TextBox 4"/>
          <p:cNvSpPr txBox="1">
            <a:spLocks noChangeArrowheads="1"/>
          </p:cNvSpPr>
          <p:nvPr/>
        </p:nvSpPr>
        <p:spPr bwMode="auto">
          <a:xfrm>
            <a:off x="142875" y="636420"/>
            <a:ext cx="850741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sz="1200" dirty="0"/>
              <a:t> </a:t>
            </a:r>
            <a:r>
              <a:rPr lang="ko-KR" altLang="en-US" sz="1400" b="1" dirty="0"/>
              <a:t>전담 및 협조</a:t>
            </a:r>
            <a:endParaRPr lang="en-US" altLang="ko-KR" sz="1400" b="1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전담 </a:t>
            </a:r>
            <a:r>
              <a:rPr lang="en-US" altLang="ko-KR" sz="1200" dirty="0"/>
              <a:t>: </a:t>
            </a:r>
            <a:r>
              <a:rPr lang="ko-KR" altLang="en-US" sz="1200" dirty="0"/>
              <a:t>국립농업과학원</a:t>
            </a:r>
            <a:endParaRPr lang="en-US" altLang="ko-KR" sz="1200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협조 </a:t>
            </a:r>
            <a:r>
              <a:rPr lang="en-US" altLang="ko-KR" sz="1200" dirty="0"/>
              <a:t>: </a:t>
            </a:r>
            <a:r>
              <a:rPr lang="ko-KR" altLang="en-US" sz="1200" dirty="0"/>
              <a:t>국립식량과학원</a:t>
            </a:r>
            <a:r>
              <a:rPr lang="en-US" altLang="ko-KR" sz="1200" dirty="0"/>
              <a:t>, </a:t>
            </a:r>
            <a:r>
              <a:rPr lang="ko-KR" altLang="en-US" sz="1200" dirty="0"/>
              <a:t>국립원예특작과학원</a:t>
            </a:r>
          </a:p>
        </p:txBody>
      </p:sp>
      <p:sp>
        <p:nvSpPr>
          <p:cNvPr id="31" name="TextBox 4"/>
          <p:cNvSpPr txBox="1">
            <a:spLocks noChangeArrowheads="1"/>
          </p:cNvSpPr>
          <p:nvPr/>
        </p:nvSpPr>
        <p:spPr bwMode="auto">
          <a:xfrm>
            <a:off x="136553" y="1248916"/>
            <a:ext cx="8507413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sz="1200" dirty="0"/>
              <a:t> </a:t>
            </a:r>
            <a:r>
              <a:rPr lang="ko-KR" altLang="en-US" sz="1400" b="1" dirty="0"/>
              <a:t>시스템화 방안</a:t>
            </a:r>
            <a:endParaRPr lang="en-US" altLang="ko-KR" sz="1400" b="1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분산시스템 </a:t>
            </a:r>
            <a:r>
              <a:rPr lang="en-US" altLang="ko-KR" sz="1200" dirty="0"/>
              <a:t>-&gt; </a:t>
            </a:r>
            <a:r>
              <a:rPr lang="ko-KR" altLang="en-US" sz="1200" dirty="0"/>
              <a:t>통합시스템</a:t>
            </a:r>
            <a:endParaRPr lang="en-US" altLang="ko-KR" sz="1200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모델 정밀도 향상</a:t>
            </a:r>
            <a:endParaRPr lang="en-US" altLang="ko-KR" sz="1200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적용 </a:t>
            </a:r>
            <a:r>
              <a:rPr lang="en-US" altLang="ko-KR" sz="1200" dirty="0"/>
              <a:t>DB : </a:t>
            </a:r>
            <a:r>
              <a:rPr lang="ko-KR" altLang="en-US" sz="1200" dirty="0" err="1"/>
              <a:t>종관기상</a:t>
            </a:r>
            <a:r>
              <a:rPr lang="ko-KR" altLang="en-US" sz="1200" dirty="0"/>
              <a:t> </a:t>
            </a:r>
            <a:r>
              <a:rPr lang="en-US" altLang="ko-KR" sz="1200" dirty="0"/>
              <a:t>-&gt; </a:t>
            </a:r>
            <a:r>
              <a:rPr lang="ko-KR" altLang="en-US" sz="1200" dirty="0"/>
              <a:t>농업기상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읍면동</a:t>
            </a:r>
            <a:r>
              <a:rPr lang="ko-KR" altLang="en-US" sz="1200" dirty="0"/>
              <a:t> 기상 등으로 확대 적용</a:t>
            </a:r>
          </a:p>
        </p:txBody>
      </p:sp>
      <p:cxnSp>
        <p:nvCxnSpPr>
          <p:cNvPr id="48" name="직선 화살표 연결선 47"/>
          <p:cNvCxnSpPr/>
          <p:nvPr/>
        </p:nvCxnSpPr>
        <p:spPr bwMode="auto">
          <a:xfrm rot="16200000" flipV="1">
            <a:off x="5510345" y="3355827"/>
            <a:ext cx="726521" cy="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64347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4195796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algn="ctr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병해충 데이터 베이스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67" name="직사각형 66"/>
          <p:cNvSpPr/>
          <p:nvPr/>
        </p:nvSpPr>
        <p:spPr bwMode="auto">
          <a:xfrm>
            <a:off x="500034" y="5420028"/>
            <a:ext cx="8358246" cy="92869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굴림" charset="-127"/>
              <a:ea typeface="굴림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71472" y="5512463"/>
            <a:ext cx="8215370" cy="75074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marL="84138" indent="-84138">
              <a:spcBef>
                <a:spcPct val="20000"/>
              </a:spcBef>
              <a:buFontTx/>
              <a:buChar char="•"/>
            </a:pPr>
            <a:r>
              <a:rPr lang="en-US" altLang="ko-KR" sz="1500" dirty="0">
                <a:solidFill>
                  <a:schemeClr val="tx1"/>
                </a:solidFill>
              </a:rPr>
              <a:t> 3</a:t>
            </a:r>
            <a:r>
              <a:rPr lang="ko-KR" altLang="en-US" sz="1500" dirty="0">
                <a:solidFill>
                  <a:schemeClr val="tx1"/>
                </a:solidFill>
              </a:rPr>
              <a:t>종류의 데이터베이스의 성격상 물리적 통합보다 응용기능 중심으로 개편</a:t>
            </a:r>
            <a:endParaRPr lang="en-US" altLang="ko-KR" sz="1500" dirty="0">
              <a:solidFill>
                <a:schemeClr val="tx1"/>
              </a:solidFill>
            </a:endParaRPr>
          </a:p>
          <a:p>
            <a:pPr marL="84138" indent="-84138">
              <a:spcBef>
                <a:spcPct val="20000"/>
              </a:spcBef>
              <a:buFontTx/>
              <a:buChar char="•"/>
            </a:pPr>
            <a:r>
              <a:rPr lang="en-US" altLang="ko-KR" sz="1500" dirty="0">
                <a:solidFill>
                  <a:schemeClr val="tx1"/>
                </a:solidFill>
              </a:rPr>
              <a:t> </a:t>
            </a:r>
            <a:r>
              <a:rPr lang="ko-KR" altLang="en-US" sz="1500" dirty="0">
                <a:solidFill>
                  <a:schemeClr val="tx1"/>
                </a:solidFill>
              </a:rPr>
              <a:t>개발언어</a:t>
            </a:r>
            <a:r>
              <a:rPr lang="en-US" altLang="ko-KR" sz="1500" dirty="0">
                <a:solidFill>
                  <a:schemeClr val="tx1"/>
                </a:solidFill>
              </a:rPr>
              <a:t>,</a:t>
            </a:r>
            <a:r>
              <a:rPr lang="ko-KR" altLang="en-US" sz="1500" dirty="0">
                <a:solidFill>
                  <a:schemeClr val="tx1"/>
                </a:solidFill>
              </a:rPr>
              <a:t> 데이터베이스 등 병해충 관련 개발환경 표준화 </a:t>
            </a:r>
            <a:r>
              <a:rPr lang="en-US" altLang="ko-KR" sz="15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9" name="TextBox 4"/>
          <p:cNvSpPr txBox="1">
            <a:spLocks noChangeArrowheads="1"/>
          </p:cNvSpPr>
          <p:nvPr/>
        </p:nvSpPr>
        <p:spPr bwMode="auto">
          <a:xfrm>
            <a:off x="142875" y="642918"/>
            <a:ext cx="85074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sz="1200" dirty="0"/>
              <a:t> </a:t>
            </a:r>
            <a:r>
              <a:rPr lang="ko-KR" altLang="en-US" sz="1400" b="1" dirty="0"/>
              <a:t>전담 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국립농업과학원</a:t>
            </a:r>
            <a:endParaRPr lang="ko-KR" altLang="en-US" sz="1200" dirty="0"/>
          </a:p>
        </p:txBody>
      </p:sp>
      <p:grpSp>
        <p:nvGrpSpPr>
          <p:cNvPr id="42" name="그룹 41"/>
          <p:cNvGrpSpPr/>
          <p:nvPr/>
        </p:nvGrpSpPr>
        <p:grpSpPr>
          <a:xfrm>
            <a:off x="456304" y="1592976"/>
            <a:ext cx="8429684" cy="3637996"/>
            <a:chOff x="357158" y="916528"/>
            <a:chExt cx="8429684" cy="3637996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428596" y="2428869"/>
              <a:ext cx="8358246" cy="14192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57158" y="916528"/>
              <a:ext cx="3348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u="sng" dirty="0"/>
                <a:t>병해충 데이터베이스 관리체계</a:t>
              </a:r>
            </a:p>
          </p:txBody>
        </p:sp>
        <p:sp>
          <p:nvSpPr>
            <p:cNvPr id="98" name="원통 97"/>
            <p:cNvSpPr/>
            <p:nvPr/>
          </p:nvSpPr>
          <p:spPr bwMode="auto">
            <a:xfrm>
              <a:off x="1071538" y="2562221"/>
              <a:ext cx="1643074" cy="1071570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indent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1" lang="ko-KR" altLang="en-US" sz="1400" b="1" dirty="0">
                  <a:solidFill>
                    <a:schemeClr val="lt1"/>
                  </a:solidFill>
                  <a:latin typeface="굴림" charset="-127"/>
                  <a:ea typeface="굴림" charset="-127"/>
                </a:rPr>
                <a:t>곤충표본관 </a:t>
              </a:r>
              <a:r>
                <a:rPr kumimoji="1" lang="en-US" altLang="ko-KR" sz="1400" b="1" dirty="0">
                  <a:solidFill>
                    <a:schemeClr val="lt1"/>
                  </a:solidFill>
                  <a:latin typeface="굴림" charset="-127"/>
                  <a:ea typeface="굴림" charset="-127"/>
                </a:rPr>
                <a:t>DB</a:t>
              </a:r>
              <a:endParaRPr kumimoji="1" lang="ko-KR" altLang="en-US" sz="1400" b="1" dirty="0">
                <a:solidFill>
                  <a:schemeClr val="lt1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31" name="원통 30"/>
            <p:cNvSpPr/>
            <p:nvPr/>
          </p:nvSpPr>
          <p:spPr bwMode="auto">
            <a:xfrm>
              <a:off x="3500430" y="2562221"/>
              <a:ext cx="1643074" cy="1071570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kumimoji="1" lang="ko-KR" altLang="en-US" sz="1400" b="1" dirty="0">
                  <a:solidFill>
                    <a:schemeClr val="lt1"/>
                  </a:solidFill>
                  <a:latin typeface="굴림" charset="-127"/>
                  <a:ea typeface="굴림" charset="-127"/>
                </a:rPr>
                <a:t>농작물병해분류생태정보 </a:t>
              </a:r>
              <a:r>
                <a:rPr kumimoji="1" lang="en-US" altLang="ko-KR" sz="1400" b="1" dirty="0">
                  <a:solidFill>
                    <a:schemeClr val="lt1"/>
                  </a:solidFill>
                  <a:latin typeface="굴림" charset="-127"/>
                  <a:ea typeface="굴림" charset="-127"/>
                </a:rPr>
                <a:t>DB</a:t>
              </a:r>
              <a:endParaRPr kumimoji="1" lang="ko-KR" altLang="en-US" sz="1400" b="1" dirty="0">
                <a:solidFill>
                  <a:schemeClr val="lt1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33" name="원통 32"/>
            <p:cNvSpPr/>
            <p:nvPr/>
          </p:nvSpPr>
          <p:spPr bwMode="auto">
            <a:xfrm>
              <a:off x="5929322" y="2562221"/>
              <a:ext cx="1643074" cy="1071570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Char char="•"/>
              </a:pPr>
              <a:r>
                <a:rPr kumimoji="1" lang="ko-KR" altLang="en-US" sz="1400" b="1" dirty="0">
                  <a:solidFill>
                    <a:schemeClr val="lt1"/>
                  </a:solidFill>
                  <a:latin typeface="굴림" charset="-127"/>
                  <a:ea typeface="굴림" charset="-127"/>
                </a:rPr>
                <a:t>잡초마당 </a:t>
              </a:r>
              <a:r>
                <a:rPr kumimoji="1" lang="en-US" altLang="ko-KR" sz="1400" b="1" dirty="0">
                  <a:solidFill>
                    <a:schemeClr val="lt1"/>
                  </a:solidFill>
                  <a:latin typeface="굴림" charset="-127"/>
                  <a:ea typeface="굴림" charset="-127"/>
                </a:rPr>
                <a:t>DB</a:t>
              </a:r>
            </a:p>
          </p:txBody>
        </p:sp>
        <p:cxnSp>
          <p:nvCxnSpPr>
            <p:cNvPr id="40" name="직선 연결선 39"/>
            <p:cNvCxnSpPr>
              <a:stCxn id="60" idx="2"/>
              <a:endCxn id="98" idx="1"/>
            </p:cNvCxnSpPr>
            <p:nvPr/>
          </p:nvCxnSpPr>
          <p:spPr bwMode="auto">
            <a:xfrm rot="5400000">
              <a:off x="1719242" y="2388387"/>
              <a:ext cx="347667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직선 연결선 46"/>
            <p:cNvCxnSpPr>
              <a:stCxn id="69" idx="2"/>
              <a:endCxn id="31" idx="1"/>
            </p:cNvCxnSpPr>
            <p:nvPr/>
          </p:nvCxnSpPr>
          <p:spPr bwMode="auto">
            <a:xfrm rot="5400000">
              <a:off x="4148134" y="2388387"/>
              <a:ext cx="347667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직선 연결선 49"/>
            <p:cNvCxnSpPr>
              <a:stCxn id="71" idx="2"/>
              <a:endCxn id="33" idx="1"/>
            </p:cNvCxnSpPr>
            <p:nvPr/>
          </p:nvCxnSpPr>
          <p:spPr bwMode="auto">
            <a:xfrm rot="5400000">
              <a:off x="6577026" y="2388387"/>
              <a:ext cx="347667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직선 연결선 55"/>
            <p:cNvCxnSpPr>
              <a:stCxn id="98" idx="3"/>
            </p:cNvCxnSpPr>
            <p:nvPr/>
          </p:nvCxnSpPr>
          <p:spPr bwMode="auto">
            <a:xfrm rot="16200000" flipH="1">
              <a:off x="2830214" y="2696651"/>
              <a:ext cx="524061" cy="239833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직선 연결선 58"/>
            <p:cNvCxnSpPr>
              <a:stCxn id="31" idx="3"/>
            </p:cNvCxnSpPr>
            <p:nvPr/>
          </p:nvCxnSpPr>
          <p:spPr bwMode="auto">
            <a:xfrm rot="5400000">
              <a:off x="4038801" y="3893515"/>
              <a:ext cx="542890" cy="234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직선 연결선 61"/>
            <p:cNvCxnSpPr>
              <a:stCxn id="33" idx="3"/>
            </p:cNvCxnSpPr>
            <p:nvPr/>
          </p:nvCxnSpPr>
          <p:spPr bwMode="auto">
            <a:xfrm rot="5400000">
              <a:off x="5259107" y="2666099"/>
              <a:ext cx="524061" cy="245944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3" name="Group 173"/>
            <p:cNvGrpSpPr>
              <a:grpSpLocks/>
            </p:cNvGrpSpPr>
            <p:nvPr/>
          </p:nvGrpSpPr>
          <p:grpSpPr bwMode="auto">
            <a:xfrm>
              <a:off x="3071802" y="4157852"/>
              <a:ext cx="2439223" cy="396672"/>
              <a:chOff x="7275" y="1622"/>
              <a:chExt cx="1372" cy="316"/>
            </a:xfrm>
          </p:grpSpPr>
          <p:sp>
            <p:nvSpPr>
              <p:cNvPr id="55" name="AutoShape 174"/>
              <p:cNvSpPr>
                <a:spLocks noChangeArrowheads="1"/>
              </p:cNvSpPr>
              <p:nvPr/>
            </p:nvSpPr>
            <p:spPr bwMode="auto">
              <a:xfrm>
                <a:off x="7275" y="1622"/>
                <a:ext cx="1372" cy="316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7BA7D3"/>
                  </a:gs>
                  <a:gs pos="100000">
                    <a:srgbClr val="D7E4F2"/>
                  </a:gs>
                </a:gsLst>
                <a:lin ang="5400000" scaled="1"/>
              </a:gradFill>
              <a:ln w="9525">
                <a:solidFill>
                  <a:srgbClr val="488CCA"/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6699"/>
                </a:outerShdw>
              </a:effectLst>
            </p:spPr>
            <p:txBody>
              <a:bodyPr wrap="none" lIns="83969" tIns="41985" rIns="83969" bIns="41985" anchor="ctr"/>
              <a:lstStyle/>
              <a:p>
                <a:pPr defTabSz="839788" eaLnBrk="0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itchFamily="2" charset="2"/>
                  <a:buChar char=""/>
                  <a:defRPr/>
                </a:pPr>
                <a:endParaRPr kumimoji="0" lang="ko-KR" altLang="en-US" sz="1000" dirty="0">
                  <a:latin typeface="휴먼신그래픽" pitchFamily="2" charset="-127"/>
                  <a:ea typeface="휴먼신그래픽" pitchFamily="2" charset="-127"/>
                </a:endParaRPr>
              </a:p>
            </p:txBody>
          </p:sp>
          <p:sp>
            <p:nvSpPr>
              <p:cNvPr id="57" name="AutoShape 175"/>
              <p:cNvSpPr>
                <a:spLocks noChangeArrowheads="1"/>
              </p:cNvSpPr>
              <p:nvPr/>
            </p:nvSpPr>
            <p:spPr bwMode="auto">
              <a:xfrm>
                <a:off x="7332" y="1637"/>
                <a:ext cx="1266" cy="9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AAC7E4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lIns="83969" tIns="41985" rIns="83969" bIns="41985" anchor="ctr"/>
              <a:lstStyle/>
              <a:p>
                <a:pPr defTabSz="839788" eaLnBrk="0" latinLnBrk="0" hangingPunct="0">
                  <a:lnSpc>
                    <a:spcPct val="130000"/>
                  </a:lnSpc>
                  <a:buFont typeface="Wingdings" pitchFamily="2" charset="2"/>
                  <a:buChar char=""/>
                </a:pPr>
                <a:endParaRPr kumimoji="0" lang="ko-KR" altLang="ko-KR" sz="1000">
                  <a:latin typeface="휴먼신그래픽"/>
                  <a:ea typeface="휴먼신그래픽"/>
                  <a:cs typeface="휴먼신그래픽"/>
                </a:endParaRPr>
              </a:p>
            </p:txBody>
          </p:sp>
          <p:sp>
            <p:nvSpPr>
              <p:cNvPr id="58" name="Text Box 176"/>
              <p:cNvSpPr txBox="1">
                <a:spLocks noChangeArrowheads="1"/>
              </p:cNvSpPr>
              <p:nvPr/>
            </p:nvSpPr>
            <p:spPr bwMode="auto">
              <a:xfrm>
                <a:off x="7436" y="1663"/>
                <a:ext cx="1085" cy="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83969" tIns="41985" rIns="83969" bIns="41985" anchor="ctr">
                <a:spAutoFit/>
              </a:bodyPr>
              <a:lstStyle/>
              <a:p>
                <a:pPr defTabSz="839788" eaLnBrk="0" latinLnBrk="0" hangingPunct="0"/>
                <a:r>
                  <a:rPr kumimoji="0" lang="ko-KR" altLang="en-US" sz="1500" b="1" dirty="0">
                    <a:latin typeface="굴림" pitchFamily="50" charset="-127"/>
                    <a:ea typeface="굴림" pitchFamily="50" charset="-127"/>
                    <a:cs typeface="휴먼신그래픽"/>
                  </a:rPr>
                  <a:t>종합병해충진단응용</a:t>
                </a:r>
              </a:p>
            </p:txBody>
          </p:sp>
        </p:grpSp>
        <p:sp>
          <p:nvSpPr>
            <p:cNvPr id="60" name="AutoShape 196"/>
            <p:cNvSpPr>
              <a:spLocks noChangeArrowheads="1"/>
            </p:cNvSpPr>
            <p:nvPr/>
          </p:nvSpPr>
          <p:spPr bwMode="auto">
            <a:xfrm>
              <a:off x="1214414" y="1357298"/>
              <a:ext cx="1357322" cy="85725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83969" tIns="41985" rIns="83969" bIns="41985" anchor="ctr"/>
            <a:lstStyle/>
            <a:p>
              <a:pPr algn="ctr" defTabSz="839788" eaLnBrk="0" latinLnBrk="0" hangingPunct="0"/>
              <a:r>
                <a:rPr kumimoji="0" lang="ko-KR" altLang="en-US" sz="1300" b="1" dirty="0">
                  <a:solidFill>
                    <a:schemeClr val="accent6">
                      <a:lumMod val="75000"/>
                    </a:schemeClr>
                  </a:solidFill>
                  <a:latin typeface="굴림" pitchFamily="50" charset="-127"/>
                  <a:ea typeface="굴림" pitchFamily="50" charset="-127"/>
                  <a:cs typeface="휴먼신그래픽"/>
                </a:rPr>
                <a:t>곤충표본관</a:t>
              </a:r>
              <a:endParaRPr kumimoji="0" lang="en-US" altLang="ko-KR" sz="1300" b="1" dirty="0">
                <a:solidFill>
                  <a:schemeClr val="accent6">
                    <a:lumMod val="75000"/>
                  </a:schemeClr>
                </a:solidFill>
                <a:latin typeface="굴림" pitchFamily="50" charset="-127"/>
                <a:ea typeface="굴림" pitchFamily="50" charset="-127"/>
                <a:cs typeface="휴먼신그래픽"/>
              </a:endParaRPr>
            </a:p>
            <a:p>
              <a:pPr algn="ctr" defTabSz="839788" eaLnBrk="0" latinLnBrk="0" hangingPunct="0"/>
              <a:r>
                <a:rPr lang="ko-KR" altLang="en-US" sz="1300" b="1" dirty="0">
                  <a:solidFill>
                    <a:schemeClr val="accent6">
                      <a:lumMod val="75000"/>
                    </a:schemeClr>
                  </a:solidFill>
                  <a:latin typeface="굴림" pitchFamily="50" charset="-127"/>
                  <a:ea typeface="굴림" pitchFamily="50" charset="-127"/>
                  <a:cs typeface="휴먼신그래픽"/>
                </a:rPr>
                <a:t>응용시스템</a:t>
              </a:r>
              <a:endParaRPr kumimoji="0" lang="ko-KR" altLang="en-US" sz="1300" b="1" dirty="0">
                <a:solidFill>
                  <a:schemeClr val="accent6">
                    <a:lumMod val="75000"/>
                  </a:schemeClr>
                </a:solidFill>
                <a:latin typeface="굴림" pitchFamily="50" charset="-127"/>
                <a:ea typeface="굴림" pitchFamily="50" charset="-127"/>
                <a:cs typeface="휴먼신그래픽"/>
              </a:endParaRPr>
            </a:p>
          </p:txBody>
        </p:sp>
        <p:sp>
          <p:nvSpPr>
            <p:cNvPr id="69" name="AutoShape 196"/>
            <p:cNvSpPr>
              <a:spLocks noChangeArrowheads="1"/>
            </p:cNvSpPr>
            <p:nvPr/>
          </p:nvSpPr>
          <p:spPr bwMode="auto">
            <a:xfrm>
              <a:off x="3643306" y="1357298"/>
              <a:ext cx="1357322" cy="85725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83969" tIns="41985" rIns="83969" bIns="41985" anchor="ctr"/>
            <a:lstStyle/>
            <a:p>
              <a:pPr algn="ctr" defTabSz="839788" eaLnBrk="0" latinLnBrk="0" hangingPunct="0"/>
              <a:r>
                <a:rPr lang="ko-KR" altLang="en-US" sz="1300" b="1" dirty="0">
                  <a:solidFill>
                    <a:schemeClr val="accent6">
                      <a:lumMod val="75000"/>
                    </a:schemeClr>
                  </a:solidFill>
                  <a:latin typeface="굴림" pitchFamily="50" charset="-127"/>
                  <a:ea typeface="굴림" pitchFamily="50" charset="-127"/>
                  <a:cs typeface="휴먼신그래픽"/>
                </a:rPr>
                <a:t>농작물병해분류생태정보</a:t>
              </a:r>
              <a:endParaRPr lang="en-US" altLang="ko-KR" sz="1300" b="1" dirty="0">
                <a:solidFill>
                  <a:schemeClr val="accent6">
                    <a:lumMod val="75000"/>
                  </a:schemeClr>
                </a:solidFill>
                <a:latin typeface="굴림" pitchFamily="50" charset="-127"/>
                <a:ea typeface="굴림" pitchFamily="50" charset="-127"/>
                <a:cs typeface="휴먼신그래픽"/>
              </a:endParaRPr>
            </a:p>
            <a:p>
              <a:pPr algn="ctr" defTabSz="839788" eaLnBrk="0" latinLnBrk="0" hangingPunct="0"/>
              <a:r>
                <a:rPr lang="ko-KR" altLang="en-US" sz="1300" b="1" dirty="0">
                  <a:solidFill>
                    <a:schemeClr val="accent6">
                      <a:lumMod val="75000"/>
                    </a:schemeClr>
                  </a:solidFill>
                  <a:latin typeface="굴림" pitchFamily="50" charset="-127"/>
                  <a:ea typeface="굴림" pitchFamily="50" charset="-127"/>
                  <a:cs typeface="휴먼신그래픽"/>
                </a:rPr>
                <a:t>응용시스템</a:t>
              </a:r>
            </a:p>
          </p:txBody>
        </p:sp>
        <p:sp>
          <p:nvSpPr>
            <p:cNvPr id="71" name="AutoShape 196"/>
            <p:cNvSpPr>
              <a:spLocks noChangeArrowheads="1"/>
            </p:cNvSpPr>
            <p:nvPr/>
          </p:nvSpPr>
          <p:spPr bwMode="auto">
            <a:xfrm>
              <a:off x="6072198" y="1357298"/>
              <a:ext cx="1357322" cy="85725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83969" tIns="41985" rIns="83969" bIns="41985" anchor="ctr"/>
            <a:lstStyle/>
            <a:p>
              <a:pPr algn="ctr" defTabSz="839788" eaLnBrk="0" latinLnBrk="0" hangingPunct="0"/>
              <a:r>
                <a:rPr lang="ko-KR" altLang="en-US" sz="1300" b="1" dirty="0">
                  <a:solidFill>
                    <a:schemeClr val="accent6">
                      <a:lumMod val="75000"/>
                    </a:schemeClr>
                  </a:solidFill>
                  <a:latin typeface="굴림" pitchFamily="50" charset="-127"/>
                  <a:ea typeface="굴림" pitchFamily="50" charset="-127"/>
                  <a:cs typeface="휴먼신그래픽"/>
                </a:rPr>
                <a:t>잡초마당</a:t>
              </a:r>
              <a:endParaRPr lang="en-US" altLang="ko-KR" sz="1300" b="1" dirty="0">
                <a:solidFill>
                  <a:schemeClr val="accent6">
                    <a:lumMod val="75000"/>
                  </a:schemeClr>
                </a:solidFill>
                <a:latin typeface="굴림" pitchFamily="50" charset="-127"/>
                <a:ea typeface="굴림" pitchFamily="50" charset="-127"/>
                <a:cs typeface="휴먼신그래픽"/>
              </a:endParaRPr>
            </a:p>
            <a:p>
              <a:pPr algn="ctr" defTabSz="839788" eaLnBrk="0" latinLnBrk="0" hangingPunct="0"/>
              <a:r>
                <a:rPr lang="ko-KR" altLang="en-US" sz="1300" b="1" dirty="0">
                  <a:solidFill>
                    <a:schemeClr val="accent6">
                      <a:lumMod val="75000"/>
                    </a:schemeClr>
                  </a:solidFill>
                  <a:latin typeface="굴림" pitchFamily="50" charset="-127"/>
                  <a:ea typeface="굴림" pitchFamily="50" charset="-127"/>
                  <a:cs typeface="휴먼신그래픽"/>
                </a:rPr>
                <a:t>응용시스템</a:t>
              </a:r>
            </a:p>
          </p:txBody>
        </p:sp>
      </p:grpSp>
      <p:sp>
        <p:nvSpPr>
          <p:cNvPr id="84" name="TextBox 4"/>
          <p:cNvSpPr txBox="1">
            <a:spLocks noChangeArrowheads="1"/>
          </p:cNvSpPr>
          <p:nvPr/>
        </p:nvSpPr>
        <p:spPr bwMode="auto">
          <a:xfrm>
            <a:off x="136553" y="910198"/>
            <a:ext cx="850741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sz="1200" dirty="0"/>
              <a:t> </a:t>
            </a:r>
            <a:r>
              <a:rPr lang="ko-KR" altLang="en-US" sz="1400" b="1" dirty="0"/>
              <a:t>시스템화 방안</a:t>
            </a:r>
            <a:endParaRPr lang="en-US" altLang="ko-KR" sz="1400" b="1" dirty="0"/>
          </a:p>
          <a:p>
            <a:r>
              <a:rPr lang="en-US" altLang="ko-KR" sz="1200" dirty="0"/>
              <a:t>    - </a:t>
            </a:r>
            <a:r>
              <a:rPr lang="ko-KR" altLang="en-US" sz="1200" dirty="0"/>
              <a:t>기존 </a:t>
            </a:r>
            <a:r>
              <a:rPr lang="en-US" altLang="ko-KR" sz="1200" dirty="0"/>
              <a:t>DB</a:t>
            </a:r>
            <a:r>
              <a:rPr lang="ko-KR" altLang="en-US" sz="1200" dirty="0"/>
              <a:t>를 활용한 기초진단지원</a:t>
            </a:r>
            <a:endParaRPr lang="en-US" altLang="ko-KR" sz="1200" dirty="0"/>
          </a:p>
          <a:p>
            <a:r>
              <a:rPr lang="en-US" altLang="ko-KR" sz="1200" dirty="0"/>
              <a:t>    - DB </a:t>
            </a:r>
            <a:r>
              <a:rPr lang="ko-KR" altLang="en-US" sz="1200" dirty="0"/>
              <a:t>관리체계 개선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21497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76743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예찰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의사결정지원시스템구성방안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66" name="Rectangle 2"/>
          <p:cNvSpPr>
            <a:spLocks noChangeArrowheads="1"/>
          </p:cNvSpPr>
          <p:nvPr/>
        </p:nvSpPr>
        <p:spPr bwMode="auto">
          <a:xfrm>
            <a:off x="428596" y="1214422"/>
            <a:ext cx="8213380" cy="24288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dirty="0">
                <a:latin typeface="굴림" charset="-127"/>
                <a:ea typeface="굴림" charset="-127"/>
              </a:rPr>
              <a:t>                                     </a:t>
            </a: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dirty="0">
              <a:latin typeface="굴림" charset="-127"/>
              <a:ea typeface="굴림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214282" y="78579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미래 </a:t>
            </a:r>
            <a:r>
              <a:rPr lang="ko-KR" altLang="en-US" dirty="0" err="1"/>
              <a:t>예찰</a:t>
            </a:r>
            <a:r>
              <a:rPr lang="ko-KR" altLang="en-US" dirty="0"/>
              <a:t> 모델 구성도</a:t>
            </a:r>
          </a:p>
        </p:txBody>
      </p:sp>
      <p:sp>
        <p:nvSpPr>
          <p:cNvPr id="31" name="액자 30"/>
          <p:cNvSpPr/>
          <p:nvPr/>
        </p:nvSpPr>
        <p:spPr bwMode="auto">
          <a:xfrm>
            <a:off x="2928926" y="2571744"/>
            <a:ext cx="2714644" cy="857256"/>
          </a:xfrm>
          <a:prstGeom prst="fram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i="0" u="none" strike="noStrike" normalizeH="0" baseline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굴림" charset="-127"/>
              <a:ea typeface="굴림" charset="-127"/>
            </a:endParaRPr>
          </a:p>
        </p:txBody>
      </p:sp>
      <p:cxnSp>
        <p:nvCxnSpPr>
          <p:cNvPr id="33" name="직선 연결선 32"/>
          <p:cNvCxnSpPr>
            <a:stCxn id="30" idx="2"/>
            <a:endCxn id="31" idx="0"/>
          </p:cNvCxnSpPr>
          <p:nvPr/>
        </p:nvCxnSpPr>
        <p:spPr bwMode="auto">
          <a:xfrm rot="16200000" flipH="1">
            <a:off x="3084903" y="1370399"/>
            <a:ext cx="438144" cy="196454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직선 연결선 39"/>
          <p:cNvCxnSpPr>
            <a:stCxn id="30" idx="3"/>
            <a:endCxn id="29" idx="2"/>
          </p:cNvCxnSpPr>
          <p:nvPr/>
        </p:nvCxnSpPr>
        <p:spPr bwMode="auto">
          <a:xfrm>
            <a:off x="3854217" y="1816887"/>
            <a:ext cx="865725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직선 연결선 46"/>
          <p:cNvCxnSpPr>
            <a:endCxn id="31" idx="0"/>
          </p:cNvCxnSpPr>
          <p:nvPr/>
        </p:nvCxnSpPr>
        <p:spPr bwMode="auto">
          <a:xfrm rot="10800000" flipV="1">
            <a:off x="4286248" y="2071678"/>
            <a:ext cx="1643074" cy="5000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직선 연결선 49"/>
          <p:cNvCxnSpPr>
            <a:stCxn id="31" idx="2"/>
          </p:cNvCxnSpPr>
          <p:nvPr/>
        </p:nvCxnSpPr>
        <p:spPr bwMode="auto">
          <a:xfrm rot="5400000">
            <a:off x="4071934" y="3643314"/>
            <a:ext cx="428628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42844" y="5023930"/>
            <a:ext cx="8786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모델</a:t>
            </a:r>
            <a:r>
              <a:rPr lang="en-US" altLang="ko-KR" dirty="0"/>
              <a:t> : </a:t>
            </a:r>
            <a:r>
              <a:rPr lang="ko-KR" altLang="en-US" dirty="0"/>
              <a:t>인과분석</a:t>
            </a:r>
            <a:r>
              <a:rPr lang="en-US" altLang="ko-KR" dirty="0"/>
              <a:t>/ </a:t>
            </a:r>
            <a:r>
              <a:rPr lang="ko-KR" altLang="en-US" dirty="0"/>
              <a:t>타임시리즈분석</a:t>
            </a:r>
            <a:r>
              <a:rPr lang="en-US" altLang="ko-KR" dirty="0"/>
              <a:t>/ </a:t>
            </a:r>
            <a:r>
              <a:rPr lang="ko-KR" altLang="en-US" dirty="0"/>
              <a:t>시뮬레이션</a:t>
            </a:r>
            <a:r>
              <a:rPr lang="en-US" altLang="ko-KR" dirty="0"/>
              <a:t>(</a:t>
            </a:r>
            <a:r>
              <a:rPr lang="ko-KR" altLang="en-US" dirty="0"/>
              <a:t>품목별 병해충종류별 선택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DB   : </a:t>
            </a:r>
            <a:r>
              <a:rPr lang="ko-KR" altLang="en-US" dirty="0" err="1"/>
              <a:t>시계열</a:t>
            </a:r>
            <a:r>
              <a:rPr lang="ko-KR" altLang="en-US" dirty="0"/>
              <a:t> 관련항목 누적</a:t>
            </a:r>
            <a:r>
              <a:rPr lang="en-US" altLang="ko-KR" dirty="0"/>
              <a:t>/ </a:t>
            </a:r>
            <a:r>
              <a:rPr lang="ko-KR" altLang="en-US" dirty="0"/>
              <a:t>품목별 </a:t>
            </a:r>
            <a:r>
              <a:rPr lang="ko-KR" altLang="en-US" dirty="0" err="1"/>
              <a:t>병해충별</a:t>
            </a:r>
            <a:r>
              <a:rPr lang="ko-KR" altLang="en-US" dirty="0"/>
              <a:t> 변수정리</a:t>
            </a:r>
            <a:r>
              <a:rPr lang="en-US" altLang="ko-KR" dirty="0"/>
              <a:t>/ </a:t>
            </a:r>
            <a:r>
              <a:rPr lang="ko-KR" altLang="en-US" dirty="0"/>
              <a:t>신규조사항목 추가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연계</a:t>
            </a:r>
            <a:r>
              <a:rPr lang="en-US" altLang="ko-KR" dirty="0"/>
              <a:t> : </a:t>
            </a:r>
            <a:r>
              <a:rPr lang="ko-KR" altLang="en-US" dirty="0" err="1"/>
              <a:t>국가병해충예찰방제네트워크</a:t>
            </a:r>
            <a:r>
              <a:rPr lang="ko-KR" altLang="en-US" dirty="0"/>
              <a:t> 화면 인터페이스</a:t>
            </a:r>
            <a:r>
              <a:rPr lang="en-US" altLang="ko-KR" dirty="0"/>
              <a:t>(</a:t>
            </a:r>
            <a:r>
              <a:rPr lang="ko-KR" altLang="en-US" dirty="0"/>
              <a:t>정형검색</a:t>
            </a:r>
            <a:r>
              <a:rPr lang="en-US" altLang="ko-KR" dirty="0"/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4638" y="2796988"/>
            <a:ext cx="228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굴림" charset="-127"/>
                <a:ea typeface="굴림" charset="-127"/>
              </a:rPr>
              <a:t> </a:t>
            </a:r>
            <a:r>
              <a:rPr kumimoji="1" lang="ko-KR" alt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굴림" charset="-127"/>
                <a:ea typeface="굴림" charset="-127"/>
              </a:rPr>
              <a:t>사용자 인터페이스</a:t>
            </a:r>
            <a:endParaRPr lang="ko-KR" altLang="en-US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9" name="원통 28"/>
          <p:cNvSpPr/>
          <p:nvPr/>
        </p:nvSpPr>
        <p:spPr bwMode="auto">
          <a:xfrm>
            <a:off x="4719942" y="1500174"/>
            <a:ext cx="3133140" cy="633426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 err="1">
                <a:solidFill>
                  <a:schemeClr val="bg1"/>
                </a:solidFill>
                <a:latin typeface="굴림" charset="-127"/>
                <a:ea typeface="굴림" charset="-127"/>
              </a:rPr>
              <a:t>병해충예찰관련</a:t>
            </a:r>
            <a:r>
              <a:rPr kumimoji="1" lang="ko-KR" altLang="en-US" b="1" dirty="0">
                <a:solidFill>
                  <a:schemeClr val="bg1"/>
                </a:solidFill>
                <a:latin typeface="굴림" charset="-127"/>
                <a:ea typeface="굴림" charset="-127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굴림" charset="-127"/>
                <a:ea typeface="굴림" charset="-127"/>
              </a:rPr>
              <a:t>DB </a:t>
            </a:r>
            <a:r>
              <a:rPr kumimoji="1" lang="ko-KR" altLang="en-US" b="1" dirty="0">
                <a:solidFill>
                  <a:schemeClr val="bg1"/>
                </a:solidFill>
                <a:latin typeface="굴림" charset="-127"/>
                <a:ea typeface="굴림" charset="-127"/>
              </a:rPr>
              <a:t>통합</a:t>
            </a:r>
          </a:p>
        </p:txBody>
      </p:sp>
      <p:sp>
        <p:nvSpPr>
          <p:cNvPr id="30" name="모서리가 둥근 직사각형 29"/>
          <p:cNvSpPr/>
          <p:nvPr/>
        </p:nvSpPr>
        <p:spPr bwMode="auto">
          <a:xfrm>
            <a:off x="789189" y="1500174"/>
            <a:ext cx="3065028" cy="63342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굴림" charset="-127"/>
                <a:ea typeface="굴림" charset="-127"/>
              </a:rPr>
              <a:t>병해충 </a:t>
            </a:r>
            <a:r>
              <a:rPr kumimoji="1" lang="ko-KR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굴림" charset="-127"/>
                <a:ea typeface="굴림" charset="-127"/>
              </a:rPr>
              <a:t>예찰</a:t>
            </a:r>
            <a:r>
              <a:rPr kumimoji="1" lang="ko-KR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굴림" charset="-127"/>
                <a:ea typeface="굴림" charset="-127"/>
              </a:rPr>
              <a:t> 모델통합</a:t>
            </a:r>
          </a:p>
        </p:txBody>
      </p:sp>
      <p:grpSp>
        <p:nvGrpSpPr>
          <p:cNvPr id="48" name="그룹 47"/>
          <p:cNvGrpSpPr/>
          <p:nvPr/>
        </p:nvGrpSpPr>
        <p:grpSpPr>
          <a:xfrm>
            <a:off x="3643306" y="3714752"/>
            <a:ext cx="1285884" cy="1285884"/>
            <a:chOff x="3643306" y="3714752"/>
            <a:chExt cx="1285884" cy="1285884"/>
          </a:xfrm>
        </p:grpSpPr>
        <p:sp>
          <p:nvSpPr>
            <p:cNvPr id="46" name="타원 45"/>
            <p:cNvSpPr/>
            <p:nvPr/>
          </p:nvSpPr>
          <p:spPr bwMode="auto">
            <a:xfrm>
              <a:off x="3643306" y="3714752"/>
              <a:ext cx="1285884" cy="128588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endParaRPr>
            </a:p>
          </p:txBody>
        </p:sp>
        <p:graphicFrame>
          <p:nvGraphicFramePr>
            <p:cNvPr id="1026" name="Object 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732397" y="4050454"/>
            <a:ext cx="1072686" cy="57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클립" r:id="rId7" imgW="2962080" imgH="2619360" progId="">
                    <p:embed/>
                  </p:oleObj>
                </mc:Choice>
                <mc:Fallback>
                  <p:oleObj name="클립" r:id="rId7" imgW="2962080" imgH="2619360" progId="">
                    <p:embed/>
                    <p:pic>
                      <p:nvPicPr>
                        <p:cNvPr id="0" name="Picture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2397" y="4050454"/>
                          <a:ext cx="1072686" cy="57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572032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작목확대시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진단 프로세스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안</a:t>
            </a:r>
            <a:r>
              <a:rPr lang="en-US" altLang="ko-KR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159090" y="2928934"/>
            <a:ext cx="7524750" cy="8080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900"/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1156159" y="1142984"/>
            <a:ext cx="7524750" cy="11572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1800"/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285720" y="1147748"/>
            <a:ext cx="800100" cy="1690687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defTabSz="1376363" eaLnBrk="0" latinLnBrk="0">
              <a:spcBef>
                <a:spcPct val="20000"/>
              </a:spcBef>
            </a:pPr>
            <a:r>
              <a:rPr lang="ko-KR" altLang="en-US" sz="900" b="1">
                <a:solidFill>
                  <a:srgbClr val="000000"/>
                </a:solidFill>
              </a:rPr>
              <a:t>농촌진흥청</a:t>
            </a:r>
            <a:endParaRPr lang="en-US" altLang="ko-KR" sz="900" b="1">
              <a:solidFill>
                <a:srgbClr val="000000"/>
              </a:solidFill>
            </a:endParaRPr>
          </a:p>
        </p:txBody>
      </p:sp>
      <p:sp>
        <p:nvSpPr>
          <p:cNvPr id="46" name="AutoShape 4"/>
          <p:cNvSpPr>
            <a:spLocks noChangeArrowheads="1"/>
          </p:cNvSpPr>
          <p:nvPr/>
        </p:nvSpPr>
        <p:spPr bwMode="auto">
          <a:xfrm>
            <a:off x="291582" y="2895599"/>
            <a:ext cx="782515" cy="844550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rgbClr val="000000"/>
                </a:solidFill>
              </a:rPr>
              <a:t>도 농업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rgbClr val="000000"/>
                </a:solidFill>
              </a:rPr>
              <a:t>기술원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en-US" altLang="ko-KR" sz="900" b="1" dirty="0">
                <a:solidFill>
                  <a:srgbClr val="000000"/>
                </a:solidFill>
              </a:rPr>
              <a:t>(</a:t>
            </a:r>
            <a:r>
              <a:rPr lang="ko-KR" altLang="en-US" sz="900" b="1" dirty="0">
                <a:solidFill>
                  <a:srgbClr val="000000"/>
                </a:solidFill>
              </a:rPr>
              <a:t>광역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 err="1">
                <a:solidFill>
                  <a:srgbClr val="000000"/>
                </a:solidFill>
              </a:rPr>
              <a:t>예찰단</a:t>
            </a:r>
            <a:r>
              <a:rPr lang="en-US" altLang="ko-KR" sz="900" b="1" dirty="0">
                <a:solidFill>
                  <a:srgbClr val="000000"/>
                </a:solidFill>
              </a:rPr>
              <a:t>)</a:t>
            </a:r>
            <a:endParaRPr lang="ko-KR" altLang="en-US" sz="900" b="1" dirty="0">
              <a:solidFill>
                <a:srgbClr val="000000"/>
              </a:solidFill>
            </a:endParaRPr>
          </a:p>
        </p:txBody>
      </p:sp>
      <p:sp>
        <p:nvSpPr>
          <p:cNvPr id="63" name="AutoShape 4"/>
          <p:cNvSpPr>
            <a:spLocks noChangeArrowheads="1"/>
          </p:cNvSpPr>
          <p:nvPr/>
        </p:nvSpPr>
        <p:spPr bwMode="auto">
          <a:xfrm>
            <a:off x="291582" y="3806825"/>
            <a:ext cx="794238" cy="739775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시∙군 농업</a:t>
            </a:r>
          </a:p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기술센터</a:t>
            </a:r>
          </a:p>
        </p:txBody>
      </p:sp>
      <p:sp>
        <p:nvSpPr>
          <p:cNvPr id="75" name="AutoShape 4"/>
          <p:cNvSpPr>
            <a:spLocks noChangeArrowheads="1"/>
          </p:cNvSpPr>
          <p:nvPr/>
        </p:nvSpPr>
        <p:spPr bwMode="auto">
          <a:xfrm>
            <a:off x="307693" y="4618051"/>
            <a:ext cx="794238" cy="739775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농업인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14414" y="4643446"/>
            <a:ext cx="7524750" cy="6651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defRPr/>
            </a:pPr>
            <a:r>
              <a:rPr lang="ko-KR" altLang="en-US" sz="1000" b="1" dirty="0">
                <a:solidFill>
                  <a:schemeClr val="tx1"/>
                </a:solidFill>
              </a:rPr>
              <a:t>지역별 농업기술센터중심으로 협조체계</a:t>
            </a:r>
          </a:p>
        </p:txBody>
      </p: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317203" y="785794"/>
            <a:ext cx="794238" cy="268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ko-KR" altLang="en-US" sz="1400" b="1"/>
              <a:t>조직</a:t>
            </a:r>
          </a:p>
        </p:txBody>
      </p:sp>
      <p:sp>
        <p:nvSpPr>
          <p:cNvPr id="78" name="Rectangle 2"/>
          <p:cNvSpPr>
            <a:spLocks noChangeArrowheads="1"/>
          </p:cNvSpPr>
          <p:nvPr/>
        </p:nvSpPr>
        <p:spPr bwMode="auto">
          <a:xfrm>
            <a:off x="1182879" y="785794"/>
            <a:ext cx="7521820" cy="268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400" b="1" dirty="0"/>
              <a:t>Activity</a:t>
            </a:r>
          </a:p>
        </p:txBody>
      </p:sp>
      <p:sp>
        <p:nvSpPr>
          <p:cNvPr id="82" name="Rectangle 36"/>
          <p:cNvSpPr>
            <a:spLocks noChangeArrowheads="1"/>
          </p:cNvSpPr>
          <p:nvPr/>
        </p:nvSpPr>
        <p:spPr bwMode="auto">
          <a:xfrm>
            <a:off x="2943418" y="2387616"/>
            <a:ext cx="1025525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84" name="모서리가 둥근 직사각형 51"/>
          <p:cNvSpPr>
            <a:spLocks noChangeArrowheads="1"/>
          </p:cNvSpPr>
          <p:nvPr/>
        </p:nvSpPr>
        <p:spPr bwMode="auto">
          <a:xfrm>
            <a:off x="1397193" y="2387616"/>
            <a:ext cx="1189038" cy="284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/>
            <a:r>
              <a:rPr lang="ko-KR" altLang="en-US" sz="900" dirty="0" err="1">
                <a:solidFill>
                  <a:srgbClr val="000000"/>
                </a:solidFill>
              </a:rPr>
              <a:t>예찰결과보고</a:t>
            </a:r>
            <a:r>
              <a:rPr lang="en-US" altLang="ko-KR" sz="900" dirty="0">
                <a:solidFill>
                  <a:srgbClr val="000000"/>
                </a:solidFill>
              </a:rPr>
              <a:t>(</a:t>
            </a:r>
            <a:r>
              <a:rPr lang="ko-KR" altLang="en-US" sz="900" dirty="0">
                <a:solidFill>
                  <a:srgbClr val="000000"/>
                </a:solidFill>
              </a:rPr>
              <a:t>서</a:t>
            </a:r>
            <a:r>
              <a:rPr lang="en-US" altLang="ko-KR" sz="900" dirty="0">
                <a:solidFill>
                  <a:srgbClr val="000000"/>
                </a:solidFill>
              </a:rPr>
              <a:t>)</a:t>
            </a:r>
          </a:p>
        </p:txBody>
      </p:sp>
      <p:cxnSp>
        <p:nvCxnSpPr>
          <p:cNvPr id="85" name="AutoShape 100"/>
          <p:cNvCxnSpPr>
            <a:cxnSpLocks noChangeShapeType="1"/>
            <a:stCxn id="84" idx="3"/>
            <a:endCxn id="82" idx="1"/>
          </p:cNvCxnSpPr>
          <p:nvPr/>
        </p:nvCxnSpPr>
        <p:spPr bwMode="auto">
          <a:xfrm>
            <a:off x="2616393" y="2530491"/>
            <a:ext cx="3270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6" name="Rectangle 36"/>
          <p:cNvSpPr>
            <a:spLocks noChangeArrowheads="1"/>
          </p:cNvSpPr>
          <p:nvPr/>
        </p:nvSpPr>
        <p:spPr bwMode="auto">
          <a:xfrm>
            <a:off x="2952943" y="3016266"/>
            <a:ext cx="1027113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87" name="Rectangle 45"/>
          <p:cNvSpPr>
            <a:spLocks noChangeArrowheads="1"/>
          </p:cNvSpPr>
          <p:nvPr/>
        </p:nvSpPr>
        <p:spPr bwMode="auto">
          <a:xfrm>
            <a:off x="4342006" y="3365516"/>
            <a:ext cx="1027112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자체 진단 및 처리</a:t>
            </a:r>
          </a:p>
        </p:txBody>
      </p:sp>
      <p:sp>
        <p:nvSpPr>
          <p:cNvPr id="88" name="모서리가 둥근 직사각형 87"/>
          <p:cNvSpPr/>
          <p:nvPr/>
        </p:nvSpPr>
        <p:spPr bwMode="auto">
          <a:xfrm>
            <a:off x="1397193" y="3017854"/>
            <a:ext cx="1177925" cy="28416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예찰결과보고</a:t>
            </a:r>
            <a:r>
              <a:rPr lang="en-US" altLang="ko-KR" sz="9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</a:t>
            </a:r>
            <a:r>
              <a:rPr lang="en-US" altLang="ko-KR" sz="9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</p:txBody>
      </p:sp>
      <p:cxnSp>
        <p:nvCxnSpPr>
          <p:cNvPr id="89" name="AutoShape 100"/>
          <p:cNvCxnSpPr>
            <a:cxnSpLocks noChangeShapeType="1"/>
            <a:stCxn id="88" idx="3"/>
            <a:endCxn id="86" idx="1"/>
          </p:cNvCxnSpPr>
          <p:nvPr/>
        </p:nvCxnSpPr>
        <p:spPr bwMode="auto">
          <a:xfrm flipV="1">
            <a:off x="2589406" y="3159141"/>
            <a:ext cx="363537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0" name="Rectangle 36"/>
          <p:cNvSpPr>
            <a:spLocks noChangeArrowheads="1"/>
          </p:cNvSpPr>
          <p:nvPr/>
        </p:nvSpPr>
        <p:spPr bwMode="auto">
          <a:xfrm>
            <a:off x="2941831" y="3883041"/>
            <a:ext cx="1025525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91" name="Rectangle 45"/>
          <p:cNvSpPr>
            <a:spLocks noChangeArrowheads="1"/>
          </p:cNvSpPr>
          <p:nvPr/>
        </p:nvSpPr>
        <p:spPr bwMode="auto">
          <a:xfrm>
            <a:off x="4359468" y="4203716"/>
            <a:ext cx="1027113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자체 진단 및 처리</a:t>
            </a:r>
          </a:p>
        </p:txBody>
      </p:sp>
      <p:cxnSp>
        <p:nvCxnSpPr>
          <p:cNvPr id="92" name="AutoShape 99"/>
          <p:cNvCxnSpPr>
            <a:cxnSpLocks noChangeShapeType="1"/>
            <a:stCxn id="90" idx="2"/>
            <a:endCxn id="91" idx="1"/>
          </p:cNvCxnSpPr>
          <p:nvPr/>
        </p:nvCxnSpPr>
        <p:spPr bwMode="auto">
          <a:xfrm rot="16200000" flipH="1">
            <a:off x="3817337" y="3804460"/>
            <a:ext cx="179387" cy="90487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93" name="모서리가 둥근 직사각형 92"/>
          <p:cNvSpPr/>
          <p:nvPr/>
        </p:nvSpPr>
        <p:spPr bwMode="auto">
          <a:xfrm>
            <a:off x="1397193" y="3883041"/>
            <a:ext cx="1189038" cy="28416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예찰결과보고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</a:t>
            </a:r>
            <a:r>
              <a:rPr lang="en-US" altLang="ko-KR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</p:txBody>
      </p:sp>
      <p:cxnSp>
        <p:nvCxnSpPr>
          <p:cNvPr id="94" name="AutoShape 100"/>
          <p:cNvCxnSpPr>
            <a:cxnSpLocks noChangeShapeType="1"/>
            <a:stCxn id="93" idx="3"/>
            <a:endCxn id="90" idx="1"/>
          </p:cNvCxnSpPr>
          <p:nvPr/>
        </p:nvCxnSpPr>
        <p:spPr bwMode="auto">
          <a:xfrm>
            <a:off x="2598931" y="4025916"/>
            <a:ext cx="3429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8" name="Rectangle 45"/>
          <p:cNvSpPr>
            <a:spLocks noChangeArrowheads="1"/>
          </p:cNvSpPr>
          <p:nvPr/>
        </p:nvSpPr>
        <p:spPr bwMode="auto">
          <a:xfrm>
            <a:off x="1540069" y="1500174"/>
            <a:ext cx="1344613" cy="28575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 진단의뢰</a:t>
            </a:r>
            <a:r>
              <a:rPr lang="en-US" altLang="ko-KR" sz="900" dirty="0">
                <a:solidFill>
                  <a:srgbClr val="000000"/>
                </a:solidFill>
              </a:rPr>
              <a:t>(</a:t>
            </a:r>
            <a:r>
              <a:rPr lang="ko-KR" altLang="en-US" sz="900" dirty="0">
                <a:solidFill>
                  <a:srgbClr val="000000"/>
                </a:solidFill>
              </a:rPr>
              <a:t>외부</a:t>
            </a:r>
            <a:r>
              <a:rPr lang="en-US" altLang="ko-KR" sz="9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01" name="모서리가 둥근 직사각형 100"/>
          <p:cNvSpPr/>
          <p:nvPr/>
        </p:nvSpPr>
        <p:spPr bwMode="auto">
          <a:xfrm>
            <a:off x="3254581" y="1500174"/>
            <a:ext cx="1025525" cy="2825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병해충 진단</a:t>
            </a:r>
          </a:p>
        </p:txBody>
      </p:sp>
      <p:sp>
        <p:nvSpPr>
          <p:cNvPr id="102" name="AutoShape 94"/>
          <p:cNvSpPr>
            <a:spLocks noChangeArrowheads="1"/>
          </p:cNvSpPr>
          <p:nvPr/>
        </p:nvSpPr>
        <p:spPr bwMode="auto">
          <a:xfrm>
            <a:off x="2819593" y="2225691"/>
            <a:ext cx="1255713" cy="2274879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cxnSp>
        <p:nvCxnSpPr>
          <p:cNvPr id="103" name="AutoShape 99"/>
          <p:cNvCxnSpPr>
            <a:cxnSpLocks noChangeShapeType="1"/>
            <a:stCxn id="102" idx="0"/>
            <a:endCxn id="98" idx="1"/>
          </p:cNvCxnSpPr>
          <p:nvPr/>
        </p:nvCxnSpPr>
        <p:spPr bwMode="auto">
          <a:xfrm rot="16200000" flipV="1">
            <a:off x="2202440" y="980680"/>
            <a:ext cx="582641" cy="1907381"/>
          </a:xfrm>
          <a:prstGeom prst="bentConnector4">
            <a:avLst>
              <a:gd name="adj1" fmla="val 37739"/>
              <a:gd name="adj2" fmla="val 11198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04" name="AutoShape 108"/>
          <p:cNvCxnSpPr>
            <a:cxnSpLocks noChangeShapeType="1"/>
            <a:stCxn id="98" idx="3"/>
            <a:endCxn id="101" idx="1"/>
          </p:cNvCxnSpPr>
          <p:nvPr/>
        </p:nvCxnSpPr>
        <p:spPr bwMode="auto">
          <a:xfrm flipV="1">
            <a:off x="2884682" y="1641462"/>
            <a:ext cx="369899" cy="158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05" name="AutoShape 115"/>
          <p:cNvSpPr>
            <a:spLocks noChangeArrowheads="1"/>
          </p:cNvSpPr>
          <p:nvPr/>
        </p:nvSpPr>
        <p:spPr bwMode="auto">
          <a:xfrm>
            <a:off x="4243581" y="3195654"/>
            <a:ext cx="1255712" cy="137635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06" name="AutoShape 73"/>
          <p:cNvSpPr>
            <a:spLocks noChangeArrowheads="1"/>
          </p:cNvSpPr>
          <p:nvPr/>
        </p:nvSpPr>
        <p:spPr bwMode="auto">
          <a:xfrm>
            <a:off x="6254977" y="1428736"/>
            <a:ext cx="1531733" cy="52387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 err="1">
                <a:solidFill>
                  <a:schemeClr val="accent3"/>
                </a:solidFill>
              </a:rPr>
              <a:t>국가병해충예찰방제</a:t>
            </a:r>
            <a:r>
              <a:rPr lang="ko-KR" altLang="en-US" sz="900" dirty="0">
                <a:solidFill>
                  <a:schemeClr val="accent3"/>
                </a:solidFill>
              </a:rPr>
              <a:t> 네트워크</a:t>
            </a:r>
          </a:p>
          <a:p>
            <a:pPr algn="ctr" defTabSz="857250" eaLnBrk="0" latinLnBrk="0"/>
            <a:r>
              <a:rPr lang="en-US" altLang="ko-KR" sz="900" dirty="0">
                <a:solidFill>
                  <a:schemeClr val="accent3"/>
                </a:solidFill>
              </a:rPr>
              <a:t>(</a:t>
            </a:r>
            <a:r>
              <a:rPr lang="ko-KR" altLang="en-US" sz="900" dirty="0" err="1">
                <a:solidFill>
                  <a:schemeClr val="accent3"/>
                </a:solidFill>
              </a:rPr>
              <a:t>병해충예찰단</a:t>
            </a:r>
            <a:r>
              <a:rPr lang="en-US" altLang="ko-KR" sz="900" dirty="0">
                <a:solidFill>
                  <a:schemeClr val="accent3"/>
                </a:solidFill>
              </a:rPr>
              <a:t>)</a:t>
            </a:r>
            <a:endParaRPr lang="ko-KR" altLang="en-US" sz="900" dirty="0">
              <a:solidFill>
                <a:schemeClr val="accent3"/>
              </a:solidFill>
            </a:endParaRPr>
          </a:p>
        </p:txBody>
      </p:sp>
      <p:cxnSp>
        <p:nvCxnSpPr>
          <p:cNvPr id="108" name="AutoShape 120"/>
          <p:cNvCxnSpPr>
            <a:cxnSpLocks noChangeShapeType="1"/>
            <a:stCxn id="86" idx="2"/>
            <a:endCxn id="87" idx="1"/>
          </p:cNvCxnSpPr>
          <p:nvPr/>
        </p:nvCxnSpPr>
        <p:spPr bwMode="auto">
          <a:xfrm rot="16200000" flipH="1">
            <a:off x="3800669" y="2967053"/>
            <a:ext cx="207962" cy="874713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09" name="AutoShape 122"/>
          <p:cNvCxnSpPr>
            <a:cxnSpLocks noChangeShapeType="1"/>
            <a:stCxn id="125" idx="0"/>
            <a:endCxn id="106" idx="3"/>
          </p:cNvCxnSpPr>
          <p:nvPr/>
        </p:nvCxnSpPr>
        <p:spPr bwMode="auto">
          <a:xfrm rot="16200000" flipV="1">
            <a:off x="7570881" y="1906503"/>
            <a:ext cx="565180" cy="133521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 type="triangle"/>
            <a:tailEnd type="triangle" w="med" len="med"/>
          </a:ln>
        </p:spPr>
      </p:cxnSp>
      <p:cxnSp>
        <p:nvCxnSpPr>
          <p:cNvPr id="110" name="AutoShape 123"/>
          <p:cNvCxnSpPr>
            <a:cxnSpLocks noChangeShapeType="1"/>
            <a:stCxn id="120" idx="3"/>
            <a:endCxn id="106" idx="1"/>
          </p:cNvCxnSpPr>
          <p:nvPr/>
        </p:nvCxnSpPr>
        <p:spPr bwMode="auto">
          <a:xfrm flipH="1" flipV="1">
            <a:off x="6254977" y="1690674"/>
            <a:ext cx="663541" cy="2655124"/>
          </a:xfrm>
          <a:prstGeom prst="bentConnector5">
            <a:avLst>
              <a:gd name="adj1" fmla="val -34452"/>
              <a:gd name="adj2" fmla="val 47743"/>
              <a:gd name="adj3" fmla="val 134452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1" name="AutoShape 124"/>
          <p:cNvCxnSpPr>
            <a:cxnSpLocks noChangeShapeType="1"/>
            <a:stCxn id="118" idx="3"/>
            <a:endCxn id="106" idx="1"/>
          </p:cNvCxnSpPr>
          <p:nvPr/>
        </p:nvCxnSpPr>
        <p:spPr bwMode="auto">
          <a:xfrm flipH="1" flipV="1">
            <a:off x="6254977" y="1690674"/>
            <a:ext cx="663541" cy="1816130"/>
          </a:xfrm>
          <a:prstGeom prst="bentConnector5">
            <a:avLst>
              <a:gd name="adj1" fmla="val -34452"/>
              <a:gd name="adj2" fmla="val 46678"/>
              <a:gd name="adj3" fmla="val 134452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2" name="Rectangle 36"/>
          <p:cNvSpPr>
            <a:spLocks noChangeArrowheads="1"/>
          </p:cNvSpPr>
          <p:nvPr/>
        </p:nvSpPr>
        <p:spPr bwMode="auto">
          <a:xfrm>
            <a:off x="7405881" y="2386029"/>
            <a:ext cx="1025525" cy="2841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chemeClr val="accent3"/>
                </a:solidFill>
              </a:rPr>
              <a:t>병해충진단의뢰</a:t>
            </a:r>
          </a:p>
        </p:txBody>
      </p:sp>
      <p:sp>
        <p:nvSpPr>
          <p:cNvPr id="113" name="Rectangle 36"/>
          <p:cNvSpPr>
            <a:spLocks noChangeArrowheads="1"/>
          </p:cNvSpPr>
          <p:nvPr/>
        </p:nvSpPr>
        <p:spPr bwMode="auto">
          <a:xfrm>
            <a:off x="7405881" y="3017854"/>
            <a:ext cx="1025525" cy="2841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chemeClr val="accent3"/>
                </a:solidFill>
              </a:rPr>
              <a:t>병해충진단의뢰</a:t>
            </a:r>
          </a:p>
        </p:txBody>
      </p:sp>
      <p:sp>
        <p:nvSpPr>
          <p:cNvPr id="114" name="Rectangle 36"/>
          <p:cNvSpPr>
            <a:spLocks noChangeArrowheads="1"/>
          </p:cNvSpPr>
          <p:nvPr/>
        </p:nvSpPr>
        <p:spPr bwMode="auto">
          <a:xfrm>
            <a:off x="7405881" y="3878279"/>
            <a:ext cx="1025525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chemeClr val="accent3"/>
                </a:solidFill>
              </a:rPr>
              <a:t>병해충진단의뢰</a:t>
            </a:r>
          </a:p>
        </p:txBody>
      </p:sp>
      <p:cxnSp>
        <p:nvCxnSpPr>
          <p:cNvPr id="115" name="AutoShape 100"/>
          <p:cNvCxnSpPr>
            <a:cxnSpLocks noChangeShapeType="1"/>
            <a:stCxn id="82" idx="3"/>
            <a:endCxn id="112" idx="1"/>
          </p:cNvCxnSpPr>
          <p:nvPr/>
        </p:nvCxnSpPr>
        <p:spPr bwMode="auto">
          <a:xfrm flipV="1">
            <a:off x="3968943" y="2528904"/>
            <a:ext cx="3405188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6" name="AutoShape 100"/>
          <p:cNvCxnSpPr>
            <a:cxnSpLocks noChangeShapeType="1"/>
            <a:stCxn id="86" idx="3"/>
            <a:endCxn id="113" idx="1"/>
          </p:cNvCxnSpPr>
          <p:nvPr/>
        </p:nvCxnSpPr>
        <p:spPr bwMode="auto">
          <a:xfrm>
            <a:off x="3980056" y="3159141"/>
            <a:ext cx="3394075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7" name="AutoShape 100"/>
          <p:cNvCxnSpPr>
            <a:cxnSpLocks noChangeShapeType="1"/>
            <a:stCxn id="90" idx="3"/>
            <a:endCxn id="114" idx="1"/>
          </p:cNvCxnSpPr>
          <p:nvPr/>
        </p:nvCxnSpPr>
        <p:spPr bwMode="auto">
          <a:xfrm flipV="1">
            <a:off x="3967356" y="4019566"/>
            <a:ext cx="3406775" cy="63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8" name="Rectangle 45"/>
          <p:cNvSpPr>
            <a:spLocks noChangeArrowheads="1"/>
          </p:cNvSpPr>
          <p:nvPr/>
        </p:nvSpPr>
        <p:spPr bwMode="auto">
          <a:xfrm>
            <a:off x="5734243" y="3365516"/>
            <a:ext cx="1184275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850" dirty="0">
                <a:solidFill>
                  <a:schemeClr val="accent3"/>
                </a:solidFill>
              </a:rPr>
              <a:t>진단결과 보고 및 등록</a:t>
            </a:r>
          </a:p>
        </p:txBody>
      </p:sp>
      <p:sp>
        <p:nvSpPr>
          <p:cNvPr id="120" name="Rectangle 45"/>
          <p:cNvSpPr>
            <a:spLocks noChangeArrowheads="1"/>
          </p:cNvSpPr>
          <p:nvPr/>
        </p:nvSpPr>
        <p:spPr bwMode="auto">
          <a:xfrm>
            <a:off x="5734243" y="4203716"/>
            <a:ext cx="1184275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850" dirty="0">
                <a:solidFill>
                  <a:schemeClr val="accent3"/>
                </a:solidFill>
              </a:rPr>
              <a:t>진단결과 보고 및 등록</a:t>
            </a:r>
          </a:p>
        </p:txBody>
      </p:sp>
      <p:cxnSp>
        <p:nvCxnSpPr>
          <p:cNvPr id="122" name="AutoShape 100"/>
          <p:cNvCxnSpPr>
            <a:cxnSpLocks noChangeShapeType="1"/>
            <a:stCxn id="91" idx="3"/>
            <a:endCxn id="120" idx="1"/>
          </p:cNvCxnSpPr>
          <p:nvPr/>
        </p:nvCxnSpPr>
        <p:spPr bwMode="auto">
          <a:xfrm>
            <a:off x="5386581" y="4346591"/>
            <a:ext cx="31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" name="AutoShape 100"/>
          <p:cNvCxnSpPr>
            <a:cxnSpLocks noChangeShapeType="1"/>
            <a:stCxn id="87" idx="3"/>
            <a:endCxn id="118" idx="1"/>
          </p:cNvCxnSpPr>
          <p:nvPr/>
        </p:nvCxnSpPr>
        <p:spPr bwMode="auto">
          <a:xfrm>
            <a:off x="5369118" y="3508391"/>
            <a:ext cx="33337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4" name="AutoShape 140"/>
          <p:cNvSpPr>
            <a:spLocks noChangeArrowheads="1"/>
          </p:cNvSpPr>
          <p:nvPr/>
        </p:nvSpPr>
        <p:spPr bwMode="auto">
          <a:xfrm>
            <a:off x="5653281" y="3189304"/>
            <a:ext cx="1344612" cy="138270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25" name="AutoShape 141"/>
          <p:cNvSpPr>
            <a:spLocks noChangeArrowheads="1"/>
          </p:cNvSpPr>
          <p:nvPr/>
        </p:nvSpPr>
        <p:spPr bwMode="auto">
          <a:xfrm>
            <a:off x="7248718" y="2255854"/>
            <a:ext cx="1343025" cy="2022475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cxnSp>
        <p:nvCxnSpPr>
          <p:cNvPr id="126" name="AutoShape 99"/>
          <p:cNvCxnSpPr>
            <a:cxnSpLocks noChangeShapeType="1"/>
            <a:stCxn id="112" idx="3"/>
            <a:endCxn id="106" idx="0"/>
          </p:cNvCxnSpPr>
          <p:nvPr/>
        </p:nvCxnSpPr>
        <p:spPr bwMode="auto">
          <a:xfrm flipH="1" flipV="1">
            <a:off x="7020844" y="1428736"/>
            <a:ext cx="1410562" cy="1099374"/>
          </a:xfrm>
          <a:prstGeom prst="bentConnector4">
            <a:avLst>
              <a:gd name="adj1" fmla="val -16206"/>
              <a:gd name="adj2" fmla="val 120794"/>
            </a:avLst>
          </a:prstGeom>
          <a:noFill/>
          <a:ln w="12700">
            <a:solidFill>
              <a:schemeClr val="tx1"/>
            </a:solidFill>
            <a:miter lim="800000"/>
            <a:headEnd type="diamond" w="med" len="med"/>
            <a:tailEnd type="triangle" w="med" len="med"/>
          </a:ln>
        </p:spPr>
      </p:cxnSp>
      <p:cxnSp>
        <p:nvCxnSpPr>
          <p:cNvPr id="127" name="AutoShape 99"/>
          <p:cNvCxnSpPr>
            <a:cxnSpLocks noChangeShapeType="1"/>
            <a:stCxn id="113" idx="3"/>
            <a:endCxn id="106" idx="0"/>
          </p:cNvCxnSpPr>
          <p:nvPr/>
        </p:nvCxnSpPr>
        <p:spPr bwMode="auto">
          <a:xfrm flipH="1" flipV="1">
            <a:off x="7020844" y="1428736"/>
            <a:ext cx="1410562" cy="1731199"/>
          </a:xfrm>
          <a:prstGeom prst="bentConnector4">
            <a:avLst>
              <a:gd name="adj1" fmla="val -16206"/>
              <a:gd name="adj2" fmla="val 113205"/>
            </a:avLst>
          </a:prstGeom>
          <a:noFill/>
          <a:ln w="12700">
            <a:solidFill>
              <a:schemeClr val="tx1"/>
            </a:solidFill>
            <a:miter lim="800000"/>
            <a:headEnd type="diamond" w="med" len="med"/>
            <a:tailEnd type="triangle" w="med" len="med"/>
          </a:ln>
        </p:spPr>
      </p:cxnSp>
      <p:cxnSp>
        <p:nvCxnSpPr>
          <p:cNvPr id="128" name="AutoShape 99"/>
          <p:cNvCxnSpPr>
            <a:cxnSpLocks noChangeShapeType="1"/>
            <a:stCxn id="114" idx="3"/>
            <a:endCxn id="106" idx="0"/>
          </p:cNvCxnSpPr>
          <p:nvPr/>
        </p:nvCxnSpPr>
        <p:spPr bwMode="auto">
          <a:xfrm flipH="1" flipV="1">
            <a:off x="7020844" y="1428736"/>
            <a:ext cx="1410562" cy="2590831"/>
          </a:xfrm>
          <a:prstGeom prst="bentConnector4">
            <a:avLst>
              <a:gd name="adj1" fmla="val -16206"/>
              <a:gd name="adj2" fmla="val 108823"/>
            </a:avLst>
          </a:prstGeom>
          <a:noFill/>
          <a:ln w="12700">
            <a:solidFill>
              <a:schemeClr val="tx1"/>
            </a:solidFill>
            <a:miter lim="800000"/>
            <a:headEnd type="diamond" w="med" len="med"/>
            <a:tailEnd type="triangle" w="med" len="med"/>
          </a:ln>
        </p:spPr>
      </p:cxnSp>
      <p:sp>
        <p:nvSpPr>
          <p:cNvPr id="130" name="AutoShape 94"/>
          <p:cNvSpPr>
            <a:spLocks noChangeArrowheads="1"/>
          </p:cNvSpPr>
          <p:nvPr/>
        </p:nvSpPr>
        <p:spPr bwMode="auto">
          <a:xfrm>
            <a:off x="1355926" y="2225691"/>
            <a:ext cx="1255713" cy="2274879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cxnSp>
        <p:nvCxnSpPr>
          <p:cNvPr id="138" name="AutoShape 108"/>
          <p:cNvCxnSpPr>
            <a:cxnSpLocks noChangeShapeType="1"/>
          </p:cNvCxnSpPr>
          <p:nvPr/>
        </p:nvCxnSpPr>
        <p:spPr bwMode="auto">
          <a:xfrm flipV="1">
            <a:off x="4254713" y="1643050"/>
            <a:ext cx="1960361" cy="158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44" name="AutoShape 94"/>
          <p:cNvSpPr>
            <a:spLocks noChangeArrowheads="1"/>
          </p:cNvSpPr>
          <p:nvPr/>
        </p:nvSpPr>
        <p:spPr bwMode="auto">
          <a:xfrm>
            <a:off x="642910" y="5511839"/>
            <a:ext cx="763807" cy="274615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45" name="TextBox 144"/>
          <p:cNvSpPr txBox="1"/>
          <p:nvPr/>
        </p:nvSpPr>
        <p:spPr>
          <a:xfrm>
            <a:off x="357158" y="5500702"/>
            <a:ext cx="82148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            점선부분은 정기와 </a:t>
            </a:r>
            <a:r>
              <a:rPr lang="ko-KR" altLang="en-US" sz="1400" dirty="0" err="1"/>
              <a:t>수시예찰</a:t>
            </a:r>
            <a:r>
              <a:rPr lang="ko-KR" altLang="en-US" sz="1400" dirty="0"/>
              <a:t> 포함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일반 병해충진단은 시</a:t>
            </a:r>
            <a:r>
              <a:rPr lang="en-US" altLang="ko-KR" sz="1400" dirty="0"/>
              <a:t>/</a:t>
            </a:r>
            <a:r>
              <a:rPr lang="ko-KR" altLang="en-US" sz="1400" dirty="0"/>
              <a:t>군 농업기술센터와 광역예찰단에서 수행하고</a:t>
            </a:r>
            <a:r>
              <a:rPr lang="en-US" altLang="ko-KR" sz="1400" dirty="0"/>
              <a:t>, </a:t>
            </a:r>
            <a:r>
              <a:rPr lang="ko-KR" altLang="en-US" sz="1400" dirty="0"/>
              <a:t>국가 주요 병해충진단은 </a:t>
            </a:r>
            <a:r>
              <a:rPr lang="ko-KR" altLang="en-US" sz="1400" dirty="0" err="1"/>
              <a:t>병해충예찰단에서</a:t>
            </a:r>
            <a:r>
              <a:rPr lang="ko-KR" altLang="en-US" sz="1400" dirty="0"/>
              <a:t> 수행 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214974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76743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진단전문가시스템과 커뮤니티 구성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27" name="TextBox 4"/>
          <p:cNvSpPr txBox="1">
            <a:spLocks noChangeArrowheads="1"/>
          </p:cNvSpPr>
          <p:nvPr/>
        </p:nvSpPr>
        <p:spPr bwMode="auto">
          <a:xfrm>
            <a:off x="142875" y="669813"/>
            <a:ext cx="85074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dirty="0"/>
              <a:t> 미래진단전문가시스템 구성도 </a:t>
            </a:r>
          </a:p>
        </p:txBody>
      </p:sp>
      <p:sp>
        <p:nvSpPr>
          <p:cNvPr id="34" name="TextBox 4"/>
          <p:cNvSpPr txBox="1">
            <a:spLocks noChangeArrowheads="1"/>
          </p:cNvSpPr>
          <p:nvPr/>
        </p:nvSpPr>
        <p:spPr bwMode="auto">
          <a:xfrm>
            <a:off x="332937" y="4795287"/>
            <a:ext cx="8507413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굴림" pitchFamily="50" charset="-127"/>
              <a:buChar char="○"/>
            </a:pPr>
            <a:r>
              <a:rPr lang="ko-KR" altLang="en-US" sz="1300" dirty="0"/>
              <a:t> 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전문가 시스템의 경우 초기에는 도감 데이터베이스구성에서 간단한 </a:t>
            </a:r>
            <a:r>
              <a:rPr lang="ko-KR" altLang="en-US" sz="1300" dirty="0" err="1">
                <a:latin typeface="굴림" pitchFamily="50" charset="-127"/>
                <a:ea typeface="굴림" pitchFamily="50" charset="-127"/>
              </a:rPr>
              <a:t>몇가지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 키워드로 검색하는 비정형검색방법과 분류해서 찾아 들어가는 정형검색방법을사용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sz="1300" dirty="0" err="1">
                <a:latin typeface="굴림" pitchFamily="50" charset="-127"/>
                <a:ea typeface="굴림" pitchFamily="50" charset="-127"/>
              </a:rPr>
              <a:t>사용예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: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색깔이 노랗고 줄기가 말랐음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XXX </a:t>
            </a:r>
            <a:r>
              <a:rPr lang="ko-KR" altLang="en-US" sz="1300" dirty="0" err="1">
                <a:latin typeface="굴림" pitchFamily="50" charset="-127"/>
                <a:ea typeface="굴림" pitchFamily="50" charset="-127"/>
                <a:sym typeface="Wingdings" pitchFamily="2" charset="2"/>
              </a:rPr>
              <a:t>병등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 몇 가지 종류의 병명이 나옴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&lt;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주로 </a:t>
            </a:r>
            <a:r>
              <a:rPr lang="ko-KR" altLang="en-US" sz="1300" dirty="0" err="1">
                <a:latin typeface="굴림" pitchFamily="50" charset="-127"/>
                <a:ea typeface="굴림" pitchFamily="50" charset="-127"/>
                <a:sym typeface="Wingdings" pitchFamily="2" charset="2"/>
              </a:rPr>
              <a:t>불리언검색사용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&gt;)</a:t>
            </a:r>
          </a:p>
          <a:p>
            <a:pPr>
              <a:buFont typeface="굴림" pitchFamily="50" charset="-127"/>
              <a:buChar char="○"/>
            </a:pPr>
            <a:endParaRPr lang="en-US" altLang="ko-KR" sz="1300" dirty="0">
              <a:latin typeface="굴림" pitchFamily="50" charset="-127"/>
              <a:ea typeface="굴림" pitchFamily="50" charset="-127"/>
              <a:sym typeface="Wingdings" pitchFamily="2" charset="2"/>
            </a:endParaRPr>
          </a:p>
          <a:p>
            <a:pPr>
              <a:buFont typeface="굴림" pitchFamily="50" charset="-127"/>
              <a:buChar char="○"/>
            </a:pPr>
            <a:r>
              <a:rPr lang="en-US" altLang="ko-KR" sz="1300" dirty="0"/>
              <a:t> 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커뮤니티의 경우 전체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품목별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 주산단지별로 구분하여 장을 마련함 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 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  <a:sym typeface="Wingdings" pitchFamily="2" charset="2"/>
              </a:rPr>
              <a:t>활성화 방안으로 초기 전문가참여를 통한 저변 확대 필요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 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품목별 전문가 구성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1300" dirty="0">
                <a:latin typeface="굴림" pitchFamily="50" charset="-127"/>
                <a:ea typeface="굴림" pitchFamily="50" charset="-127"/>
              </a:rPr>
              <a:t>커뮤니티 전문가 구성방안모색</a:t>
            </a:r>
            <a:r>
              <a:rPr lang="en-US" altLang="ko-KR" sz="1300" dirty="0">
                <a:latin typeface="굴림" pitchFamily="50" charset="-127"/>
                <a:ea typeface="굴림" pitchFamily="50" charset="-127"/>
              </a:rPr>
              <a:t>)</a:t>
            </a:r>
            <a:endParaRPr lang="ko-KR" altLang="en-US" sz="1300" dirty="0"/>
          </a:p>
        </p:txBody>
      </p:sp>
      <p:cxnSp>
        <p:nvCxnSpPr>
          <p:cNvPr id="49" name="직선 연결선 48"/>
          <p:cNvCxnSpPr>
            <a:stCxn id="36" idx="2"/>
          </p:cNvCxnSpPr>
          <p:nvPr/>
        </p:nvCxnSpPr>
        <p:spPr bwMode="auto">
          <a:xfrm rot="5400000">
            <a:off x="4134407" y="3576699"/>
            <a:ext cx="428628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491069" y="1147807"/>
            <a:ext cx="8213380" cy="24288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dirty="0">
                <a:latin typeface="굴림" charset="-127"/>
                <a:ea typeface="굴림" charset="-127"/>
              </a:rPr>
              <a:t>                                     </a:t>
            </a:r>
            <a:endParaRPr kumimoji="1" lang="en-US" altLang="ko-KR" dirty="0">
              <a:latin typeface="굴림" charset="-127"/>
              <a:ea typeface="굴림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dirty="0">
              <a:latin typeface="굴림" charset="-127"/>
              <a:ea typeface="굴림" charset="-127"/>
            </a:endParaRPr>
          </a:p>
        </p:txBody>
      </p:sp>
      <p:sp>
        <p:nvSpPr>
          <p:cNvPr id="36" name="액자 35"/>
          <p:cNvSpPr/>
          <p:nvPr/>
        </p:nvSpPr>
        <p:spPr bwMode="auto">
          <a:xfrm>
            <a:off x="2991399" y="2505129"/>
            <a:ext cx="2714644" cy="857256"/>
          </a:xfrm>
          <a:prstGeom prst="fram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i="0" u="none" strike="noStrike" normalizeH="0" baseline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굴림" charset="-127"/>
              <a:ea typeface="굴림" charset="-127"/>
            </a:endParaRPr>
          </a:p>
        </p:txBody>
      </p:sp>
      <p:cxnSp>
        <p:nvCxnSpPr>
          <p:cNvPr id="42" name="직선 연결선 41"/>
          <p:cNvCxnSpPr>
            <a:stCxn id="53" idx="2"/>
            <a:endCxn id="36" idx="0"/>
          </p:cNvCxnSpPr>
          <p:nvPr/>
        </p:nvCxnSpPr>
        <p:spPr bwMode="auto">
          <a:xfrm rot="16200000" flipH="1">
            <a:off x="3147376" y="1303784"/>
            <a:ext cx="438144" cy="196454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직선 연결선 45"/>
          <p:cNvCxnSpPr>
            <a:stCxn id="53" idx="3"/>
            <a:endCxn id="52" idx="2"/>
          </p:cNvCxnSpPr>
          <p:nvPr/>
        </p:nvCxnSpPr>
        <p:spPr bwMode="auto">
          <a:xfrm>
            <a:off x="3916690" y="1750272"/>
            <a:ext cx="865725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직선 연결선 47"/>
          <p:cNvCxnSpPr>
            <a:endCxn id="36" idx="0"/>
          </p:cNvCxnSpPr>
          <p:nvPr/>
        </p:nvCxnSpPr>
        <p:spPr bwMode="auto">
          <a:xfrm rot="10800000" flipV="1">
            <a:off x="4348721" y="2005063"/>
            <a:ext cx="1643074" cy="5000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3207111" y="2730373"/>
            <a:ext cx="228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굴림" charset="-127"/>
                <a:ea typeface="굴림" charset="-127"/>
              </a:rPr>
              <a:t> </a:t>
            </a:r>
            <a:r>
              <a:rPr kumimoji="1" lang="ko-KR" alt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굴림" charset="-127"/>
                <a:ea typeface="굴림" charset="-127"/>
              </a:rPr>
              <a:t>사용자 인터페이스</a:t>
            </a:r>
            <a:endParaRPr lang="ko-KR" altLang="en-US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2" name="원통 51"/>
          <p:cNvSpPr/>
          <p:nvPr/>
        </p:nvSpPr>
        <p:spPr bwMode="auto">
          <a:xfrm>
            <a:off x="4782415" y="1433559"/>
            <a:ext cx="3133140" cy="633426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chemeClr val="bg1"/>
                </a:solidFill>
                <a:latin typeface="굴림" charset="-127"/>
                <a:ea typeface="굴림" charset="-127"/>
              </a:rPr>
              <a:t>지식베이스와 작업 메모리</a:t>
            </a:r>
          </a:p>
        </p:txBody>
      </p:sp>
      <p:sp>
        <p:nvSpPr>
          <p:cNvPr id="53" name="모서리가 둥근 직사각형 52"/>
          <p:cNvSpPr/>
          <p:nvPr/>
        </p:nvSpPr>
        <p:spPr bwMode="auto">
          <a:xfrm>
            <a:off x="851662" y="1433559"/>
            <a:ext cx="3065028" cy="63342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chemeClr val="bg1"/>
                </a:solidFill>
                <a:latin typeface="굴림" charset="-127"/>
                <a:ea typeface="굴림" charset="-127"/>
              </a:rPr>
              <a:t>추론기관엔진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3246" y="2014021"/>
            <a:ext cx="19800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지식설명과 지식획득</a:t>
            </a:r>
          </a:p>
        </p:txBody>
      </p:sp>
      <p:grpSp>
        <p:nvGrpSpPr>
          <p:cNvPr id="56" name="그룹 55"/>
          <p:cNvGrpSpPr/>
          <p:nvPr/>
        </p:nvGrpSpPr>
        <p:grpSpPr>
          <a:xfrm>
            <a:off x="3776108" y="3678892"/>
            <a:ext cx="1127860" cy="1127860"/>
            <a:chOff x="3643306" y="3714752"/>
            <a:chExt cx="1285884" cy="1285884"/>
          </a:xfrm>
        </p:grpSpPr>
        <p:sp>
          <p:nvSpPr>
            <p:cNvPr id="57" name="타원 56"/>
            <p:cNvSpPr/>
            <p:nvPr/>
          </p:nvSpPr>
          <p:spPr bwMode="auto">
            <a:xfrm>
              <a:off x="3643306" y="3714752"/>
              <a:ext cx="1285884" cy="128588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</a:endParaRPr>
            </a:p>
          </p:txBody>
        </p:sp>
        <p:graphicFrame>
          <p:nvGraphicFramePr>
            <p:cNvPr id="58" name="Object 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732397" y="4050454"/>
            <a:ext cx="1072686" cy="57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클립" r:id="rId7" imgW="2962080" imgH="2619360" progId="">
                    <p:embed/>
                  </p:oleObj>
                </mc:Choice>
                <mc:Fallback>
                  <p:oleObj name="클립" r:id="rId7" imgW="2962080" imgH="2619360" progId="">
                    <p:embed/>
                    <p:pic>
                      <p:nvPicPr>
                        <p:cNvPr id="0" name="Picture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2397" y="4050454"/>
                          <a:ext cx="1072686" cy="57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35785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19278" y="142852"/>
            <a:ext cx="541024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To-Be </a:t>
            </a:r>
            <a:r>
              <a:rPr lang="ko-KR" altLang="en-US" sz="2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돌발 병해충 </a:t>
            </a:r>
            <a:r>
              <a:rPr lang="ko-KR" altLang="en-US" sz="22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예찰</a:t>
            </a:r>
            <a:r>
              <a:rPr lang="en-US" altLang="ko-KR" sz="2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진단</a:t>
            </a:r>
            <a:r>
              <a:rPr lang="en-US" altLang="ko-KR" sz="2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방제 프로세스</a:t>
            </a:r>
            <a:endParaRPr lang="en-US" altLang="ko-KR" sz="22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269328" y="714356"/>
            <a:ext cx="8712200" cy="5930042"/>
            <a:chOff x="113" y="284"/>
            <a:chExt cx="5488" cy="3782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113" y="587"/>
              <a:ext cx="5488" cy="347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 dirty="0"/>
            </a:p>
          </p:txBody>
        </p:sp>
        <p:sp>
          <p:nvSpPr>
            <p:cNvPr id="19" name="Rectangle 2"/>
            <p:cNvSpPr>
              <a:spLocks noChangeArrowheads="1"/>
            </p:cNvSpPr>
            <p:nvPr/>
          </p:nvSpPr>
          <p:spPr bwMode="auto">
            <a:xfrm>
              <a:off x="541" y="849"/>
              <a:ext cx="5021" cy="726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>
                <a:defRPr/>
              </a:pPr>
              <a:endParaRPr lang="ko-KR" altLang="en-US"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20" name="Rectangle 2"/>
            <p:cNvSpPr>
              <a:spLocks noChangeArrowheads="1"/>
            </p:cNvSpPr>
            <p:nvPr/>
          </p:nvSpPr>
          <p:spPr bwMode="auto">
            <a:xfrm>
              <a:off x="158" y="622"/>
              <a:ext cx="362" cy="181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r>
                <a:rPr lang="ko-KR" altLang="en-US" sz="1400" b="1" dirty="0">
                  <a:latin typeface="굴림체" pitchFamily="49" charset="-127"/>
                  <a:ea typeface="굴림체" pitchFamily="49" charset="-127"/>
                </a:rPr>
                <a:t>조직</a:t>
              </a:r>
            </a:p>
          </p:txBody>
        </p:sp>
        <p:sp>
          <p:nvSpPr>
            <p:cNvPr id="21" name="Rectangle 2"/>
            <p:cNvSpPr>
              <a:spLocks noChangeArrowheads="1"/>
            </p:cNvSpPr>
            <p:nvPr/>
          </p:nvSpPr>
          <p:spPr bwMode="auto">
            <a:xfrm>
              <a:off x="541" y="622"/>
              <a:ext cx="5033" cy="181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r>
                <a:rPr lang="en-US" altLang="ko-KR" sz="1400" b="1">
                  <a:latin typeface="굴림체" pitchFamily="49" charset="-127"/>
                  <a:ea typeface="굴림체" pitchFamily="49" charset="-127"/>
                </a:rPr>
                <a:t>Activity</a:t>
              </a:r>
            </a:p>
          </p:txBody>
        </p:sp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521" y="2210"/>
              <a:ext cx="5035" cy="90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ko-KR" altLang="en-US"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23" name="AutoShape 5"/>
            <p:cNvSpPr>
              <a:spLocks noChangeArrowheads="1"/>
            </p:cNvSpPr>
            <p:nvPr/>
          </p:nvSpPr>
          <p:spPr bwMode="auto">
            <a:xfrm>
              <a:off x="158" y="1605"/>
              <a:ext cx="335" cy="1504"/>
            </a:xfrm>
            <a:prstGeom prst="roundRect">
              <a:avLst>
                <a:gd name="adj" fmla="val 12292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8800" tIns="68795" rIns="28800" bIns="68795" anchor="ctr"/>
            <a:lstStyle/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농촌</a:t>
              </a:r>
            </a:p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진흥청</a:t>
              </a:r>
            </a:p>
          </p:txBody>
        </p:sp>
        <p:sp>
          <p:nvSpPr>
            <p:cNvPr id="24" name="AutoShape 60"/>
            <p:cNvSpPr>
              <a:spLocks noChangeArrowheads="1"/>
            </p:cNvSpPr>
            <p:nvPr/>
          </p:nvSpPr>
          <p:spPr bwMode="auto">
            <a:xfrm>
              <a:off x="162" y="843"/>
              <a:ext cx="346" cy="720"/>
            </a:xfrm>
            <a:prstGeom prst="roundRect">
              <a:avLst>
                <a:gd name="adj" fmla="val 12292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8800" tIns="68795" rIns="28800" bIns="68795" anchor="ctr"/>
            <a:lstStyle/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농림</a:t>
              </a:r>
              <a:endParaRPr lang="en-US" altLang="ko-KR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수산</a:t>
              </a:r>
            </a:p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 dirty="0" err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식품부</a:t>
              </a:r>
              <a:endParaRPr lang="ko-KR" altLang="en-US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586" y="929"/>
              <a:ext cx="437" cy="49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PC4_01_01</a:t>
              </a: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돌발</a:t>
              </a:r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,</a:t>
              </a:r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외래</a:t>
              </a:r>
              <a:endPara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병해충 </a:t>
              </a: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기본계획수립 </a:t>
              </a:r>
              <a:endPara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및 시행</a:t>
              </a:r>
            </a:p>
          </p:txBody>
        </p:sp>
        <p:sp>
          <p:nvSpPr>
            <p:cNvPr id="26" name="AutoShape 7"/>
            <p:cNvSpPr>
              <a:spLocks noChangeArrowheads="1"/>
            </p:cNvSpPr>
            <p:nvPr/>
          </p:nvSpPr>
          <p:spPr bwMode="auto">
            <a:xfrm>
              <a:off x="154" y="3146"/>
              <a:ext cx="331" cy="828"/>
            </a:xfrm>
            <a:prstGeom prst="roundRect">
              <a:avLst>
                <a:gd name="adj" fmla="val 12292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8800" tIns="68795" rIns="28800" bIns="68795" anchor="ctr"/>
            <a:lstStyle/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도</a:t>
              </a:r>
              <a:r>
                <a:rPr lang="en-US" altLang="ko-KR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시</a:t>
              </a:r>
              <a:r>
                <a:rPr lang="en-US" altLang="ko-KR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군청</a:t>
              </a:r>
              <a:endParaRPr lang="en-US" altLang="ko-KR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1376363" eaLnBrk="0" latinLnBrk="0">
                <a:spcBef>
                  <a:spcPct val="20000"/>
                </a:spcBef>
              </a:pPr>
              <a:r>
                <a:rPr lang="en-US" altLang="ko-KR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(</a:t>
              </a: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도원</a:t>
              </a:r>
              <a:r>
                <a:rPr lang="en-US" altLang="ko-KR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, </a:t>
              </a: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시군</a:t>
              </a:r>
              <a:endParaRPr lang="en-US" altLang="ko-KR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1376363" eaLnBrk="0" latinLnBrk="0">
                <a:spcBef>
                  <a:spcPct val="20000"/>
                </a:spcBef>
              </a:pPr>
              <a:r>
                <a:rPr lang="ko-KR" altLang="en-US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센터</a:t>
              </a:r>
              <a:r>
                <a:rPr lang="en-US" altLang="ko-KR" sz="900" b="1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)</a:t>
              </a:r>
              <a:endParaRPr lang="ko-KR" altLang="en-US" sz="9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27" name="Rectangle 37"/>
            <p:cNvSpPr>
              <a:spLocks noChangeArrowheads="1"/>
            </p:cNvSpPr>
            <p:nvPr/>
          </p:nvSpPr>
          <p:spPr bwMode="auto">
            <a:xfrm>
              <a:off x="1028" y="3723"/>
              <a:ext cx="589" cy="19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76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PC4_01_03</a:t>
              </a:r>
            </a:p>
            <a:p>
              <a:pPr algn="ctr" defTabSz="857250" eaLnBrk="0" latinLnBrk="0"/>
              <a:r>
                <a:rPr lang="ko-KR" altLang="en-US" sz="76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병해충 발견 및 보고</a:t>
              </a:r>
            </a:p>
          </p:txBody>
        </p:sp>
        <p:sp>
          <p:nvSpPr>
            <p:cNvPr id="28" name="Rectangle 37"/>
            <p:cNvSpPr>
              <a:spLocks noChangeArrowheads="1"/>
            </p:cNvSpPr>
            <p:nvPr/>
          </p:nvSpPr>
          <p:spPr bwMode="auto">
            <a:xfrm>
              <a:off x="616" y="3299"/>
              <a:ext cx="675" cy="27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PC4_01_02</a:t>
              </a: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기본계획에 따른 </a:t>
              </a: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세부계획 시행</a:t>
              </a:r>
            </a:p>
          </p:txBody>
        </p:sp>
        <p:cxnSp>
          <p:nvCxnSpPr>
            <p:cNvPr id="29" name="AutoShape 91"/>
            <p:cNvCxnSpPr>
              <a:cxnSpLocks noChangeShapeType="1"/>
              <a:stCxn id="25" idx="2"/>
            </p:cNvCxnSpPr>
            <p:nvPr/>
          </p:nvCxnSpPr>
          <p:spPr bwMode="auto">
            <a:xfrm rot="16200000" flipH="1">
              <a:off x="-130" y="2357"/>
              <a:ext cx="1876" cy="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0" name="모서리가 둥근 직사각형 29"/>
            <p:cNvSpPr/>
            <p:nvPr/>
          </p:nvSpPr>
          <p:spPr>
            <a:xfrm>
              <a:off x="1141" y="1682"/>
              <a:ext cx="362" cy="19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857250" eaLnBrk="0" latinLnBrk="0">
                <a:defRPr/>
              </a:pPr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병해충 보고</a:t>
              </a:r>
            </a:p>
          </p:txBody>
        </p:sp>
        <p:sp>
          <p:nvSpPr>
            <p:cNvPr id="32" name="Rectangle 37"/>
            <p:cNvSpPr>
              <a:spLocks noChangeArrowheads="1"/>
            </p:cNvSpPr>
            <p:nvPr/>
          </p:nvSpPr>
          <p:spPr bwMode="auto">
            <a:xfrm>
              <a:off x="1028" y="2301"/>
              <a:ext cx="589" cy="19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PC4_01_04</a:t>
              </a:r>
            </a:p>
            <a:p>
              <a:pPr algn="ctr" defTabSz="857250" eaLnBrk="0" latinLnBrk="0"/>
              <a:r>
                <a:rPr lang="ko-KR" altLang="en-US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병해충 접수 및 보고</a:t>
              </a:r>
            </a:p>
          </p:txBody>
        </p:sp>
        <p:cxnSp>
          <p:nvCxnSpPr>
            <p:cNvPr id="33" name="AutoShape 18"/>
            <p:cNvCxnSpPr>
              <a:cxnSpLocks noChangeShapeType="1"/>
              <a:stCxn id="28" idx="2"/>
              <a:endCxn id="27" idx="1"/>
            </p:cNvCxnSpPr>
            <p:nvPr/>
          </p:nvCxnSpPr>
          <p:spPr bwMode="auto">
            <a:xfrm rot="16200000" flipH="1">
              <a:off x="867" y="3662"/>
              <a:ext cx="247" cy="74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34" name="모서리가 둥근 직사각형 82"/>
            <p:cNvSpPr/>
            <p:nvPr/>
          </p:nvSpPr>
          <p:spPr>
            <a:xfrm>
              <a:off x="1371" y="1955"/>
              <a:ext cx="680" cy="19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857250" eaLnBrk="0" latinLnBrk="0">
                <a:defRPr/>
              </a:pPr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병해충 분포범위</a:t>
              </a:r>
            </a:p>
            <a:p>
              <a:pPr algn="ctr" defTabSz="857250" eaLnBrk="0" latinLnBrk="0">
                <a:defRPr/>
              </a:pPr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조사결과</a:t>
              </a:r>
            </a:p>
          </p:txBody>
        </p:sp>
        <p:sp>
          <p:nvSpPr>
            <p:cNvPr id="36" name="AutoShape 20"/>
            <p:cNvSpPr>
              <a:spLocks noChangeArrowheads="1"/>
            </p:cNvSpPr>
            <p:nvPr/>
          </p:nvSpPr>
          <p:spPr bwMode="auto">
            <a:xfrm>
              <a:off x="1416" y="2603"/>
              <a:ext cx="771" cy="317"/>
            </a:xfrm>
            <a:prstGeom prst="roundRect">
              <a:avLst>
                <a:gd name="adj" fmla="val 16667"/>
              </a:avLst>
            </a:prstGeom>
            <a:noFill/>
            <a:ln w="15875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40" name="Text Box 21"/>
            <p:cNvSpPr txBox="1">
              <a:spLocks noChangeArrowheads="1"/>
            </p:cNvSpPr>
            <p:nvPr/>
          </p:nvSpPr>
          <p:spPr bwMode="auto">
            <a:xfrm>
              <a:off x="1424" y="2694"/>
              <a:ext cx="761" cy="157"/>
            </a:xfrm>
            <a:prstGeom prst="rect">
              <a:avLst/>
            </a:prstGeom>
            <a:solidFill>
              <a:schemeClr val="bg1"/>
            </a:solidFill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b="1">
                  <a:latin typeface="굴림체" pitchFamily="49" charset="-127"/>
                  <a:ea typeface="굴림체" pitchFamily="49" charset="-127"/>
                </a:rPr>
                <a:t>※ </a:t>
              </a:r>
              <a:r>
                <a:rPr lang="ko-KR" altLang="en-US" sz="1000" b="1">
                  <a:latin typeface="굴림체" pitchFamily="49" charset="-127"/>
                  <a:ea typeface="굴림체" pitchFamily="49" charset="-127"/>
                </a:rPr>
                <a:t>분포범위 조사</a:t>
              </a:r>
            </a:p>
          </p:txBody>
        </p:sp>
        <p:sp>
          <p:nvSpPr>
            <p:cNvPr id="42" name="Rectangle 37"/>
            <p:cNvSpPr>
              <a:spLocks noChangeArrowheads="1"/>
            </p:cNvSpPr>
            <p:nvPr/>
          </p:nvSpPr>
          <p:spPr bwMode="auto">
            <a:xfrm>
              <a:off x="2329" y="3480"/>
              <a:ext cx="675" cy="27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PC4_02_06</a:t>
              </a:r>
            </a:p>
            <a:p>
              <a:pPr algn="ctr" defTabSz="857250" eaLnBrk="0" latinLnBrk="0"/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외래병해충 접수</a:t>
              </a:r>
            </a:p>
          </p:txBody>
        </p:sp>
        <p:sp>
          <p:nvSpPr>
            <p:cNvPr id="46" name="모서리가 둥근 직사각형 82"/>
            <p:cNvSpPr/>
            <p:nvPr/>
          </p:nvSpPr>
          <p:spPr>
            <a:xfrm>
              <a:off x="3701" y="1727"/>
              <a:ext cx="816" cy="19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857250" eaLnBrk="0" latinLnBrk="0">
                <a:defRPr/>
              </a:pPr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병해충 분류동정 및 위혐도평가 결과</a:t>
              </a:r>
            </a:p>
          </p:txBody>
        </p:sp>
        <p:sp>
          <p:nvSpPr>
            <p:cNvPr id="47" name="AutoShape 24"/>
            <p:cNvSpPr>
              <a:spLocks noChangeArrowheads="1"/>
            </p:cNvSpPr>
            <p:nvPr/>
          </p:nvSpPr>
          <p:spPr bwMode="auto">
            <a:xfrm>
              <a:off x="2187" y="2300"/>
              <a:ext cx="935" cy="353"/>
            </a:xfrm>
            <a:prstGeom prst="diamond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PC4_02_01</a:t>
              </a:r>
            </a:p>
            <a:p>
              <a:pPr algn="ctr"/>
              <a:r>
                <a:rPr lang="ko-KR" altLang="en-US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분류동정</a:t>
              </a:r>
              <a:r>
                <a:rPr lang="en-US" altLang="ko-KR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(</a:t>
              </a:r>
              <a:r>
                <a:rPr lang="ko-KR" altLang="en-US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외래병해충</a:t>
              </a:r>
              <a:r>
                <a:rPr lang="en-US" altLang="ko-KR" sz="76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)</a:t>
              </a:r>
              <a:endParaRPr lang="en-US" altLang="ko-KR" sz="760" dirty="0"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2941" y="2347"/>
              <a:ext cx="404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800">
                  <a:latin typeface="굴림체" pitchFamily="49" charset="-127"/>
                  <a:ea typeface="굴림체" pitchFamily="49" charset="-127"/>
                </a:rPr>
                <a:t>Yes or No</a:t>
              </a:r>
            </a:p>
          </p:txBody>
        </p:sp>
        <p:sp>
          <p:nvSpPr>
            <p:cNvPr id="49" name="모서리가 둥근 직사각형 82"/>
            <p:cNvSpPr/>
            <p:nvPr/>
          </p:nvSpPr>
          <p:spPr>
            <a:xfrm>
              <a:off x="2315" y="1756"/>
              <a:ext cx="680" cy="19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857250" eaLnBrk="0" latinLnBrk="0">
                <a:defRPr/>
              </a:pPr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외래병해충 통보</a:t>
              </a:r>
            </a:p>
          </p:txBody>
        </p:sp>
        <p:sp>
          <p:nvSpPr>
            <p:cNvPr id="50" name="Rectangle 37"/>
            <p:cNvSpPr>
              <a:spLocks noChangeArrowheads="1"/>
            </p:cNvSpPr>
            <p:nvPr/>
          </p:nvSpPr>
          <p:spPr bwMode="auto">
            <a:xfrm>
              <a:off x="3767" y="2045"/>
              <a:ext cx="683" cy="30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PC4_02_04</a:t>
              </a: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위험도 평가 및</a:t>
              </a:r>
            </a:p>
            <a:p>
              <a:pPr algn="ctr"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결과보고 및 통보</a:t>
              </a:r>
            </a:p>
            <a:p>
              <a:pPr algn="ctr" defTabSz="857250" eaLnBrk="0" latinLnBrk="0"/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(</a:t>
              </a:r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돌발병해충판단</a:t>
              </a:r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)</a:t>
              </a:r>
            </a:p>
          </p:txBody>
        </p:sp>
        <p:cxnSp>
          <p:nvCxnSpPr>
            <p:cNvPr id="51" name="AutoShape 28"/>
            <p:cNvCxnSpPr>
              <a:cxnSpLocks noChangeShapeType="1"/>
              <a:stCxn id="47" idx="0"/>
            </p:cNvCxnSpPr>
            <p:nvPr/>
          </p:nvCxnSpPr>
          <p:spPr bwMode="auto">
            <a:xfrm flipV="1">
              <a:off x="2655" y="1961"/>
              <a:ext cx="0" cy="33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2" name="AutoShape 29"/>
            <p:cNvCxnSpPr>
              <a:cxnSpLocks noChangeShapeType="1"/>
              <a:stCxn id="30" idx="3"/>
              <a:endCxn id="47" idx="1"/>
            </p:cNvCxnSpPr>
            <p:nvPr/>
          </p:nvCxnSpPr>
          <p:spPr bwMode="auto">
            <a:xfrm>
              <a:off x="1503" y="1780"/>
              <a:ext cx="684" cy="696"/>
            </a:xfrm>
            <a:prstGeom prst="bentConnector3">
              <a:avLst>
                <a:gd name="adj1" fmla="val 8715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3" name="AutoShape 30"/>
            <p:cNvCxnSpPr>
              <a:cxnSpLocks noChangeShapeType="1"/>
              <a:stCxn id="47" idx="3"/>
              <a:endCxn id="54" idx="2"/>
            </p:cNvCxnSpPr>
            <p:nvPr/>
          </p:nvCxnSpPr>
          <p:spPr bwMode="auto">
            <a:xfrm flipV="1">
              <a:off x="3122" y="2315"/>
              <a:ext cx="204" cy="162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54" name="AutoShape 31"/>
            <p:cNvSpPr>
              <a:spLocks noChangeArrowheads="1"/>
            </p:cNvSpPr>
            <p:nvPr/>
          </p:nvSpPr>
          <p:spPr bwMode="auto">
            <a:xfrm>
              <a:off x="3031" y="2083"/>
              <a:ext cx="589" cy="227"/>
            </a:xfrm>
            <a:prstGeom prst="roundRect">
              <a:avLst>
                <a:gd name="adj" fmla="val 16667"/>
              </a:avLst>
            </a:prstGeom>
            <a:noFill/>
            <a:ln w="15875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5" name="Text Box 32"/>
            <p:cNvSpPr txBox="1">
              <a:spLocks noChangeArrowheads="1"/>
            </p:cNvSpPr>
            <p:nvPr/>
          </p:nvSpPr>
          <p:spPr bwMode="auto">
            <a:xfrm>
              <a:off x="3069" y="2119"/>
              <a:ext cx="520" cy="157"/>
            </a:xfrm>
            <a:prstGeom prst="rect">
              <a:avLst/>
            </a:prstGeom>
            <a:solidFill>
              <a:schemeClr val="bg1"/>
            </a:solidFill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b="1">
                  <a:latin typeface="굴림체" pitchFamily="49" charset="-127"/>
                  <a:ea typeface="굴림체" pitchFamily="49" charset="-127"/>
                </a:rPr>
                <a:t>※</a:t>
              </a:r>
              <a:r>
                <a:rPr lang="ko-KR" altLang="en-US" sz="1000" b="1">
                  <a:latin typeface="굴림체" pitchFamily="49" charset="-127"/>
                  <a:ea typeface="굴림체" pitchFamily="49" charset="-127"/>
                </a:rPr>
                <a:t>역학조사</a:t>
              </a:r>
            </a:p>
          </p:txBody>
        </p:sp>
        <p:sp>
          <p:nvSpPr>
            <p:cNvPr id="56" name="Rectangle 37"/>
            <p:cNvSpPr>
              <a:spLocks noChangeArrowheads="1"/>
            </p:cNvSpPr>
            <p:nvPr/>
          </p:nvSpPr>
          <p:spPr bwMode="auto">
            <a:xfrm>
              <a:off x="2368" y="2829"/>
              <a:ext cx="589" cy="197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PC4_02_05</a:t>
              </a:r>
            </a:p>
            <a:p>
              <a:pPr algn="ctr" defTabSz="857250" eaLnBrk="0" latinLnBrk="0"/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외래병해충 통보</a:t>
              </a:r>
            </a:p>
          </p:txBody>
        </p:sp>
        <p:cxnSp>
          <p:nvCxnSpPr>
            <p:cNvPr id="57" name="AutoShape 91"/>
            <p:cNvCxnSpPr>
              <a:cxnSpLocks noChangeShapeType="1"/>
              <a:stCxn id="56" idx="2"/>
              <a:endCxn id="42" idx="0"/>
            </p:cNvCxnSpPr>
            <p:nvPr/>
          </p:nvCxnSpPr>
          <p:spPr bwMode="auto">
            <a:xfrm>
              <a:off x="2663" y="3026"/>
              <a:ext cx="4" cy="45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8" name="Text Box 35"/>
            <p:cNvSpPr txBox="1">
              <a:spLocks noChangeArrowheads="1"/>
            </p:cNvSpPr>
            <p:nvPr/>
          </p:nvSpPr>
          <p:spPr bwMode="auto">
            <a:xfrm>
              <a:off x="2428" y="2075"/>
              <a:ext cx="212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800">
                  <a:latin typeface="굴림체" pitchFamily="49" charset="-127"/>
                  <a:ea typeface="굴림체" pitchFamily="49" charset="-127"/>
                </a:rPr>
                <a:t>Yes</a:t>
              </a:r>
            </a:p>
          </p:txBody>
        </p:sp>
        <p:sp>
          <p:nvSpPr>
            <p:cNvPr id="59" name="Text Box 36"/>
            <p:cNvSpPr txBox="1">
              <a:spLocks noChangeArrowheads="1"/>
            </p:cNvSpPr>
            <p:nvPr/>
          </p:nvSpPr>
          <p:spPr bwMode="auto">
            <a:xfrm>
              <a:off x="2429" y="2623"/>
              <a:ext cx="212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800">
                  <a:latin typeface="굴림체" pitchFamily="49" charset="-127"/>
                  <a:ea typeface="굴림체" pitchFamily="49" charset="-127"/>
                </a:rPr>
                <a:t>Yes</a:t>
              </a:r>
            </a:p>
          </p:txBody>
        </p:sp>
        <p:cxnSp>
          <p:nvCxnSpPr>
            <p:cNvPr id="60" name="AutoShape 37"/>
            <p:cNvCxnSpPr>
              <a:cxnSpLocks noChangeShapeType="1"/>
              <a:stCxn id="54" idx="3"/>
              <a:endCxn id="50" idx="1"/>
            </p:cNvCxnSpPr>
            <p:nvPr/>
          </p:nvCxnSpPr>
          <p:spPr bwMode="auto">
            <a:xfrm>
              <a:off x="3625" y="2197"/>
              <a:ext cx="142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1" name="AutoShape 38"/>
            <p:cNvCxnSpPr>
              <a:cxnSpLocks noChangeShapeType="1"/>
              <a:stCxn id="47" idx="2"/>
              <a:endCxn id="56" idx="0"/>
            </p:cNvCxnSpPr>
            <p:nvPr/>
          </p:nvCxnSpPr>
          <p:spPr bwMode="auto">
            <a:xfrm>
              <a:off x="2655" y="2653"/>
              <a:ext cx="8" cy="1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2" name="AutoShape 39"/>
            <p:cNvCxnSpPr>
              <a:cxnSpLocks noChangeShapeType="1"/>
              <a:stCxn id="32" idx="0"/>
              <a:endCxn id="30" idx="2"/>
            </p:cNvCxnSpPr>
            <p:nvPr/>
          </p:nvCxnSpPr>
          <p:spPr bwMode="auto">
            <a:xfrm rot="16200000" flipV="1">
              <a:off x="1111" y="2090"/>
              <a:ext cx="422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3" name="AutoShape 40"/>
            <p:cNvCxnSpPr>
              <a:cxnSpLocks noChangeShapeType="1"/>
              <a:stCxn id="27" idx="0"/>
              <a:endCxn id="32" idx="2"/>
            </p:cNvCxnSpPr>
            <p:nvPr/>
          </p:nvCxnSpPr>
          <p:spPr bwMode="auto">
            <a:xfrm flipV="1">
              <a:off x="1323" y="2498"/>
              <a:ext cx="0" cy="12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4" name="AutoShape 41"/>
            <p:cNvCxnSpPr>
              <a:cxnSpLocks noChangeShapeType="1"/>
              <a:stCxn id="32" idx="3"/>
              <a:endCxn id="36" idx="0"/>
            </p:cNvCxnSpPr>
            <p:nvPr/>
          </p:nvCxnSpPr>
          <p:spPr bwMode="auto">
            <a:xfrm>
              <a:off x="1617" y="2400"/>
              <a:ext cx="185" cy="198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5" name="AutoShape 42"/>
            <p:cNvCxnSpPr>
              <a:cxnSpLocks noChangeShapeType="1"/>
              <a:stCxn id="50" idx="2"/>
              <a:endCxn id="36" idx="3"/>
            </p:cNvCxnSpPr>
            <p:nvPr/>
          </p:nvCxnSpPr>
          <p:spPr bwMode="auto">
            <a:xfrm rot="5400000">
              <a:off x="2945" y="1597"/>
              <a:ext cx="412" cy="1917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/>
            </a:ln>
          </p:spPr>
        </p:cxnSp>
        <p:sp>
          <p:nvSpPr>
            <p:cNvPr id="66" name="AutoShape 43"/>
            <p:cNvSpPr>
              <a:spLocks noChangeArrowheads="1"/>
            </p:cNvSpPr>
            <p:nvPr/>
          </p:nvSpPr>
          <p:spPr bwMode="auto">
            <a:xfrm>
              <a:off x="4562" y="1104"/>
              <a:ext cx="238" cy="197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5875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 Box 44"/>
            <p:cNvSpPr txBox="1">
              <a:spLocks noChangeArrowheads="1"/>
            </p:cNvSpPr>
            <p:nvPr/>
          </p:nvSpPr>
          <p:spPr bwMode="auto">
            <a:xfrm>
              <a:off x="4580" y="1697"/>
              <a:ext cx="188" cy="746"/>
            </a:xfrm>
            <a:prstGeom prst="rect">
              <a:avLst/>
            </a:prstGeom>
            <a:solidFill>
              <a:schemeClr val="bg1"/>
            </a:solidFill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방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제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대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책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 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위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원</a:t>
              </a:r>
            </a:p>
            <a:p>
              <a:pPr>
                <a:defRPr/>
              </a:pPr>
              <a:r>
                <a:rPr lang="ko-KR" altLang="en-US" sz="900" b="1">
                  <a:latin typeface="굴림체" pitchFamily="49" charset="-127"/>
                  <a:ea typeface="굴림체" pitchFamily="49" charset="-127"/>
                </a:rPr>
                <a:t>회</a:t>
              </a:r>
            </a:p>
          </p:txBody>
        </p:sp>
        <p:sp>
          <p:nvSpPr>
            <p:cNvPr id="68" name="Text Box 45"/>
            <p:cNvSpPr txBox="1">
              <a:spLocks noChangeArrowheads="1"/>
            </p:cNvSpPr>
            <p:nvPr/>
          </p:nvSpPr>
          <p:spPr bwMode="auto">
            <a:xfrm>
              <a:off x="4779" y="1451"/>
              <a:ext cx="244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800">
                  <a:latin typeface="굴림체" pitchFamily="49" charset="-127"/>
                  <a:ea typeface="굴림체" pitchFamily="49" charset="-127"/>
                </a:rPr>
                <a:t>긴급</a:t>
              </a:r>
            </a:p>
          </p:txBody>
        </p:sp>
        <p:sp>
          <p:nvSpPr>
            <p:cNvPr id="69" name="Rectangle 37"/>
            <p:cNvSpPr>
              <a:spLocks noChangeArrowheads="1"/>
            </p:cNvSpPr>
            <p:nvPr/>
          </p:nvSpPr>
          <p:spPr bwMode="auto">
            <a:xfrm>
              <a:off x="5003" y="1076"/>
              <a:ext cx="182" cy="258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※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긴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급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방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제</a:t>
              </a: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  <a:p>
              <a:pPr algn="ctr" defTabSz="857250" eaLnBrk="0" latinLnBrk="0"/>
              <a:endParaRPr lang="ko-KR" altLang="en-US" sz="10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70" name="Line 47"/>
            <p:cNvSpPr>
              <a:spLocks noChangeShapeType="1"/>
            </p:cNvSpPr>
            <p:nvPr/>
          </p:nvSpPr>
          <p:spPr bwMode="auto">
            <a:xfrm flipV="1">
              <a:off x="4800" y="1582"/>
              <a:ext cx="2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Rectangle 37"/>
            <p:cNvSpPr>
              <a:spLocks noChangeArrowheads="1"/>
            </p:cNvSpPr>
            <p:nvPr/>
          </p:nvSpPr>
          <p:spPr bwMode="auto">
            <a:xfrm>
              <a:off x="5238" y="1076"/>
              <a:ext cx="182" cy="258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42876" rIns="0" bIns="42876" anchor="ctr"/>
            <a:lstStyle/>
            <a:p>
              <a:pPr algn="ctr" defTabSz="857250" eaLnBrk="0" latinLnBrk="0"/>
              <a:r>
                <a:rPr lang="en-US" altLang="ko-KR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※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공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적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방</a:t>
              </a:r>
            </a:p>
            <a:p>
              <a:pPr algn="ctr" defTabSz="857250" eaLnBrk="0" latinLnBrk="0"/>
              <a:r>
                <a:rPr lang="ko-KR" altLang="en-US" sz="10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제</a:t>
              </a:r>
            </a:p>
          </p:txBody>
        </p:sp>
        <p:sp>
          <p:nvSpPr>
            <p:cNvPr id="72" name="Line 49"/>
            <p:cNvSpPr>
              <a:spLocks noChangeShapeType="1"/>
            </p:cNvSpPr>
            <p:nvPr/>
          </p:nvSpPr>
          <p:spPr bwMode="auto">
            <a:xfrm>
              <a:off x="4800" y="2709"/>
              <a:ext cx="454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73" name="AutoShape 50"/>
            <p:cNvCxnSpPr>
              <a:cxnSpLocks noChangeShapeType="1"/>
              <a:stCxn id="50" idx="0"/>
              <a:endCxn id="46" idx="2"/>
            </p:cNvCxnSpPr>
            <p:nvPr/>
          </p:nvCxnSpPr>
          <p:spPr bwMode="auto">
            <a:xfrm rot="5400000" flipH="1" flipV="1">
              <a:off x="4048" y="1984"/>
              <a:ext cx="121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1126" y="284"/>
              <a:ext cx="3069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l" latinLnBrk="0">
                <a:lnSpc>
                  <a:spcPct val="120000"/>
                </a:lnSpc>
                <a:spcBef>
                  <a:spcPct val="40000"/>
                </a:spcBef>
                <a:defRPr/>
              </a:pPr>
              <a:r>
                <a:rPr lang="ko-KR" altLang="en-US" sz="2000" b="1">
                  <a:latin typeface="굴림체" pitchFamily="49" charset="-127"/>
                  <a:ea typeface="굴림체" pitchFamily="49" charset="-127"/>
                </a:rPr>
                <a:t>돌발 병해충 예찰</a:t>
              </a:r>
              <a:r>
                <a:rPr lang="en-US" altLang="ko-KR" sz="2000" b="1">
                  <a:latin typeface="굴림체" pitchFamily="49" charset="-127"/>
                  <a:ea typeface="굴림체" pitchFamily="49" charset="-127"/>
                </a:rPr>
                <a:t>, </a:t>
              </a:r>
              <a:r>
                <a:rPr lang="ko-KR" altLang="en-US" sz="2000" b="1">
                  <a:latin typeface="굴림체" pitchFamily="49" charset="-127"/>
                  <a:ea typeface="굴림체" pitchFamily="49" charset="-127"/>
                </a:rPr>
                <a:t>진단</a:t>
              </a:r>
              <a:r>
                <a:rPr lang="en-US" altLang="ko-KR" sz="2000" b="1">
                  <a:latin typeface="굴림체" pitchFamily="49" charset="-127"/>
                  <a:ea typeface="굴림체" pitchFamily="49" charset="-127"/>
                </a:rPr>
                <a:t>, </a:t>
              </a:r>
              <a:r>
                <a:rPr lang="ko-KR" altLang="en-US" sz="2000" b="1">
                  <a:latin typeface="굴림체" pitchFamily="49" charset="-127"/>
                  <a:ea typeface="굴림체" pitchFamily="49" charset="-127"/>
                </a:rPr>
                <a:t>방제 프로세스</a:t>
              </a:r>
            </a:p>
          </p:txBody>
        </p:sp>
        <p:sp>
          <p:nvSpPr>
            <p:cNvPr id="75" name="Text Box 52"/>
            <p:cNvSpPr txBox="1">
              <a:spLocks noChangeArrowheads="1"/>
            </p:cNvSpPr>
            <p:nvPr/>
          </p:nvSpPr>
          <p:spPr bwMode="auto">
            <a:xfrm>
              <a:off x="4793" y="2587"/>
              <a:ext cx="244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800">
                  <a:latin typeface="굴림체" pitchFamily="49" charset="-127"/>
                  <a:ea typeface="굴림체" pitchFamily="49" charset="-127"/>
                </a:rPr>
                <a:t>공적</a:t>
              </a:r>
            </a:p>
          </p:txBody>
        </p:sp>
        <p:cxnSp>
          <p:nvCxnSpPr>
            <p:cNvPr id="76" name="AutoShape 53"/>
            <p:cNvCxnSpPr>
              <a:cxnSpLocks noChangeShapeType="1"/>
              <a:stCxn id="50" idx="3"/>
              <a:endCxn id="66" idx="1"/>
            </p:cNvCxnSpPr>
            <p:nvPr/>
          </p:nvCxnSpPr>
          <p:spPr bwMode="auto">
            <a:xfrm flipV="1">
              <a:off x="4450" y="2091"/>
              <a:ext cx="112" cy="10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77" name="Line 54"/>
            <p:cNvSpPr>
              <a:spLocks noChangeShapeType="1"/>
            </p:cNvSpPr>
            <p:nvPr/>
          </p:nvSpPr>
          <p:spPr bwMode="auto">
            <a:xfrm flipV="1">
              <a:off x="1923" y="2152"/>
              <a:ext cx="0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4" name="AutoShape 50"/>
          <p:cNvSpPr>
            <a:spLocks noChangeArrowheads="1"/>
          </p:cNvSpPr>
          <p:nvPr/>
        </p:nvSpPr>
        <p:spPr bwMode="auto">
          <a:xfrm>
            <a:off x="984065" y="1676368"/>
            <a:ext cx="801853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0" y="6215082"/>
            <a:ext cx="423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단</a:t>
            </a:r>
            <a:r>
              <a:rPr lang="en-US" altLang="ko-KR" sz="1600" dirty="0">
                <a:solidFill>
                  <a:srgbClr val="FF0000"/>
                </a:solidFill>
              </a:rPr>
              <a:t>,</a:t>
            </a:r>
            <a:r>
              <a:rPr lang="ko-KR" altLang="en-US" sz="1600" dirty="0">
                <a:solidFill>
                  <a:srgbClr val="FF0000"/>
                </a:solidFill>
              </a:rPr>
              <a:t>외래병해충은 국립식물검역원에서 </a:t>
            </a:r>
            <a:r>
              <a:rPr lang="ko-KR" altLang="en-US" sz="1600" dirty="0" err="1">
                <a:solidFill>
                  <a:srgbClr val="FF0000"/>
                </a:solidFill>
              </a:rPr>
              <a:t>쥐급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535785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19278" y="142852"/>
            <a:ext cx="54102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To-Be </a:t>
            </a:r>
            <a:r>
              <a:rPr lang="ko-KR" altLang="en-US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돌발 병해충 </a:t>
            </a:r>
            <a:r>
              <a:rPr lang="ko-KR" altLang="en-US" sz="2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예찰</a:t>
            </a:r>
            <a:r>
              <a:rPr lang="en-US" altLang="ko-KR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, </a:t>
            </a:r>
            <a:r>
              <a:rPr lang="ko-KR" altLang="en-US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진단</a:t>
            </a:r>
            <a:r>
              <a:rPr lang="en-US" altLang="ko-KR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, </a:t>
            </a:r>
            <a:r>
              <a:rPr lang="ko-KR" altLang="en-US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방제 프로세스</a:t>
            </a:r>
            <a:r>
              <a:rPr lang="en-US" altLang="ko-KR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(</a:t>
            </a:r>
            <a:r>
              <a:rPr lang="ko-KR" altLang="en-US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계속</a:t>
            </a:r>
            <a:r>
              <a:rPr lang="en-US" altLang="ko-KR" sz="2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76756" y="845950"/>
            <a:ext cx="5530319" cy="273455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126814" y="1011353"/>
            <a:ext cx="4604481" cy="52403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143288" y="2190815"/>
            <a:ext cx="4591301" cy="49002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>
              <a:latin typeface="굴림체" pitchFamily="49" charset="-127"/>
              <a:ea typeface="굴림체" pitchFamily="49" charset="-127"/>
            </a:endParaRPr>
          </a:p>
        </p:txBody>
      </p:sp>
      <p:cxnSp>
        <p:nvCxnSpPr>
          <p:cNvPr id="21" name="AutoShape 107"/>
          <p:cNvCxnSpPr>
            <a:cxnSpLocks noChangeShapeType="1"/>
            <a:stCxn id="31" idx="0"/>
          </p:cNvCxnSpPr>
          <p:nvPr/>
        </p:nvCxnSpPr>
        <p:spPr bwMode="auto">
          <a:xfrm flipH="1" flipV="1">
            <a:off x="5131641" y="1428725"/>
            <a:ext cx="3295" cy="143452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모서리가 둥근 직사각형 82"/>
          <p:cNvSpPr/>
          <p:nvPr/>
        </p:nvSpPr>
        <p:spPr bwMode="auto">
          <a:xfrm>
            <a:off x="4665427" y="1111831"/>
            <a:ext cx="930781" cy="3045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8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긴급방제결과</a:t>
            </a:r>
          </a:p>
        </p:txBody>
      </p:sp>
      <p:sp>
        <p:nvSpPr>
          <p:cNvPr id="23" name="Rectangle 37"/>
          <p:cNvSpPr>
            <a:spLocks noChangeArrowheads="1"/>
          </p:cNvSpPr>
          <p:nvPr/>
        </p:nvSpPr>
        <p:spPr bwMode="auto">
          <a:xfrm>
            <a:off x="2357421" y="1674510"/>
            <a:ext cx="983497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PC4_03_05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방제명령서 발급</a:t>
            </a:r>
          </a:p>
        </p:txBody>
      </p:sp>
      <p:sp>
        <p:nvSpPr>
          <p:cNvPr id="24" name="Rectangle 37"/>
          <p:cNvSpPr>
            <a:spLocks noChangeArrowheads="1"/>
          </p:cNvSpPr>
          <p:nvPr/>
        </p:nvSpPr>
        <p:spPr bwMode="auto">
          <a:xfrm>
            <a:off x="4611063" y="1679148"/>
            <a:ext cx="1046098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PC4_03_07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 결과보고</a:t>
            </a:r>
          </a:p>
        </p:txBody>
      </p:sp>
      <p:sp>
        <p:nvSpPr>
          <p:cNvPr id="25" name="Rectangle 37"/>
          <p:cNvSpPr>
            <a:spLocks noChangeArrowheads="1"/>
          </p:cNvSpPr>
          <p:nvPr/>
        </p:nvSpPr>
        <p:spPr bwMode="auto">
          <a:xfrm>
            <a:off x="1220716" y="1680694"/>
            <a:ext cx="983497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PC4_03_04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 조치</a:t>
            </a:r>
          </a:p>
        </p:txBody>
      </p:sp>
      <p:sp>
        <p:nvSpPr>
          <p:cNvPr id="26" name="Rectangle 37"/>
          <p:cNvSpPr>
            <a:spLocks noChangeArrowheads="1"/>
          </p:cNvSpPr>
          <p:nvPr/>
        </p:nvSpPr>
        <p:spPr bwMode="auto">
          <a:xfrm>
            <a:off x="3490832" y="1679148"/>
            <a:ext cx="983497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PC4_03_06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 수행</a:t>
            </a:r>
          </a:p>
        </p:txBody>
      </p:sp>
      <p:cxnSp>
        <p:nvCxnSpPr>
          <p:cNvPr id="27" name="AutoShape 91"/>
          <p:cNvCxnSpPr>
            <a:cxnSpLocks noChangeShapeType="1"/>
            <a:stCxn id="25" idx="3"/>
            <a:endCxn id="23" idx="1"/>
          </p:cNvCxnSpPr>
          <p:nvPr/>
        </p:nvCxnSpPr>
        <p:spPr bwMode="auto">
          <a:xfrm flipV="1">
            <a:off x="2204213" y="1850734"/>
            <a:ext cx="153208" cy="618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" name="AutoShape 91"/>
          <p:cNvCxnSpPr>
            <a:cxnSpLocks noChangeShapeType="1"/>
            <a:stCxn id="23" idx="3"/>
            <a:endCxn id="26" idx="1"/>
          </p:cNvCxnSpPr>
          <p:nvPr/>
        </p:nvCxnSpPr>
        <p:spPr bwMode="auto">
          <a:xfrm>
            <a:off x="3340918" y="1850734"/>
            <a:ext cx="149913" cy="4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9" name="AutoShape 91"/>
          <p:cNvCxnSpPr>
            <a:cxnSpLocks noChangeShapeType="1"/>
            <a:stCxn id="26" idx="3"/>
            <a:endCxn id="24" idx="1"/>
          </p:cNvCxnSpPr>
          <p:nvPr/>
        </p:nvCxnSpPr>
        <p:spPr bwMode="auto">
          <a:xfrm>
            <a:off x="4474329" y="1855372"/>
            <a:ext cx="136734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2357421" y="2858610"/>
            <a:ext cx="983497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PC4_03_05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방제명령서 발급</a:t>
            </a:r>
          </a:p>
        </p:txBody>
      </p:sp>
      <p:sp>
        <p:nvSpPr>
          <p:cNvPr id="31" name="Rectangle 37"/>
          <p:cNvSpPr>
            <a:spLocks noChangeArrowheads="1"/>
          </p:cNvSpPr>
          <p:nvPr/>
        </p:nvSpPr>
        <p:spPr bwMode="auto">
          <a:xfrm>
            <a:off x="4611063" y="2863248"/>
            <a:ext cx="1046098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PC4_03_07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 결과보고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1220716" y="2864793"/>
            <a:ext cx="983497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PC4_03_04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 조치</a:t>
            </a:r>
          </a:p>
        </p:txBody>
      </p:sp>
      <p:sp>
        <p:nvSpPr>
          <p:cNvPr id="33" name="Rectangle 37"/>
          <p:cNvSpPr>
            <a:spLocks noChangeArrowheads="1"/>
          </p:cNvSpPr>
          <p:nvPr/>
        </p:nvSpPr>
        <p:spPr bwMode="auto">
          <a:xfrm>
            <a:off x="3490832" y="2863248"/>
            <a:ext cx="983497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PC4_03_06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긴급방제 수행</a:t>
            </a:r>
          </a:p>
        </p:txBody>
      </p:sp>
      <p:cxnSp>
        <p:nvCxnSpPr>
          <p:cNvPr id="34" name="AutoShape 91"/>
          <p:cNvCxnSpPr>
            <a:cxnSpLocks noChangeShapeType="1"/>
            <a:stCxn id="32" idx="3"/>
            <a:endCxn id="30" idx="1"/>
          </p:cNvCxnSpPr>
          <p:nvPr/>
        </p:nvCxnSpPr>
        <p:spPr bwMode="auto">
          <a:xfrm flipV="1">
            <a:off x="2204213" y="3034834"/>
            <a:ext cx="153208" cy="618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6" name="AutoShape 91"/>
          <p:cNvCxnSpPr>
            <a:cxnSpLocks noChangeShapeType="1"/>
            <a:stCxn id="30" idx="3"/>
            <a:endCxn id="33" idx="1"/>
          </p:cNvCxnSpPr>
          <p:nvPr/>
        </p:nvCxnSpPr>
        <p:spPr bwMode="auto">
          <a:xfrm>
            <a:off x="3340918" y="3034834"/>
            <a:ext cx="149913" cy="4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0" name="AutoShape 91"/>
          <p:cNvCxnSpPr>
            <a:cxnSpLocks noChangeShapeType="1"/>
            <a:stCxn id="33" idx="3"/>
            <a:endCxn id="31" idx="1"/>
          </p:cNvCxnSpPr>
          <p:nvPr/>
        </p:nvCxnSpPr>
        <p:spPr bwMode="auto">
          <a:xfrm>
            <a:off x="4474329" y="3039471"/>
            <a:ext cx="136734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2" name="AutoShape 22"/>
          <p:cNvSpPr>
            <a:spLocks noChangeArrowheads="1"/>
          </p:cNvSpPr>
          <p:nvPr/>
        </p:nvSpPr>
        <p:spPr bwMode="auto">
          <a:xfrm>
            <a:off x="1182826" y="1526111"/>
            <a:ext cx="1046098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46" name="AutoShape 23"/>
          <p:cNvSpPr>
            <a:spLocks noChangeArrowheads="1"/>
          </p:cNvSpPr>
          <p:nvPr/>
        </p:nvSpPr>
        <p:spPr bwMode="auto">
          <a:xfrm>
            <a:off x="2340947" y="1526111"/>
            <a:ext cx="1019740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47" name="AutoShape 24"/>
          <p:cNvSpPr>
            <a:spLocks noChangeArrowheads="1"/>
          </p:cNvSpPr>
          <p:nvPr/>
        </p:nvSpPr>
        <p:spPr bwMode="auto">
          <a:xfrm>
            <a:off x="3484242" y="1526111"/>
            <a:ext cx="996676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48" name="AutoShape 25"/>
          <p:cNvSpPr>
            <a:spLocks noChangeArrowheads="1"/>
          </p:cNvSpPr>
          <p:nvPr/>
        </p:nvSpPr>
        <p:spPr bwMode="auto">
          <a:xfrm>
            <a:off x="4596237" y="1526111"/>
            <a:ext cx="1080694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352536" y="1571612"/>
            <a:ext cx="744624" cy="1104591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농촌진흥청</a:t>
            </a:r>
          </a:p>
        </p:txBody>
      </p:sp>
      <p:sp>
        <p:nvSpPr>
          <p:cNvPr id="50" name="AutoShape 60"/>
          <p:cNvSpPr>
            <a:spLocks noChangeArrowheads="1"/>
          </p:cNvSpPr>
          <p:nvPr/>
        </p:nvSpPr>
        <p:spPr bwMode="auto">
          <a:xfrm>
            <a:off x="352536" y="1023719"/>
            <a:ext cx="744624" cy="510121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농림수산</a:t>
            </a: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식품부</a:t>
            </a:r>
            <a:endParaRPr lang="ko-KR" altLang="en-US" sz="900" b="1" dirty="0">
              <a:solidFill>
                <a:schemeClr val="bg1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1" name="AutoShape 7"/>
          <p:cNvSpPr>
            <a:spLocks noChangeArrowheads="1"/>
          </p:cNvSpPr>
          <p:nvPr/>
        </p:nvSpPr>
        <p:spPr bwMode="auto">
          <a:xfrm>
            <a:off x="350889" y="2717940"/>
            <a:ext cx="746272" cy="701803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도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시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군청</a:t>
            </a:r>
            <a:endParaRPr lang="en-US" altLang="ko-KR" sz="900" b="1" dirty="0">
              <a:solidFill>
                <a:schemeClr val="bg1"/>
              </a:solidFill>
              <a:latin typeface="굴림체" pitchFamily="49" charset="-127"/>
              <a:ea typeface="굴림체" pitchFamily="49" charset="-127"/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도원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9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시군센터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)</a:t>
            </a:r>
            <a:endParaRPr lang="ko-KR" altLang="en-US" sz="900" b="1" dirty="0">
              <a:solidFill>
                <a:schemeClr val="bg1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3" name="Text Box 30"/>
          <p:cNvSpPr txBox="1">
            <a:spLocks noChangeArrowheads="1"/>
          </p:cNvSpPr>
          <p:nvPr/>
        </p:nvSpPr>
        <p:spPr bwMode="auto">
          <a:xfrm>
            <a:off x="2368953" y="730013"/>
            <a:ext cx="1273105" cy="24622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 dirty="0">
                <a:solidFill>
                  <a:schemeClr val="lt1"/>
                </a:solidFill>
                <a:latin typeface="굴림체" pitchFamily="49" charset="-127"/>
                <a:ea typeface="굴림체" pitchFamily="49" charset="-127"/>
              </a:rPr>
              <a:t>긴급방제 프로세스</a:t>
            </a:r>
          </a:p>
        </p:txBody>
      </p:sp>
      <p:sp>
        <p:nvSpPr>
          <p:cNvPr id="55" name="Rectangle 32"/>
          <p:cNvSpPr>
            <a:spLocks noChangeArrowheads="1"/>
          </p:cNvSpPr>
          <p:nvPr/>
        </p:nvSpPr>
        <p:spPr bwMode="auto">
          <a:xfrm>
            <a:off x="71406" y="3837713"/>
            <a:ext cx="7248557" cy="273455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56" name="Rectangle 2"/>
          <p:cNvSpPr>
            <a:spLocks noChangeArrowheads="1"/>
          </p:cNvSpPr>
          <p:nvPr/>
        </p:nvSpPr>
        <p:spPr bwMode="auto">
          <a:xfrm>
            <a:off x="951117" y="3961658"/>
            <a:ext cx="6294713" cy="52403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7" name="Rectangle 2"/>
          <p:cNvSpPr>
            <a:spLocks noChangeArrowheads="1"/>
          </p:cNvSpPr>
          <p:nvPr/>
        </p:nvSpPr>
        <p:spPr bwMode="auto">
          <a:xfrm>
            <a:off x="967591" y="5141120"/>
            <a:ext cx="6276591" cy="49002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9" name="Rectangle 37"/>
          <p:cNvSpPr>
            <a:spLocks noChangeArrowheads="1"/>
          </p:cNvSpPr>
          <p:nvPr/>
        </p:nvSpPr>
        <p:spPr bwMode="auto">
          <a:xfrm>
            <a:off x="1028545" y="4624815"/>
            <a:ext cx="930781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PC4_03_05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방제명령서 발급</a:t>
            </a:r>
          </a:p>
        </p:txBody>
      </p:sp>
      <p:sp>
        <p:nvSpPr>
          <p:cNvPr id="60" name="Rectangle 37"/>
          <p:cNvSpPr>
            <a:spLocks noChangeArrowheads="1"/>
          </p:cNvSpPr>
          <p:nvPr/>
        </p:nvSpPr>
        <p:spPr bwMode="auto">
          <a:xfrm>
            <a:off x="3209702" y="4629453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PC4_03_09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방제실시 및 결과보고</a:t>
            </a:r>
          </a:p>
        </p:txBody>
      </p:sp>
      <p:sp>
        <p:nvSpPr>
          <p:cNvPr id="61" name="Rectangle 37"/>
          <p:cNvSpPr>
            <a:spLocks noChangeArrowheads="1"/>
          </p:cNvSpPr>
          <p:nvPr/>
        </p:nvSpPr>
        <p:spPr bwMode="auto">
          <a:xfrm>
            <a:off x="4405714" y="5006924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PC4_03_11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방제효과 확인지시</a:t>
            </a:r>
          </a:p>
        </p:txBody>
      </p:sp>
      <p:sp>
        <p:nvSpPr>
          <p:cNvPr id="62" name="Rectangle 37"/>
          <p:cNvSpPr>
            <a:spLocks noChangeArrowheads="1"/>
          </p:cNvSpPr>
          <p:nvPr/>
        </p:nvSpPr>
        <p:spPr bwMode="auto">
          <a:xfrm>
            <a:off x="2109239" y="4629453"/>
            <a:ext cx="930781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PC4_03_08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방제실시 공고</a:t>
            </a:r>
          </a:p>
        </p:txBody>
      </p:sp>
      <p:cxnSp>
        <p:nvCxnSpPr>
          <p:cNvPr id="63" name="AutoShape 91"/>
          <p:cNvCxnSpPr>
            <a:cxnSpLocks noChangeShapeType="1"/>
            <a:stCxn id="81" idx="2"/>
            <a:endCxn id="61" idx="0"/>
          </p:cNvCxnSpPr>
          <p:nvPr/>
        </p:nvCxnSpPr>
        <p:spPr bwMode="auto">
          <a:xfrm rot="16200000" flipH="1">
            <a:off x="4842903" y="4921063"/>
            <a:ext cx="149164" cy="2255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4" name="AutoShape 91"/>
          <p:cNvCxnSpPr>
            <a:cxnSpLocks noChangeShapeType="1"/>
            <a:stCxn id="59" idx="3"/>
            <a:endCxn id="62" idx="1"/>
          </p:cNvCxnSpPr>
          <p:nvPr/>
        </p:nvCxnSpPr>
        <p:spPr bwMode="auto">
          <a:xfrm>
            <a:off x="1959326" y="4801039"/>
            <a:ext cx="149913" cy="4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5" name="AutoShape 91"/>
          <p:cNvCxnSpPr>
            <a:cxnSpLocks noChangeShapeType="1"/>
            <a:stCxn id="62" idx="3"/>
            <a:endCxn id="60" idx="1"/>
          </p:cNvCxnSpPr>
          <p:nvPr/>
        </p:nvCxnSpPr>
        <p:spPr bwMode="auto">
          <a:xfrm>
            <a:off x="3040020" y="4805677"/>
            <a:ext cx="16968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6" name="Rectangle 37"/>
          <p:cNvSpPr>
            <a:spLocks noChangeArrowheads="1"/>
          </p:cNvSpPr>
          <p:nvPr/>
        </p:nvSpPr>
        <p:spPr bwMode="auto">
          <a:xfrm>
            <a:off x="1028545" y="5808915"/>
            <a:ext cx="930781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PC4_03_05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방제명령서 발급</a:t>
            </a:r>
          </a:p>
        </p:txBody>
      </p:sp>
      <p:sp>
        <p:nvSpPr>
          <p:cNvPr id="67" name="Rectangle 37"/>
          <p:cNvSpPr>
            <a:spLocks noChangeArrowheads="1"/>
          </p:cNvSpPr>
          <p:nvPr/>
        </p:nvSpPr>
        <p:spPr bwMode="auto">
          <a:xfrm>
            <a:off x="3209702" y="5813553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PC4_03_09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방제실시 및 결과보고</a:t>
            </a:r>
          </a:p>
        </p:txBody>
      </p:sp>
      <p:sp>
        <p:nvSpPr>
          <p:cNvPr id="68" name="Rectangle 37"/>
          <p:cNvSpPr>
            <a:spLocks noChangeArrowheads="1"/>
          </p:cNvSpPr>
          <p:nvPr/>
        </p:nvSpPr>
        <p:spPr bwMode="auto">
          <a:xfrm>
            <a:off x="4405714" y="5435552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PC4_03_12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정밀조사계획수립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및 시달</a:t>
            </a:r>
          </a:p>
        </p:txBody>
      </p:sp>
      <p:sp>
        <p:nvSpPr>
          <p:cNvPr id="69" name="Rectangle 37"/>
          <p:cNvSpPr>
            <a:spLocks noChangeArrowheads="1"/>
          </p:cNvSpPr>
          <p:nvPr/>
        </p:nvSpPr>
        <p:spPr bwMode="auto">
          <a:xfrm>
            <a:off x="2109239" y="5813553"/>
            <a:ext cx="930781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PC4_03_08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방제실시 공고</a:t>
            </a:r>
          </a:p>
        </p:txBody>
      </p:sp>
      <p:cxnSp>
        <p:nvCxnSpPr>
          <p:cNvPr id="70" name="AutoShape 91"/>
          <p:cNvCxnSpPr>
            <a:cxnSpLocks noChangeShapeType="1"/>
          </p:cNvCxnSpPr>
          <p:nvPr/>
        </p:nvCxnSpPr>
        <p:spPr bwMode="auto">
          <a:xfrm rot="5400000">
            <a:off x="4854182" y="5360176"/>
            <a:ext cx="14916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1" name="AutoShape 91"/>
          <p:cNvCxnSpPr>
            <a:cxnSpLocks noChangeShapeType="1"/>
            <a:stCxn id="66" idx="3"/>
            <a:endCxn id="69" idx="1"/>
          </p:cNvCxnSpPr>
          <p:nvPr/>
        </p:nvCxnSpPr>
        <p:spPr bwMode="auto">
          <a:xfrm>
            <a:off x="1959326" y="5985139"/>
            <a:ext cx="149913" cy="4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2" name="AutoShape 91"/>
          <p:cNvCxnSpPr>
            <a:cxnSpLocks noChangeShapeType="1"/>
            <a:stCxn id="69" idx="3"/>
            <a:endCxn id="67" idx="1"/>
          </p:cNvCxnSpPr>
          <p:nvPr/>
        </p:nvCxnSpPr>
        <p:spPr bwMode="auto">
          <a:xfrm>
            <a:off x="3040020" y="5989776"/>
            <a:ext cx="16968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3" name="AutoShape 50"/>
          <p:cNvSpPr>
            <a:spLocks noChangeArrowheads="1"/>
          </p:cNvSpPr>
          <p:nvPr/>
        </p:nvSpPr>
        <p:spPr bwMode="auto">
          <a:xfrm>
            <a:off x="984065" y="4476416"/>
            <a:ext cx="1019740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74" name="AutoShape 51"/>
          <p:cNvSpPr>
            <a:spLocks noChangeArrowheads="1"/>
          </p:cNvSpPr>
          <p:nvPr/>
        </p:nvSpPr>
        <p:spPr bwMode="auto">
          <a:xfrm>
            <a:off x="2089470" y="4476416"/>
            <a:ext cx="980203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75" name="AutoShape 52"/>
          <p:cNvSpPr>
            <a:spLocks noChangeArrowheads="1"/>
          </p:cNvSpPr>
          <p:nvPr/>
        </p:nvSpPr>
        <p:spPr bwMode="auto">
          <a:xfrm>
            <a:off x="3194875" y="4476416"/>
            <a:ext cx="1080694" cy="182407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76" name="AutoShape 5"/>
          <p:cNvSpPr>
            <a:spLocks noChangeArrowheads="1"/>
          </p:cNvSpPr>
          <p:nvPr/>
        </p:nvSpPr>
        <p:spPr bwMode="auto">
          <a:xfrm>
            <a:off x="147186" y="4572008"/>
            <a:ext cx="744624" cy="1054500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농촌진흥청</a:t>
            </a:r>
          </a:p>
        </p:txBody>
      </p:sp>
      <p:sp>
        <p:nvSpPr>
          <p:cNvPr id="77" name="AutoShape 60"/>
          <p:cNvSpPr>
            <a:spLocks noChangeArrowheads="1"/>
          </p:cNvSpPr>
          <p:nvPr/>
        </p:nvSpPr>
        <p:spPr bwMode="auto">
          <a:xfrm>
            <a:off x="147186" y="3974024"/>
            <a:ext cx="744624" cy="510121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농림수산</a:t>
            </a: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식품부</a:t>
            </a:r>
          </a:p>
        </p:txBody>
      </p:sp>
      <p:sp>
        <p:nvSpPr>
          <p:cNvPr id="78" name="AutoShape 7"/>
          <p:cNvSpPr>
            <a:spLocks noChangeArrowheads="1"/>
          </p:cNvSpPr>
          <p:nvPr/>
        </p:nvSpPr>
        <p:spPr bwMode="auto">
          <a:xfrm>
            <a:off x="145539" y="5668245"/>
            <a:ext cx="746272" cy="701803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도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시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군청</a:t>
            </a:r>
            <a:endParaRPr lang="en-US" altLang="ko-KR" sz="900" b="1" dirty="0">
              <a:solidFill>
                <a:schemeClr val="bg1"/>
              </a:solidFill>
              <a:latin typeface="굴림체" pitchFamily="49" charset="-127"/>
              <a:ea typeface="굴림체" pitchFamily="49" charset="-127"/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lang="ko-KR" altLang="en-US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도원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sz="900" b="1" dirty="0" err="1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시군센터</a:t>
            </a:r>
            <a:r>
              <a:rPr lang="en-US" altLang="ko-KR" sz="900" b="1" dirty="0">
                <a:solidFill>
                  <a:schemeClr val="bg1"/>
                </a:solidFill>
                <a:latin typeface="굴림체" pitchFamily="49" charset="-127"/>
                <a:ea typeface="굴림체" pitchFamily="49" charset="-127"/>
              </a:rPr>
              <a:t>)</a:t>
            </a:r>
            <a:endParaRPr lang="ko-KR" altLang="en-US" sz="900" b="1" dirty="0">
              <a:solidFill>
                <a:schemeClr val="bg1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80" name="Text Box 57"/>
          <p:cNvSpPr txBox="1">
            <a:spLocks noChangeArrowheads="1"/>
          </p:cNvSpPr>
          <p:nvPr/>
        </p:nvSpPr>
        <p:spPr bwMode="auto">
          <a:xfrm>
            <a:off x="2348112" y="3680318"/>
            <a:ext cx="1273105" cy="24622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 dirty="0" err="1">
                <a:solidFill>
                  <a:schemeClr val="lt1"/>
                </a:solidFill>
                <a:latin typeface="굴림체" pitchFamily="49" charset="-127"/>
                <a:ea typeface="굴림체" pitchFamily="49" charset="-127"/>
              </a:rPr>
              <a:t>공적방제</a:t>
            </a:r>
            <a:r>
              <a:rPr lang="ko-KR" altLang="en-US" sz="1000" b="1" dirty="0">
                <a:solidFill>
                  <a:schemeClr val="lt1"/>
                </a:solidFill>
                <a:latin typeface="굴림체" pitchFamily="49" charset="-127"/>
                <a:ea typeface="굴림체" pitchFamily="49" charset="-127"/>
              </a:rPr>
              <a:t> 프로세스</a:t>
            </a:r>
          </a:p>
        </p:txBody>
      </p:sp>
      <p:sp>
        <p:nvSpPr>
          <p:cNvPr id="81" name="Rectangle 37"/>
          <p:cNvSpPr>
            <a:spLocks noChangeArrowheads="1"/>
          </p:cNvSpPr>
          <p:nvPr/>
        </p:nvSpPr>
        <p:spPr bwMode="auto">
          <a:xfrm>
            <a:off x="4383157" y="4506858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PC4_03_10</a:t>
            </a:r>
          </a:p>
          <a:p>
            <a:pPr defTabSz="857250" eaLnBrk="0" latinLnBrk="0"/>
            <a:r>
              <a:rPr lang="ko-KR" altLang="en-US" sz="8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공적방제</a:t>
            </a:r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결과접수</a:t>
            </a:r>
          </a:p>
        </p:txBody>
      </p:sp>
      <p:sp>
        <p:nvSpPr>
          <p:cNvPr id="82" name="Rectangle 37"/>
          <p:cNvSpPr>
            <a:spLocks noChangeArrowheads="1"/>
          </p:cNvSpPr>
          <p:nvPr/>
        </p:nvSpPr>
        <p:spPr bwMode="auto">
          <a:xfrm>
            <a:off x="4405714" y="5864180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PC4_03_13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정밀조사실시 및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결과보고</a:t>
            </a:r>
          </a:p>
        </p:txBody>
      </p:sp>
      <p:cxnSp>
        <p:nvCxnSpPr>
          <p:cNvPr id="83" name="AutoShape 91"/>
          <p:cNvCxnSpPr>
            <a:cxnSpLocks noChangeShapeType="1"/>
          </p:cNvCxnSpPr>
          <p:nvPr/>
        </p:nvCxnSpPr>
        <p:spPr bwMode="auto">
          <a:xfrm rot="5400000">
            <a:off x="4844550" y="5772883"/>
            <a:ext cx="168429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4" name="Rectangle 37"/>
          <p:cNvSpPr>
            <a:spLocks noChangeArrowheads="1"/>
          </p:cNvSpPr>
          <p:nvPr/>
        </p:nvSpPr>
        <p:spPr bwMode="auto">
          <a:xfrm>
            <a:off x="5601726" y="4031220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PC4_03_15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방제수행결과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종합 분석</a:t>
            </a:r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/</a:t>
            </a:r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평가</a:t>
            </a:r>
          </a:p>
        </p:txBody>
      </p:sp>
      <p:sp>
        <p:nvSpPr>
          <p:cNvPr id="85" name="Rectangle 37"/>
          <p:cNvSpPr>
            <a:spLocks noChangeArrowheads="1"/>
          </p:cNvSpPr>
          <p:nvPr/>
        </p:nvSpPr>
        <p:spPr bwMode="auto">
          <a:xfrm>
            <a:off x="5601726" y="5223048"/>
            <a:ext cx="1046099" cy="35090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PC4_03_14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정밀조사접수 및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결과보고</a:t>
            </a:r>
          </a:p>
        </p:txBody>
      </p:sp>
      <p:cxnSp>
        <p:nvCxnSpPr>
          <p:cNvPr id="86" name="AutoShape 91"/>
          <p:cNvCxnSpPr>
            <a:cxnSpLocks noChangeShapeType="1"/>
            <a:stCxn id="84" idx="2"/>
            <a:endCxn id="85" idx="0"/>
          </p:cNvCxnSpPr>
          <p:nvPr/>
        </p:nvCxnSpPr>
        <p:spPr bwMode="auto">
          <a:xfrm>
            <a:off x="6125598" y="4382121"/>
            <a:ext cx="0" cy="84092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</p:spPr>
      </p:cxnSp>
      <p:cxnSp>
        <p:nvCxnSpPr>
          <p:cNvPr id="87" name="AutoShape 64"/>
          <p:cNvCxnSpPr>
            <a:cxnSpLocks noChangeShapeType="1"/>
            <a:stCxn id="82" idx="3"/>
            <a:endCxn id="85" idx="2"/>
          </p:cNvCxnSpPr>
          <p:nvPr/>
        </p:nvCxnSpPr>
        <p:spPr bwMode="auto">
          <a:xfrm flipV="1">
            <a:off x="5451813" y="5573950"/>
            <a:ext cx="672963" cy="465681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88" name="모서리가 둥근 직사각형 87"/>
          <p:cNvSpPr/>
          <p:nvPr/>
        </p:nvSpPr>
        <p:spPr bwMode="auto">
          <a:xfrm>
            <a:off x="6731841" y="4071942"/>
            <a:ext cx="456330" cy="3045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800" b="1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박멸 선언</a:t>
            </a:r>
          </a:p>
        </p:txBody>
      </p:sp>
      <p:cxnSp>
        <p:nvCxnSpPr>
          <p:cNvPr id="89" name="AutoShape 66"/>
          <p:cNvCxnSpPr>
            <a:cxnSpLocks noChangeShapeType="1"/>
            <a:stCxn id="84" idx="3"/>
            <a:endCxn id="88" idx="0"/>
          </p:cNvCxnSpPr>
          <p:nvPr/>
        </p:nvCxnSpPr>
        <p:spPr bwMode="auto">
          <a:xfrm flipV="1">
            <a:off x="6647825" y="4071942"/>
            <a:ext cx="312181" cy="134729"/>
          </a:xfrm>
          <a:prstGeom prst="bentConnector4">
            <a:avLst>
              <a:gd name="adj1" fmla="val 13456"/>
              <a:gd name="adj2" fmla="val 193437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91" name="Rectangle 68"/>
          <p:cNvSpPr>
            <a:spLocks noChangeArrowheads="1"/>
          </p:cNvSpPr>
          <p:nvPr/>
        </p:nvSpPr>
        <p:spPr bwMode="auto">
          <a:xfrm>
            <a:off x="5998184" y="849075"/>
            <a:ext cx="2690204" cy="14716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92" name="Rectangle 37"/>
          <p:cNvSpPr>
            <a:spLocks noChangeArrowheads="1"/>
          </p:cNvSpPr>
          <p:nvPr/>
        </p:nvSpPr>
        <p:spPr bwMode="auto">
          <a:xfrm>
            <a:off x="6148097" y="1011386"/>
            <a:ext cx="1118585" cy="4204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PC4_01_05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병해충 분포범위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조사계획수립 및 시달</a:t>
            </a:r>
          </a:p>
        </p:txBody>
      </p:sp>
      <p:sp>
        <p:nvSpPr>
          <p:cNvPr id="93" name="Rectangle 37"/>
          <p:cNvSpPr>
            <a:spLocks noChangeArrowheads="1"/>
          </p:cNvSpPr>
          <p:nvPr/>
        </p:nvSpPr>
        <p:spPr bwMode="auto">
          <a:xfrm>
            <a:off x="6148097" y="1782752"/>
            <a:ext cx="1118585" cy="4204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PC4_01_06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세부 조사계획 수립</a:t>
            </a:r>
          </a:p>
        </p:txBody>
      </p:sp>
      <p:cxnSp>
        <p:nvCxnSpPr>
          <p:cNvPr id="94" name="AutoShape 71"/>
          <p:cNvCxnSpPr>
            <a:cxnSpLocks noChangeShapeType="1"/>
            <a:stCxn id="92" idx="2"/>
            <a:endCxn id="93" idx="0"/>
          </p:cNvCxnSpPr>
          <p:nvPr/>
        </p:nvCxnSpPr>
        <p:spPr bwMode="auto">
          <a:xfrm>
            <a:off x="6708213" y="1431850"/>
            <a:ext cx="0" cy="35090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5" name="Rectangle 37"/>
          <p:cNvSpPr>
            <a:spLocks noChangeArrowheads="1"/>
          </p:cNvSpPr>
          <p:nvPr/>
        </p:nvSpPr>
        <p:spPr bwMode="auto">
          <a:xfrm>
            <a:off x="7418243" y="1782752"/>
            <a:ext cx="1118585" cy="4204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PC4_01_07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병해충 분포범위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조사 및 결과보고</a:t>
            </a:r>
          </a:p>
        </p:txBody>
      </p:sp>
      <p:cxnSp>
        <p:nvCxnSpPr>
          <p:cNvPr id="96" name="AutoShape 73"/>
          <p:cNvCxnSpPr>
            <a:cxnSpLocks noChangeShapeType="1"/>
            <a:stCxn id="93" idx="3"/>
            <a:endCxn id="95" idx="1"/>
          </p:cNvCxnSpPr>
          <p:nvPr/>
        </p:nvCxnSpPr>
        <p:spPr bwMode="auto">
          <a:xfrm>
            <a:off x="7266682" y="1992984"/>
            <a:ext cx="151561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7" name="Rectangle 37"/>
          <p:cNvSpPr>
            <a:spLocks noChangeArrowheads="1"/>
          </p:cNvSpPr>
          <p:nvPr/>
        </p:nvSpPr>
        <p:spPr bwMode="auto">
          <a:xfrm>
            <a:off x="7418243" y="988199"/>
            <a:ext cx="1126822" cy="44365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PC4_01_08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병해충 분포범위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조사결과 접수 및 보고</a:t>
            </a:r>
          </a:p>
        </p:txBody>
      </p:sp>
      <p:cxnSp>
        <p:nvCxnSpPr>
          <p:cNvPr id="98" name="AutoShape 75"/>
          <p:cNvCxnSpPr>
            <a:cxnSpLocks noChangeShapeType="1"/>
            <a:stCxn id="95" idx="0"/>
            <a:endCxn id="97" idx="2"/>
          </p:cNvCxnSpPr>
          <p:nvPr/>
        </p:nvCxnSpPr>
        <p:spPr bwMode="auto">
          <a:xfrm flipV="1">
            <a:off x="7978359" y="1431850"/>
            <a:ext cx="3295" cy="35090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9" name="Text Box 76"/>
          <p:cNvSpPr txBox="1">
            <a:spLocks noChangeArrowheads="1"/>
          </p:cNvSpPr>
          <p:nvPr/>
        </p:nvSpPr>
        <p:spPr bwMode="auto">
          <a:xfrm>
            <a:off x="6605652" y="704613"/>
            <a:ext cx="1046098" cy="24622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분포범위 조사</a:t>
            </a:r>
          </a:p>
        </p:txBody>
      </p:sp>
      <p:sp>
        <p:nvSpPr>
          <p:cNvPr id="101" name="Rectangle 78"/>
          <p:cNvSpPr>
            <a:spLocks noChangeArrowheads="1"/>
          </p:cNvSpPr>
          <p:nvPr/>
        </p:nvSpPr>
        <p:spPr bwMode="auto">
          <a:xfrm>
            <a:off x="6086186" y="2788424"/>
            <a:ext cx="2540289" cy="7018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2" name="Rectangle 37"/>
          <p:cNvSpPr>
            <a:spLocks noChangeArrowheads="1"/>
          </p:cNvSpPr>
          <p:nvPr/>
        </p:nvSpPr>
        <p:spPr bwMode="auto">
          <a:xfrm>
            <a:off x="6236099" y="2998656"/>
            <a:ext cx="970318" cy="30452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PC4_02_02</a:t>
            </a:r>
          </a:p>
          <a:p>
            <a:pPr defTabSz="857250" eaLnBrk="0" latinLnBrk="0"/>
            <a:r>
              <a:rPr lang="ko-KR" altLang="en-US" sz="8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역학조사반 구성</a:t>
            </a:r>
          </a:p>
        </p:txBody>
      </p:sp>
      <p:cxnSp>
        <p:nvCxnSpPr>
          <p:cNvPr id="103" name="AutoShape 80"/>
          <p:cNvCxnSpPr>
            <a:cxnSpLocks noChangeShapeType="1"/>
            <a:stCxn id="102" idx="3"/>
            <a:endCxn id="104" idx="1"/>
          </p:cNvCxnSpPr>
          <p:nvPr/>
        </p:nvCxnSpPr>
        <p:spPr bwMode="auto">
          <a:xfrm flipV="1">
            <a:off x="7206417" y="3150146"/>
            <a:ext cx="179566" cy="154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4" name="Rectangle 37"/>
          <p:cNvSpPr>
            <a:spLocks noChangeArrowheads="1"/>
          </p:cNvSpPr>
          <p:nvPr/>
        </p:nvSpPr>
        <p:spPr bwMode="auto">
          <a:xfrm>
            <a:off x="7385984" y="2939914"/>
            <a:ext cx="1046098" cy="4204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rIns="36000" bIns="36000" anchor="ctr"/>
          <a:lstStyle/>
          <a:p>
            <a:pPr defTabSz="857250" eaLnBrk="0" latinLnBrk="0"/>
            <a:r>
              <a:rPr lang="en-US" altLang="ko-KR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PC4_02_03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역학조사 실시 및</a:t>
            </a:r>
          </a:p>
          <a:p>
            <a:pPr defTabSz="857250" eaLnBrk="0" latinLnBrk="0"/>
            <a:r>
              <a:rPr lang="ko-KR" altLang="en-US" sz="8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결과 통보</a:t>
            </a:r>
          </a:p>
        </p:txBody>
      </p:sp>
      <p:sp>
        <p:nvSpPr>
          <p:cNvPr id="105" name="Text Box 82"/>
          <p:cNvSpPr txBox="1">
            <a:spLocks noChangeArrowheads="1"/>
          </p:cNvSpPr>
          <p:nvPr/>
        </p:nvSpPr>
        <p:spPr bwMode="auto">
          <a:xfrm>
            <a:off x="6947776" y="2649300"/>
            <a:ext cx="760144" cy="24622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1">
                <a:solidFill>
                  <a:schemeClr val="lt1"/>
                </a:solidFill>
                <a:latin typeface="굴림체" pitchFamily="49" charset="-127"/>
                <a:ea typeface="굴림체" pitchFamily="49" charset="-127"/>
              </a:rPr>
              <a:t>역학 조사</a:t>
            </a:r>
          </a:p>
        </p:txBody>
      </p:sp>
      <p:grpSp>
        <p:nvGrpSpPr>
          <p:cNvPr id="106" name="Group 83"/>
          <p:cNvGrpSpPr>
            <a:grpSpLocks/>
          </p:cNvGrpSpPr>
          <p:nvPr/>
        </p:nvGrpSpPr>
        <p:grpSpPr bwMode="auto">
          <a:xfrm>
            <a:off x="7401051" y="3631990"/>
            <a:ext cx="1742949" cy="2875229"/>
            <a:chOff x="4604" y="2160"/>
            <a:chExt cx="1058" cy="1860"/>
          </a:xfrm>
        </p:grpSpPr>
        <p:sp>
          <p:nvSpPr>
            <p:cNvPr id="107" name="Rectangle 84"/>
            <p:cNvSpPr>
              <a:spLocks noChangeArrowheads="1"/>
            </p:cNvSpPr>
            <p:nvPr/>
          </p:nvSpPr>
          <p:spPr bwMode="auto">
            <a:xfrm>
              <a:off x="4604" y="2251"/>
              <a:ext cx="998" cy="17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8" name="Rectangle 37"/>
            <p:cNvSpPr>
              <a:spLocks noChangeArrowheads="1"/>
            </p:cNvSpPr>
            <p:nvPr/>
          </p:nvSpPr>
          <p:spPr bwMode="auto">
            <a:xfrm>
              <a:off x="4746" y="3022"/>
              <a:ext cx="675" cy="27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2000" tIns="36000" rIns="36000" bIns="36000" anchor="ctr"/>
            <a:lstStyle/>
            <a:p>
              <a:pPr defTabSz="857250" eaLnBrk="0" latinLnBrk="0"/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PC4_03_02</a:t>
              </a:r>
            </a:p>
            <a:p>
              <a:pPr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돌발</a:t>
              </a:r>
              <a:r>
                <a:rPr lang="en-US" altLang="ko-KR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/</a:t>
              </a:r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외래병해충</a:t>
              </a:r>
            </a:p>
            <a:p>
              <a:pPr defTabSz="857250" eaLnBrk="0" latinLnBrk="0"/>
              <a:r>
                <a:rPr lang="ko-KR" altLang="en-US" sz="800" dirty="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방제대책 회의소집</a:t>
              </a:r>
            </a:p>
          </p:txBody>
        </p:sp>
        <p:sp>
          <p:nvSpPr>
            <p:cNvPr id="109" name="AutoShape 86"/>
            <p:cNvSpPr>
              <a:spLocks noChangeArrowheads="1"/>
            </p:cNvSpPr>
            <p:nvPr/>
          </p:nvSpPr>
          <p:spPr bwMode="auto">
            <a:xfrm>
              <a:off x="4649" y="2478"/>
              <a:ext cx="862" cy="273"/>
            </a:xfrm>
            <a:prstGeom prst="diamond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ko-KR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PC4_03_01</a:t>
              </a:r>
            </a:p>
            <a:p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긴급성 평가</a:t>
              </a:r>
              <a:endParaRPr lang="ko-KR" altLang="en-US" sz="800">
                <a:latin typeface="굴림체" pitchFamily="49" charset="-127"/>
                <a:ea typeface="굴림체" pitchFamily="49" charset="-127"/>
              </a:endParaRPr>
            </a:p>
          </p:txBody>
        </p:sp>
        <p:sp>
          <p:nvSpPr>
            <p:cNvPr id="110" name="Rectangle 37"/>
            <p:cNvSpPr>
              <a:spLocks noChangeArrowheads="1"/>
            </p:cNvSpPr>
            <p:nvPr/>
          </p:nvSpPr>
          <p:spPr bwMode="auto">
            <a:xfrm>
              <a:off x="4745" y="3608"/>
              <a:ext cx="675" cy="27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2000" tIns="36000" rIns="36000" bIns="36000" anchor="ctr"/>
            <a:lstStyle/>
            <a:p>
              <a:pPr defTabSz="857250" eaLnBrk="0" latinLnBrk="0"/>
              <a:r>
                <a:rPr lang="en-US" altLang="ko-KR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PC4_03_03</a:t>
              </a:r>
            </a:p>
            <a:p>
              <a:pPr defTabSz="857250" eaLnBrk="0" latinLnBrk="0"/>
              <a:r>
                <a:rPr lang="ko-KR" altLang="en-US" sz="800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공정방제 수행</a:t>
              </a:r>
            </a:p>
          </p:txBody>
        </p:sp>
        <p:cxnSp>
          <p:nvCxnSpPr>
            <p:cNvPr id="111" name="AutoShape 91"/>
            <p:cNvCxnSpPr>
              <a:cxnSpLocks noChangeShapeType="1"/>
              <a:stCxn id="109" idx="2"/>
              <a:endCxn id="108" idx="0"/>
            </p:cNvCxnSpPr>
            <p:nvPr/>
          </p:nvCxnSpPr>
          <p:spPr bwMode="auto">
            <a:xfrm>
              <a:off x="5080" y="2751"/>
              <a:ext cx="4" cy="27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2" name="AutoShape 91"/>
            <p:cNvCxnSpPr>
              <a:cxnSpLocks noChangeShapeType="1"/>
              <a:stCxn id="108" idx="2"/>
              <a:endCxn id="110" idx="0"/>
            </p:cNvCxnSpPr>
            <p:nvPr/>
          </p:nvCxnSpPr>
          <p:spPr bwMode="auto">
            <a:xfrm flipH="1">
              <a:off x="5083" y="3298"/>
              <a:ext cx="1" cy="31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13" name="Text Box 90"/>
            <p:cNvSpPr txBox="1">
              <a:spLocks noChangeArrowheads="1"/>
            </p:cNvSpPr>
            <p:nvPr/>
          </p:nvSpPr>
          <p:spPr bwMode="auto">
            <a:xfrm>
              <a:off x="5063" y="2779"/>
              <a:ext cx="244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800">
                  <a:latin typeface="굴림체" pitchFamily="49" charset="-127"/>
                  <a:ea typeface="굴림체" pitchFamily="49" charset="-127"/>
                </a:rPr>
                <a:t>공적</a:t>
              </a:r>
            </a:p>
          </p:txBody>
        </p:sp>
        <p:sp>
          <p:nvSpPr>
            <p:cNvPr id="114" name="Line 91"/>
            <p:cNvSpPr>
              <a:spLocks noChangeShapeType="1"/>
            </p:cNvSpPr>
            <p:nvPr/>
          </p:nvSpPr>
          <p:spPr bwMode="auto">
            <a:xfrm>
              <a:off x="5504" y="2614"/>
              <a:ext cx="1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5" name="Text Box 92"/>
            <p:cNvSpPr txBox="1">
              <a:spLocks noChangeArrowheads="1"/>
            </p:cNvSpPr>
            <p:nvPr/>
          </p:nvSpPr>
          <p:spPr bwMode="auto">
            <a:xfrm>
              <a:off x="5390" y="2468"/>
              <a:ext cx="244" cy="13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800">
                  <a:latin typeface="굴림체" pitchFamily="49" charset="-127"/>
                  <a:ea typeface="굴림체" pitchFamily="49" charset="-127"/>
                </a:rPr>
                <a:t>긴급</a:t>
              </a:r>
            </a:p>
          </p:txBody>
        </p:sp>
        <p:sp>
          <p:nvSpPr>
            <p:cNvPr id="116" name="Text Box 93"/>
            <p:cNvSpPr txBox="1">
              <a:spLocks noChangeArrowheads="1"/>
            </p:cNvSpPr>
            <p:nvPr/>
          </p:nvSpPr>
          <p:spPr bwMode="auto">
            <a:xfrm>
              <a:off x="4780" y="2160"/>
              <a:ext cx="695" cy="159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000" b="1" dirty="0">
                  <a:solidFill>
                    <a:schemeClr val="lt1"/>
                  </a:solidFill>
                  <a:latin typeface="굴림체" pitchFamily="49" charset="-127"/>
                  <a:ea typeface="굴림체" pitchFamily="49" charset="-127"/>
                </a:rPr>
                <a:t>방제대책 위원회</a:t>
              </a:r>
            </a:p>
          </p:txBody>
        </p:sp>
      </p:grpSp>
      <p:cxnSp>
        <p:nvCxnSpPr>
          <p:cNvPr id="120" name="AutoShape 91"/>
          <p:cNvCxnSpPr>
            <a:cxnSpLocks noChangeShapeType="1"/>
            <a:endCxn id="81" idx="1"/>
          </p:cNvCxnSpPr>
          <p:nvPr/>
        </p:nvCxnSpPr>
        <p:spPr bwMode="auto">
          <a:xfrm>
            <a:off x="4286248" y="4643447"/>
            <a:ext cx="96909" cy="388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500037" y="71414"/>
            <a:ext cx="5715170" cy="571504"/>
            <a:chOff x="2674" y="624"/>
            <a:chExt cx="2785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674" y="624"/>
              <a:ext cx="2785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1500166" y="71414"/>
            <a:ext cx="578647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주요농림병해충발생이동경로예측프로세스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071538" y="245247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142976" y="2857496"/>
            <a:ext cx="6500858" cy="8080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900"/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1156159" y="1071546"/>
            <a:ext cx="6487675" cy="11572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1800"/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285720" y="1076310"/>
            <a:ext cx="800100" cy="1690687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defTabSz="1376363" eaLnBrk="0" latinLnBrk="0">
              <a:spcBef>
                <a:spcPct val="20000"/>
              </a:spcBef>
            </a:pPr>
            <a:r>
              <a:rPr lang="ko-KR" altLang="en-US" sz="900" b="1">
                <a:solidFill>
                  <a:srgbClr val="000000"/>
                </a:solidFill>
              </a:rPr>
              <a:t>농촌진흥청</a:t>
            </a:r>
            <a:endParaRPr lang="en-US" altLang="ko-KR" sz="900" b="1">
              <a:solidFill>
                <a:srgbClr val="000000"/>
              </a:solidFill>
            </a:endParaRPr>
          </a:p>
        </p:txBody>
      </p:sp>
      <p:sp>
        <p:nvSpPr>
          <p:cNvPr id="46" name="AutoShape 4"/>
          <p:cNvSpPr>
            <a:spLocks noChangeArrowheads="1"/>
          </p:cNvSpPr>
          <p:nvPr/>
        </p:nvSpPr>
        <p:spPr bwMode="auto">
          <a:xfrm>
            <a:off x="291582" y="2824161"/>
            <a:ext cx="782515" cy="844550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rgbClr val="000000"/>
                </a:solidFill>
              </a:rPr>
              <a:t>도 농업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>
                <a:solidFill>
                  <a:srgbClr val="000000"/>
                </a:solidFill>
              </a:rPr>
              <a:t>기술원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en-US" altLang="ko-KR" sz="900" b="1" dirty="0">
                <a:solidFill>
                  <a:srgbClr val="000000"/>
                </a:solidFill>
              </a:rPr>
              <a:t>(</a:t>
            </a:r>
            <a:r>
              <a:rPr lang="ko-KR" altLang="en-US" sz="900" b="1" dirty="0">
                <a:solidFill>
                  <a:srgbClr val="000000"/>
                </a:solidFill>
              </a:rPr>
              <a:t>광역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algn="ctr" defTabSz="1376363" eaLnBrk="0" latinLnBrk="0">
              <a:spcBef>
                <a:spcPct val="20000"/>
              </a:spcBef>
            </a:pPr>
            <a:r>
              <a:rPr lang="ko-KR" altLang="en-US" sz="900" b="1" dirty="0" err="1">
                <a:solidFill>
                  <a:srgbClr val="000000"/>
                </a:solidFill>
              </a:rPr>
              <a:t>예찰단</a:t>
            </a:r>
            <a:r>
              <a:rPr lang="en-US" altLang="ko-KR" sz="900" b="1" dirty="0">
                <a:solidFill>
                  <a:srgbClr val="000000"/>
                </a:solidFill>
              </a:rPr>
              <a:t>)</a:t>
            </a:r>
            <a:endParaRPr lang="ko-KR" altLang="en-US" sz="900" b="1" dirty="0">
              <a:solidFill>
                <a:srgbClr val="000000"/>
              </a:solidFill>
            </a:endParaRPr>
          </a:p>
        </p:txBody>
      </p:sp>
      <p:sp>
        <p:nvSpPr>
          <p:cNvPr id="63" name="AutoShape 4"/>
          <p:cNvSpPr>
            <a:spLocks noChangeArrowheads="1"/>
          </p:cNvSpPr>
          <p:nvPr/>
        </p:nvSpPr>
        <p:spPr bwMode="auto">
          <a:xfrm>
            <a:off x="291582" y="3735387"/>
            <a:ext cx="794238" cy="739775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시∙군 농업</a:t>
            </a:r>
          </a:p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기술센터</a:t>
            </a:r>
          </a:p>
        </p:txBody>
      </p:sp>
      <p:sp>
        <p:nvSpPr>
          <p:cNvPr id="75" name="AutoShape 4"/>
          <p:cNvSpPr>
            <a:spLocks noChangeArrowheads="1"/>
          </p:cNvSpPr>
          <p:nvPr/>
        </p:nvSpPr>
        <p:spPr bwMode="auto">
          <a:xfrm>
            <a:off x="307693" y="4546613"/>
            <a:ext cx="794238" cy="739775"/>
          </a:xfrm>
          <a:prstGeom prst="roundRect">
            <a:avLst>
              <a:gd name="adj" fmla="val 12292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28800" tIns="68795" rIns="28800" bIns="68795" anchor="ctr"/>
          <a:lstStyle/>
          <a:p>
            <a:pPr algn="ctr" defTabSz="1376363"/>
            <a:r>
              <a:rPr lang="ko-KR" altLang="en-US" sz="900" b="1" dirty="0">
                <a:solidFill>
                  <a:srgbClr val="000000"/>
                </a:solidFill>
              </a:rPr>
              <a:t>농업인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14414" y="4572008"/>
            <a:ext cx="6429420" cy="6651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defRPr/>
            </a:pP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317203" y="714356"/>
            <a:ext cx="794238" cy="268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ko-KR" altLang="en-US" sz="1400" b="1"/>
              <a:t>조직</a:t>
            </a:r>
          </a:p>
        </p:txBody>
      </p:sp>
      <p:sp>
        <p:nvSpPr>
          <p:cNvPr id="78" name="Rectangle 2"/>
          <p:cNvSpPr>
            <a:spLocks noChangeArrowheads="1"/>
          </p:cNvSpPr>
          <p:nvPr/>
        </p:nvSpPr>
        <p:spPr bwMode="auto">
          <a:xfrm>
            <a:off x="1182879" y="714356"/>
            <a:ext cx="7521820" cy="26828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 altLang="ko-KR" sz="1400" b="1" dirty="0"/>
              <a:t>Activity</a:t>
            </a:r>
          </a:p>
        </p:txBody>
      </p:sp>
      <p:sp>
        <p:nvSpPr>
          <p:cNvPr id="82" name="Rectangle 36"/>
          <p:cNvSpPr>
            <a:spLocks noChangeArrowheads="1"/>
          </p:cNvSpPr>
          <p:nvPr/>
        </p:nvSpPr>
        <p:spPr bwMode="auto">
          <a:xfrm>
            <a:off x="3643307" y="2316178"/>
            <a:ext cx="714380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84" name="모서리가 둥근 직사각형 51"/>
          <p:cNvSpPr>
            <a:spLocks noChangeArrowheads="1"/>
          </p:cNvSpPr>
          <p:nvPr/>
        </p:nvSpPr>
        <p:spPr bwMode="auto">
          <a:xfrm>
            <a:off x="1214414" y="2359019"/>
            <a:ext cx="460163" cy="284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수치모델</a:t>
            </a:r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86" name="Rectangle 36"/>
          <p:cNvSpPr>
            <a:spLocks noChangeArrowheads="1"/>
          </p:cNvSpPr>
          <p:nvPr/>
        </p:nvSpPr>
        <p:spPr bwMode="auto">
          <a:xfrm>
            <a:off x="3643306" y="2944828"/>
            <a:ext cx="714380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87" name="Rectangle 45"/>
          <p:cNvSpPr>
            <a:spLocks noChangeArrowheads="1"/>
          </p:cNvSpPr>
          <p:nvPr/>
        </p:nvSpPr>
        <p:spPr bwMode="auto">
          <a:xfrm>
            <a:off x="4767099" y="3294078"/>
            <a:ext cx="797118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종합분석진단</a:t>
            </a:r>
          </a:p>
        </p:txBody>
      </p:sp>
      <p:cxnSp>
        <p:nvCxnSpPr>
          <p:cNvPr id="89" name="AutoShape 100"/>
          <p:cNvCxnSpPr>
            <a:cxnSpLocks noChangeShapeType="1"/>
          </p:cNvCxnSpPr>
          <p:nvPr/>
        </p:nvCxnSpPr>
        <p:spPr bwMode="auto">
          <a:xfrm>
            <a:off x="1714480" y="2641594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0" name="Rectangle 36"/>
          <p:cNvSpPr>
            <a:spLocks noChangeArrowheads="1"/>
          </p:cNvSpPr>
          <p:nvPr/>
        </p:nvSpPr>
        <p:spPr bwMode="auto">
          <a:xfrm>
            <a:off x="3643306" y="3811603"/>
            <a:ext cx="681240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병해충발견</a:t>
            </a:r>
          </a:p>
        </p:txBody>
      </p:sp>
      <p:sp>
        <p:nvSpPr>
          <p:cNvPr id="91" name="Rectangle 45"/>
          <p:cNvSpPr>
            <a:spLocks noChangeArrowheads="1"/>
          </p:cNvSpPr>
          <p:nvPr/>
        </p:nvSpPr>
        <p:spPr bwMode="auto">
          <a:xfrm>
            <a:off x="3214678" y="4787911"/>
            <a:ext cx="928694" cy="28416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en-US" altLang="ko-KR" sz="900" dirty="0">
                <a:solidFill>
                  <a:srgbClr val="000000"/>
                </a:solidFill>
              </a:rPr>
              <a:t>     </a:t>
            </a:r>
            <a:r>
              <a:rPr lang="ko-KR" altLang="en-US" sz="900" dirty="0" err="1">
                <a:solidFill>
                  <a:srgbClr val="000000"/>
                </a:solidFill>
              </a:rPr>
              <a:t>협</a:t>
            </a:r>
            <a:r>
              <a:rPr lang="ko-KR" altLang="en-US" sz="900" dirty="0">
                <a:solidFill>
                  <a:srgbClr val="000000"/>
                </a:solidFill>
              </a:rPr>
              <a:t> 조 지 원</a:t>
            </a:r>
          </a:p>
        </p:txBody>
      </p:sp>
      <p:cxnSp>
        <p:nvCxnSpPr>
          <p:cNvPr id="92" name="AutoShape 99"/>
          <p:cNvCxnSpPr>
            <a:cxnSpLocks noChangeShapeType="1"/>
          </p:cNvCxnSpPr>
          <p:nvPr/>
        </p:nvCxnSpPr>
        <p:spPr bwMode="auto">
          <a:xfrm rot="16200000" flipH="1">
            <a:off x="4267067" y="3757757"/>
            <a:ext cx="178594" cy="854611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01" name="모서리가 둥근 직사각형 100"/>
          <p:cNvSpPr/>
          <p:nvPr/>
        </p:nvSpPr>
        <p:spPr bwMode="auto">
          <a:xfrm>
            <a:off x="4500562" y="1428736"/>
            <a:ext cx="785819" cy="2825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예찰회의</a:t>
            </a:r>
            <a:endParaRPr lang="ko-KR" altLang="en-US" sz="900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2" name="AutoShape 94"/>
          <p:cNvSpPr>
            <a:spLocks noChangeArrowheads="1"/>
          </p:cNvSpPr>
          <p:nvPr/>
        </p:nvSpPr>
        <p:spPr bwMode="auto">
          <a:xfrm>
            <a:off x="3286116" y="2143116"/>
            <a:ext cx="1143008" cy="2274879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05" name="AutoShape 115"/>
          <p:cNvSpPr>
            <a:spLocks noChangeArrowheads="1"/>
          </p:cNvSpPr>
          <p:nvPr/>
        </p:nvSpPr>
        <p:spPr bwMode="auto">
          <a:xfrm>
            <a:off x="4643438" y="2143116"/>
            <a:ext cx="1071570" cy="235745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06" name="AutoShape 73"/>
          <p:cNvSpPr>
            <a:spLocks noChangeArrowheads="1"/>
          </p:cNvSpPr>
          <p:nvPr/>
        </p:nvSpPr>
        <p:spPr bwMode="auto">
          <a:xfrm>
            <a:off x="7858149" y="1142984"/>
            <a:ext cx="1071570" cy="4000528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algn="ctr" defTabSz="857250" eaLnBrk="0" latinLnBrk="0"/>
            <a:r>
              <a:rPr lang="ko-KR" altLang="en-US" sz="1000" dirty="0">
                <a:solidFill>
                  <a:schemeClr val="accent3"/>
                </a:solidFill>
              </a:rPr>
              <a:t>병해충 </a:t>
            </a:r>
            <a:r>
              <a:rPr lang="ko-KR" altLang="en-US" sz="1000" dirty="0" err="1">
                <a:solidFill>
                  <a:schemeClr val="accent3"/>
                </a:solidFill>
              </a:rPr>
              <a:t>예찰방제</a:t>
            </a:r>
            <a:r>
              <a:rPr lang="ko-KR" altLang="en-US" sz="1000" dirty="0">
                <a:solidFill>
                  <a:schemeClr val="accent3"/>
                </a:solidFill>
              </a:rPr>
              <a:t> </a:t>
            </a:r>
            <a:endParaRPr lang="en-US" altLang="ko-KR" sz="1000" dirty="0">
              <a:solidFill>
                <a:schemeClr val="accent3"/>
              </a:solidFill>
            </a:endParaRPr>
          </a:p>
          <a:p>
            <a:pPr algn="ctr" defTabSz="857250" eaLnBrk="0" latinLnBrk="0"/>
            <a:r>
              <a:rPr lang="ko-KR" altLang="en-US" sz="1000" dirty="0">
                <a:solidFill>
                  <a:schemeClr val="accent3"/>
                </a:solidFill>
              </a:rPr>
              <a:t>네트워크</a:t>
            </a:r>
          </a:p>
          <a:p>
            <a:pPr algn="ctr" defTabSz="857250" eaLnBrk="0" latinLnBrk="0"/>
            <a:r>
              <a:rPr lang="en-US" altLang="ko-KR" sz="1000" dirty="0">
                <a:solidFill>
                  <a:schemeClr val="accent3"/>
                </a:solidFill>
              </a:rPr>
              <a:t>(</a:t>
            </a:r>
            <a:r>
              <a:rPr lang="ko-KR" altLang="en-US" sz="1000" dirty="0" err="1">
                <a:solidFill>
                  <a:schemeClr val="accent3"/>
                </a:solidFill>
              </a:rPr>
              <a:t>병해충예찰단</a:t>
            </a:r>
            <a:r>
              <a:rPr lang="en-US" altLang="ko-KR" sz="900" dirty="0">
                <a:solidFill>
                  <a:schemeClr val="accent3"/>
                </a:solidFill>
              </a:rPr>
              <a:t>)</a:t>
            </a:r>
            <a:endParaRPr lang="ko-KR" altLang="en-US" sz="900" dirty="0">
              <a:solidFill>
                <a:schemeClr val="accent3"/>
              </a:solidFill>
            </a:endParaRPr>
          </a:p>
        </p:txBody>
      </p:sp>
      <p:cxnSp>
        <p:nvCxnSpPr>
          <p:cNvPr id="108" name="AutoShape 120"/>
          <p:cNvCxnSpPr>
            <a:cxnSpLocks noChangeShapeType="1"/>
            <a:stCxn id="86" idx="2"/>
            <a:endCxn id="87" idx="1"/>
          </p:cNvCxnSpPr>
          <p:nvPr/>
        </p:nvCxnSpPr>
        <p:spPr bwMode="auto">
          <a:xfrm rot="16200000" flipH="1">
            <a:off x="4280610" y="2948876"/>
            <a:ext cx="206375" cy="766603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38" name="AutoShape 108"/>
          <p:cNvCxnSpPr>
            <a:cxnSpLocks noChangeShapeType="1"/>
          </p:cNvCxnSpPr>
          <p:nvPr/>
        </p:nvCxnSpPr>
        <p:spPr bwMode="auto">
          <a:xfrm>
            <a:off x="5286380" y="1571612"/>
            <a:ext cx="500066" cy="158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83" name="모서리가 둥근 직사각형 51"/>
          <p:cNvSpPr>
            <a:spLocks noChangeArrowheads="1"/>
          </p:cNvSpPr>
          <p:nvPr/>
        </p:nvSpPr>
        <p:spPr bwMode="auto">
          <a:xfrm>
            <a:off x="1928794" y="2214554"/>
            <a:ext cx="460163" cy="284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/>
            <a:r>
              <a:rPr lang="ko-KR" altLang="en-US" sz="900" dirty="0" err="1">
                <a:solidFill>
                  <a:srgbClr val="000000"/>
                </a:solidFill>
              </a:rPr>
              <a:t>예찰모형</a:t>
            </a:r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95" name="모서리가 둥근 직사각형 51"/>
          <p:cNvSpPr>
            <a:spLocks noChangeArrowheads="1"/>
          </p:cNvSpPr>
          <p:nvPr/>
        </p:nvSpPr>
        <p:spPr bwMode="auto">
          <a:xfrm>
            <a:off x="1928794" y="2571744"/>
            <a:ext cx="460163" cy="284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경로예측</a:t>
            </a:r>
            <a:endParaRPr lang="en-US" altLang="ko-KR" sz="900" dirty="0">
              <a:solidFill>
                <a:srgbClr val="000000"/>
              </a:solidFill>
            </a:endParaRPr>
          </a:p>
        </p:txBody>
      </p:sp>
      <p:cxnSp>
        <p:nvCxnSpPr>
          <p:cNvPr id="99" name="AutoShape 100"/>
          <p:cNvCxnSpPr>
            <a:cxnSpLocks noChangeShapeType="1"/>
          </p:cNvCxnSpPr>
          <p:nvPr/>
        </p:nvCxnSpPr>
        <p:spPr bwMode="auto">
          <a:xfrm>
            <a:off x="1714480" y="2427280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0" name="모서리가 둥근 직사각형 51"/>
          <p:cNvSpPr>
            <a:spLocks noChangeArrowheads="1"/>
          </p:cNvSpPr>
          <p:nvPr/>
        </p:nvSpPr>
        <p:spPr bwMode="auto">
          <a:xfrm>
            <a:off x="2540201" y="2366954"/>
            <a:ext cx="460163" cy="284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발생전망</a:t>
            </a:r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131" name="모서리가 둥근 직사각형 51"/>
          <p:cNvSpPr>
            <a:spLocks noChangeArrowheads="1"/>
          </p:cNvSpPr>
          <p:nvPr/>
        </p:nvSpPr>
        <p:spPr bwMode="auto">
          <a:xfrm>
            <a:off x="3111705" y="2357430"/>
            <a:ext cx="460163" cy="2841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현지조사</a:t>
            </a:r>
            <a:endParaRPr lang="en-US" altLang="ko-KR" sz="900" dirty="0">
              <a:solidFill>
                <a:srgbClr val="000000"/>
              </a:solidFill>
            </a:endParaRPr>
          </a:p>
        </p:txBody>
      </p:sp>
      <p:cxnSp>
        <p:nvCxnSpPr>
          <p:cNvPr id="132" name="AutoShape 100"/>
          <p:cNvCxnSpPr>
            <a:cxnSpLocks noChangeShapeType="1"/>
          </p:cNvCxnSpPr>
          <p:nvPr/>
        </p:nvCxnSpPr>
        <p:spPr bwMode="auto">
          <a:xfrm>
            <a:off x="2375092" y="2428868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" name="AutoShape 100"/>
          <p:cNvCxnSpPr>
            <a:cxnSpLocks noChangeShapeType="1"/>
          </p:cNvCxnSpPr>
          <p:nvPr/>
        </p:nvCxnSpPr>
        <p:spPr bwMode="auto">
          <a:xfrm>
            <a:off x="2357422" y="2641594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4" name="AutoShape 100"/>
          <p:cNvCxnSpPr>
            <a:cxnSpLocks noChangeShapeType="1"/>
          </p:cNvCxnSpPr>
          <p:nvPr/>
        </p:nvCxnSpPr>
        <p:spPr bwMode="auto">
          <a:xfrm>
            <a:off x="3000364" y="2500306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6" name="Rectangle 45"/>
          <p:cNvSpPr>
            <a:spLocks noChangeArrowheads="1"/>
          </p:cNvSpPr>
          <p:nvPr/>
        </p:nvSpPr>
        <p:spPr bwMode="auto">
          <a:xfrm>
            <a:off x="4786314" y="2503483"/>
            <a:ext cx="797118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종합분석진단</a:t>
            </a:r>
          </a:p>
        </p:txBody>
      </p:sp>
      <p:cxnSp>
        <p:nvCxnSpPr>
          <p:cNvPr id="147" name="AutoShape 100"/>
          <p:cNvCxnSpPr>
            <a:cxnSpLocks noChangeShapeType="1"/>
            <a:endCxn id="146" idx="1"/>
          </p:cNvCxnSpPr>
          <p:nvPr/>
        </p:nvCxnSpPr>
        <p:spPr bwMode="auto">
          <a:xfrm>
            <a:off x="4357686" y="2571744"/>
            <a:ext cx="428628" cy="7302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1" name="AutoShape 100"/>
          <p:cNvCxnSpPr>
            <a:cxnSpLocks noChangeShapeType="1"/>
          </p:cNvCxnSpPr>
          <p:nvPr/>
        </p:nvCxnSpPr>
        <p:spPr bwMode="auto">
          <a:xfrm rot="5400000" flipH="1" flipV="1">
            <a:off x="4786315" y="1928008"/>
            <a:ext cx="570710" cy="79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4" name="Rectangle 45"/>
          <p:cNvSpPr>
            <a:spLocks noChangeArrowheads="1"/>
          </p:cNvSpPr>
          <p:nvPr/>
        </p:nvSpPr>
        <p:spPr bwMode="auto">
          <a:xfrm>
            <a:off x="5929322" y="2357430"/>
            <a:ext cx="797118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 방제계획수립</a:t>
            </a:r>
          </a:p>
        </p:txBody>
      </p:sp>
      <p:sp>
        <p:nvSpPr>
          <p:cNvPr id="156" name="AutoShape 115"/>
          <p:cNvSpPr>
            <a:spLocks noChangeArrowheads="1"/>
          </p:cNvSpPr>
          <p:nvPr/>
        </p:nvSpPr>
        <p:spPr bwMode="auto">
          <a:xfrm>
            <a:off x="5857884" y="1142984"/>
            <a:ext cx="928694" cy="164307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57" name="Rectangle 45"/>
          <p:cNvSpPr>
            <a:spLocks noChangeArrowheads="1"/>
          </p:cNvSpPr>
          <p:nvPr/>
        </p:nvSpPr>
        <p:spPr bwMode="auto">
          <a:xfrm>
            <a:off x="5929322" y="1714488"/>
            <a:ext cx="797118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    방제지시</a:t>
            </a:r>
          </a:p>
        </p:txBody>
      </p:sp>
      <p:cxnSp>
        <p:nvCxnSpPr>
          <p:cNvPr id="158" name="AutoShape 100"/>
          <p:cNvCxnSpPr>
            <a:cxnSpLocks noChangeShapeType="1"/>
          </p:cNvCxnSpPr>
          <p:nvPr/>
        </p:nvCxnSpPr>
        <p:spPr bwMode="auto">
          <a:xfrm rot="16200000" flipH="1">
            <a:off x="6250396" y="2964255"/>
            <a:ext cx="214313" cy="79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1" name="AutoShape 115"/>
          <p:cNvSpPr>
            <a:spLocks noChangeArrowheads="1"/>
          </p:cNvSpPr>
          <p:nvPr/>
        </p:nvSpPr>
        <p:spPr bwMode="auto">
          <a:xfrm>
            <a:off x="5929322" y="3071810"/>
            <a:ext cx="857256" cy="200026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ko-KR" altLang="en-US" sz="900"/>
          </a:p>
        </p:txBody>
      </p:sp>
      <p:sp>
        <p:nvSpPr>
          <p:cNvPr id="162" name="Rectangle 45"/>
          <p:cNvSpPr>
            <a:spLocks noChangeArrowheads="1"/>
          </p:cNvSpPr>
          <p:nvPr/>
        </p:nvSpPr>
        <p:spPr bwMode="auto">
          <a:xfrm>
            <a:off x="6000760" y="3932243"/>
            <a:ext cx="642942" cy="2825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lIns="0" tIns="42876" rIns="0" bIns="42876" anchor="ctr"/>
          <a:lstStyle/>
          <a:p>
            <a:pPr defTabSz="857250" eaLnBrk="0" latinLnBrk="0"/>
            <a:r>
              <a:rPr lang="ko-KR" altLang="en-US" sz="900" dirty="0">
                <a:solidFill>
                  <a:srgbClr val="000000"/>
                </a:solidFill>
              </a:rPr>
              <a:t>      방제</a:t>
            </a:r>
          </a:p>
        </p:txBody>
      </p:sp>
      <p:cxnSp>
        <p:nvCxnSpPr>
          <p:cNvPr id="163" name="AutoShape 100"/>
          <p:cNvCxnSpPr>
            <a:cxnSpLocks noChangeShapeType="1"/>
          </p:cNvCxnSpPr>
          <p:nvPr/>
        </p:nvCxnSpPr>
        <p:spPr bwMode="auto">
          <a:xfrm>
            <a:off x="7643834" y="2071678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" name="AutoShape 100"/>
          <p:cNvCxnSpPr>
            <a:cxnSpLocks noChangeShapeType="1"/>
          </p:cNvCxnSpPr>
          <p:nvPr/>
        </p:nvCxnSpPr>
        <p:spPr bwMode="auto">
          <a:xfrm>
            <a:off x="7643834" y="3070222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6" name="AutoShape 100"/>
          <p:cNvCxnSpPr>
            <a:cxnSpLocks noChangeShapeType="1"/>
          </p:cNvCxnSpPr>
          <p:nvPr/>
        </p:nvCxnSpPr>
        <p:spPr bwMode="auto">
          <a:xfrm rot="10800000" flipV="1">
            <a:off x="7643834" y="3214686"/>
            <a:ext cx="231984" cy="3889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0" name="AutoShape 100"/>
          <p:cNvCxnSpPr>
            <a:cxnSpLocks noChangeShapeType="1"/>
          </p:cNvCxnSpPr>
          <p:nvPr/>
        </p:nvCxnSpPr>
        <p:spPr bwMode="auto">
          <a:xfrm rot="10800000" flipV="1">
            <a:off x="7643834" y="2214554"/>
            <a:ext cx="231984" cy="3889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1" name="AutoShape 100"/>
          <p:cNvCxnSpPr>
            <a:cxnSpLocks noChangeShapeType="1"/>
          </p:cNvCxnSpPr>
          <p:nvPr/>
        </p:nvCxnSpPr>
        <p:spPr bwMode="auto">
          <a:xfrm>
            <a:off x="7732942" y="4141792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2" name="AutoShape 100"/>
          <p:cNvCxnSpPr>
            <a:cxnSpLocks noChangeShapeType="1"/>
          </p:cNvCxnSpPr>
          <p:nvPr/>
        </p:nvCxnSpPr>
        <p:spPr bwMode="auto">
          <a:xfrm>
            <a:off x="7661504" y="4927610"/>
            <a:ext cx="196644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3" name="AutoShape 100"/>
          <p:cNvCxnSpPr>
            <a:cxnSpLocks noChangeShapeType="1"/>
          </p:cNvCxnSpPr>
          <p:nvPr/>
        </p:nvCxnSpPr>
        <p:spPr bwMode="auto">
          <a:xfrm rot="10800000" flipV="1">
            <a:off x="7643835" y="3929066"/>
            <a:ext cx="231984" cy="3889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" name="AutoShape 100"/>
          <p:cNvCxnSpPr>
            <a:cxnSpLocks noChangeShapeType="1"/>
          </p:cNvCxnSpPr>
          <p:nvPr/>
        </p:nvCxnSpPr>
        <p:spPr bwMode="auto">
          <a:xfrm rot="10800000" flipV="1">
            <a:off x="7643835" y="4714884"/>
            <a:ext cx="231984" cy="3889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5" name="모서리가 둥근 직사각형 174"/>
          <p:cNvSpPr/>
          <p:nvPr/>
        </p:nvSpPr>
        <p:spPr bwMode="auto">
          <a:xfrm>
            <a:off x="6858017" y="1581136"/>
            <a:ext cx="714380" cy="2825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종합분석</a:t>
            </a:r>
          </a:p>
        </p:txBody>
      </p:sp>
      <p:cxnSp>
        <p:nvCxnSpPr>
          <p:cNvPr id="176" name="AutoShape 108"/>
          <p:cNvCxnSpPr>
            <a:cxnSpLocks noChangeShapeType="1"/>
            <a:endCxn id="175" idx="2"/>
          </p:cNvCxnSpPr>
          <p:nvPr/>
        </p:nvCxnSpPr>
        <p:spPr bwMode="auto">
          <a:xfrm rot="5400000" flipH="1" flipV="1">
            <a:off x="5897571" y="2752719"/>
            <a:ext cx="2206643" cy="428629"/>
          </a:xfrm>
          <a:prstGeom prst="bentConnector3">
            <a:avLst>
              <a:gd name="adj1" fmla="val -782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79" name="모서리가 둥근 직사각형 178"/>
          <p:cNvSpPr/>
          <p:nvPr/>
        </p:nvSpPr>
        <p:spPr bwMode="auto">
          <a:xfrm>
            <a:off x="6858016" y="3214686"/>
            <a:ext cx="714380" cy="2825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857250" eaLnBrk="0" latinLnBrk="0">
              <a:defRPr/>
            </a:pPr>
            <a:r>
              <a:rPr lang="ko-KR" altLang="en-US" sz="900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결과보고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89189" y="5357826"/>
            <a:ext cx="51972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ㅇ</a:t>
            </a:r>
            <a:r>
              <a:rPr lang="en-US" altLang="ko-KR" sz="1400" b="1" dirty="0"/>
              <a:t>.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국제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이동성병해충의 공동대응을 위한 네트워크구축</a:t>
            </a:r>
            <a:endParaRPr lang="en-US" altLang="ko-KR" sz="1400" b="1" dirty="0"/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아태지역 이동성 병해충 발생 및 방제 교류정보</a:t>
            </a:r>
            <a:endParaRPr lang="en-US" altLang="ko-KR" sz="1400" dirty="0"/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이동성 병해충 실시간 광역 이동모델 개발</a:t>
            </a:r>
            <a:endParaRPr lang="en-US" altLang="ko-KR" sz="1400" dirty="0"/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국제회의 개최 및 다자간 국제 협력 과제추진으로 현실화 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071966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원뷰시스템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화면구성도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15" name="AutoShape 131"/>
          <p:cNvSpPr>
            <a:spLocks noChangeArrowheads="1"/>
          </p:cNvSpPr>
          <p:nvPr/>
        </p:nvSpPr>
        <p:spPr bwMode="auto">
          <a:xfrm>
            <a:off x="3419475" y="4414858"/>
            <a:ext cx="5184775" cy="1871663"/>
          </a:xfrm>
          <a:prstGeom prst="wedgeRectCallout">
            <a:avLst>
              <a:gd name="adj1" fmla="val 46111"/>
              <a:gd name="adj2" fmla="val -1650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endParaRPr lang="ko-KR" altLang="ko-KR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250825" y="741383"/>
            <a:ext cx="8642350" cy="5616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9" name="Group 5"/>
          <p:cNvGrpSpPr>
            <a:grpSpLocks/>
          </p:cNvGrpSpPr>
          <p:nvPr/>
        </p:nvGrpSpPr>
        <p:grpSpPr bwMode="auto">
          <a:xfrm>
            <a:off x="1835150" y="1246208"/>
            <a:ext cx="1973263" cy="1439863"/>
            <a:chOff x="340" y="799"/>
            <a:chExt cx="1334" cy="907"/>
          </a:xfrm>
        </p:grpSpPr>
        <p:sp>
          <p:nvSpPr>
            <p:cNvPr id="20" name="Text Box 6"/>
            <p:cNvSpPr txBox="1">
              <a:spLocks noChangeArrowheads="1"/>
            </p:cNvSpPr>
            <p:nvPr/>
          </p:nvSpPr>
          <p:spPr bwMode="auto">
            <a:xfrm>
              <a:off x="340" y="799"/>
              <a:ext cx="36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시군</a:t>
              </a:r>
              <a:r>
                <a:rPr lang="en-US" altLang="ko-KR" sz="1200" b="1"/>
                <a:t>:</a:t>
              </a: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703" y="799"/>
              <a:ext cx="680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dirty="0" err="1"/>
                <a:t>평택군</a:t>
              </a:r>
              <a:endParaRPr lang="ko-KR" altLang="en-US" sz="1200" dirty="0"/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1383" y="799"/>
              <a:ext cx="136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767" y="981"/>
              <a:ext cx="90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/>
                <a:t>경기도 화성시</a:t>
              </a:r>
            </a:p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평택군</a:t>
              </a:r>
            </a:p>
            <a:p>
              <a:pPr>
                <a:defRPr/>
              </a:pPr>
              <a:r>
                <a:rPr lang="ko-KR" altLang="en-US" sz="1200"/>
                <a:t>          이천군</a:t>
              </a:r>
            </a:p>
            <a:p>
              <a:pPr>
                <a:defRPr/>
              </a:pPr>
              <a:r>
                <a:rPr lang="ko-KR" altLang="en-US" sz="1200"/>
                <a:t>          여주군</a:t>
              </a:r>
            </a:p>
            <a:p>
              <a:pPr>
                <a:defRPr/>
              </a:pPr>
              <a:r>
                <a:rPr lang="ko-KR" altLang="en-US" sz="1200"/>
                <a:t>          양평군</a:t>
              </a:r>
            </a:p>
            <a:p>
              <a:pPr>
                <a:defRPr/>
              </a:pPr>
              <a:r>
                <a:rPr lang="ko-KR" altLang="en-US" sz="1200"/>
                <a:t>강원도 양구군</a:t>
              </a: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538" y="1524"/>
              <a:ext cx="136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1538" y="989"/>
              <a:ext cx="136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1538" y="1162"/>
              <a:ext cx="136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7" name="Group 13"/>
          <p:cNvGrpSpPr>
            <a:grpSpLocks/>
          </p:cNvGrpSpPr>
          <p:nvPr/>
        </p:nvGrpSpPr>
        <p:grpSpPr bwMode="auto">
          <a:xfrm>
            <a:off x="3635375" y="1246208"/>
            <a:ext cx="1527175" cy="1439863"/>
            <a:chOff x="1365" y="799"/>
            <a:chExt cx="962" cy="907"/>
          </a:xfrm>
        </p:grpSpPr>
        <p:sp>
          <p:nvSpPr>
            <p:cNvPr id="28" name="Text Box 14"/>
            <p:cNvSpPr txBox="1">
              <a:spLocks noChangeArrowheads="1"/>
            </p:cNvSpPr>
            <p:nvPr/>
          </p:nvSpPr>
          <p:spPr bwMode="auto">
            <a:xfrm>
              <a:off x="1365" y="799"/>
              <a:ext cx="33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작물</a:t>
              </a:r>
              <a:r>
                <a:rPr lang="en-US" altLang="ko-KR" sz="1200" b="1"/>
                <a:t>:</a:t>
              </a:r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1703" y="799"/>
              <a:ext cx="406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dirty="0"/>
                <a:t>고추</a:t>
              </a: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2064" y="799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1763" y="981"/>
              <a:ext cx="52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/>
                <a:t>벼</a:t>
              </a:r>
            </a:p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고추</a:t>
              </a:r>
            </a:p>
            <a:p>
              <a:pPr>
                <a:defRPr/>
              </a:pPr>
              <a:r>
                <a:rPr lang="ko-KR" altLang="en-US" sz="1200"/>
                <a:t>사과</a:t>
              </a:r>
            </a:p>
            <a:p>
              <a:pPr>
                <a:defRPr/>
              </a:pPr>
              <a:r>
                <a:rPr lang="ko-KR" altLang="en-US" sz="1200"/>
                <a:t>배</a:t>
              </a:r>
            </a:p>
            <a:p>
              <a:pPr>
                <a:defRPr/>
              </a:pPr>
              <a:r>
                <a:rPr lang="ko-KR" altLang="en-US" sz="1200"/>
                <a:t>감귤</a:t>
              </a:r>
            </a:p>
            <a:p>
              <a:pPr>
                <a:defRPr/>
              </a:pPr>
              <a:r>
                <a:rPr lang="ko-KR" altLang="en-US" sz="1200"/>
                <a:t>토마토</a:t>
              </a:r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2200" y="1524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33" name="Rectangle 19"/>
            <p:cNvSpPr>
              <a:spLocks noChangeArrowheads="1"/>
            </p:cNvSpPr>
            <p:nvPr/>
          </p:nvSpPr>
          <p:spPr bwMode="auto">
            <a:xfrm>
              <a:off x="2200" y="989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200" y="1162"/>
              <a:ext cx="127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179388" y="1246208"/>
            <a:ext cx="5349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200" b="1"/>
              <a:t>날짜</a:t>
            </a:r>
            <a:r>
              <a:rPr lang="en-US" altLang="ko-KR" sz="1200" b="1"/>
              <a:t>:</a:t>
            </a:r>
          </a:p>
        </p:txBody>
      </p:sp>
      <p:sp>
        <p:nvSpPr>
          <p:cNvPr id="40" name="Rectangle 22"/>
          <p:cNvSpPr>
            <a:spLocks noChangeArrowheads="1"/>
          </p:cNvSpPr>
          <p:nvPr/>
        </p:nvSpPr>
        <p:spPr bwMode="auto">
          <a:xfrm>
            <a:off x="715963" y="1246208"/>
            <a:ext cx="1006475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dirty="0"/>
              <a:t>2009/10/31</a:t>
            </a:r>
          </a:p>
        </p:txBody>
      </p:sp>
      <p:sp>
        <p:nvSpPr>
          <p:cNvPr id="42" name="Rectangle 23"/>
          <p:cNvSpPr>
            <a:spLocks noChangeArrowheads="1"/>
          </p:cNvSpPr>
          <p:nvPr/>
        </p:nvSpPr>
        <p:spPr bwMode="auto">
          <a:xfrm>
            <a:off x="1647825" y="1246208"/>
            <a:ext cx="201613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/>
              <a:t>▦</a:t>
            </a:r>
          </a:p>
        </p:txBody>
      </p:sp>
      <p:pic>
        <p:nvPicPr>
          <p:cNvPr id="46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2210" y="1624008"/>
            <a:ext cx="1439863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7" name="Group 25"/>
          <p:cNvGrpSpPr>
            <a:grpSpLocks/>
          </p:cNvGrpSpPr>
          <p:nvPr/>
        </p:nvGrpSpPr>
        <p:grpSpPr bwMode="auto">
          <a:xfrm>
            <a:off x="4989513" y="1246208"/>
            <a:ext cx="1600200" cy="1439863"/>
            <a:chOff x="3324" y="799"/>
            <a:chExt cx="1008" cy="907"/>
          </a:xfrm>
        </p:grpSpPr>
        <p:sp>
          <p:nvSpPr>
            <p:cNvPr id="48" name="Text Box 26"/>
            <p:cNvSpPr txBox="1">
              <a:spLocks noChangeArrowheads="1"/>
            </p:cNvSpPr>
            <p:nvPr/>
          </p:nvSpPr>
          <p:spPr bwMode="auto">
            <a:xfrm>
              <a:off x="3324" y="799"/>
              <a:ext cx="33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구분</a:t>
              </a:r>
              <a:r>
                <a:rPr lang="en-US" altLang="ko-KR" sz="1200" b="1"/>
                <a:t>:</a:t>
              </a:r>
            </a:p>
          </p:txBody>
        </p:sp>
        <p:sp>
          <p:nvSpPr>
            <p:cNvPr id="49" name="Rectangle 27"/>
            <p:cNvSpPr>
              <a:spLocks noChangeArrowheads="1"/>
            </p:cNvSpPr>
            <p:nvPr/>
          </p:nvSpPr>
          <p:spPr bwMode="auto">
            <a:xfrm>
              <a:off x="3662" y="799"/>
              <a:ext cx="406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dirty="0" err="1"/>
                <a:t>예찰</a:t>
              </a:r>
              <a:endParaRPr lang="ko-KR" altLang="en-US" sz="1200" dirty="0"/>
            </a:p>
          </p:txBody>
        </p:sp>
        <p:sp>
          <p:nvSpPr>
            <p:cNvPr id="50" name="Rectangle 28"/>
            <p:cNvSpPr>
              <a:spLocks noChangeArrowheads="1"/>
            </p:cNvSpPr>
            <p:nvPr/>
          </p:nvSpPr>
          <p:spPr bwMode="auto">
            <a:xfrm>
              <a:off x="4023" y="799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51" name="Rectangle 29"/>
            <p:cNvSpPr>
              <a:spLocks noChangeArrowheads="1"/>
            </p:cNvSpPr>
            <p:nvPr/>
          </p:nvSpPr>
          <p:spPr bwMode="auto">
            <a:xfrm>
              <a:off x="3722" y="981"/>
              <a:ext cx="52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예찰</a:t>
              </a:r>
            </a:p>
            <a:p>
              <a:pPr>
                <a:defRPr/>
              </a:pPr>
              <a:r>
                <a:rPr lang="ko-KR" altLang="en-US" sz="1200"/>
                <a:t>진단</a:t>
              </a:r>
            </a:p>
            <a:p>
              <a:pPr>
                <a:defRPr/>
              </a:pPr>
              <a:r>
                <a:rPr lang="ko-KR" altLang="en-US" sz="1200"/>
                <a:t>공적방제</a:t>
              </a:r>
            </a:p>
            <a:p>
              <a:pPr>
                <a:defRPr/>
              </a:pPr>
              <a:r>
                <a:rPr lang="ko-KR" altLang="en-US" sz="1200"/>
                <a:t>일반방제</a:t>
              </a:r>
            </a:p>
            <a:p>
              <a:pPr>
                <a:defRPr/>
              </a:pPr>
              <a:r>
                <a:rPr lang="ko-KR" altLang="en-US" sz="1200"/>
                <a:t>돌발방제</a:t>
              </a:r>
            </a:p>
            <a:p>
              <a:pPr>
                <a:defRPr/>
              </a:pPr>
              <a:r>
                <a:rPr lang="ko-KR" altLang="en-US" sz="1200"/>
                <a:t>보고</a:t>
              </a:r>
            </a:p>
          </p:txBody>
        </p:sp>
        <p:sp>
          <p:nvSpPr>
            <p:cNvPr id="52" name="Rectangle 30"/>
            <p:cNvSpPr>
              <a:spLocks noChangeArrowheads="1"/>
            </p:cNvSpPr>
            <p:nvPr/>
          </p:nvSpPr>
          <p:spPr bwMode="auto">
            <a:xfrm>
              <a:off x="4205" y="1524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53" name="Rectangle 31"/>
            <p:cNvSpPr>
              <a:spLocks noChangeArrowheads="1"/>
            </p:cNvSpPr>
            <p:nvPr/>
          </p:nvSpPr>
          <p:spPr bwMode="auto">
            <a:xfrm>
              <a:off x="4205" y="989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54" name="Rectangle 32"/>
            <p:cNvSpPr>
              <a:spLocks noChangeArrowheads="1"/>
            </p:cNvSpPr>
            <p:nvPr/>
          </p:nvSpPr>
          <p:spPr bwMode="auto">
            <a:xfrm>
              <a:off x="4205" y="1162"/>
              <a:ext cx="127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5" name="Text Box 33"/>
          <p:cNvSpPr txBox="1">
            <a:spLocks noChangeArrowheads="1"/>
          </p:cNvSpPr>
          <p:nvPr/>
        </p:nvSpPr>
        <p:spPr bwMode="auto">
          <a:xfrm>
            <a:off x="6372225" y="1246208"/>
            <a:ext cx="534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200" b="1"/>
              <a:t>상태</a:t>
            </a:r>
            <a:r>
              <a:rPr lang="en-US" altLang="ko-KR" sz="1200" b="1"/>
              <a:t>:</a:t>
            </a:r>
          </a:p>
        </p:txBody>
      </p:sp>
      <p:sp>
        <p:nvSpPr>
          <p:cNvPr id="56" name="Rectangle 34"/>
          <p:cNvSpPr>
            <a:spLocks noChangeArrowheads="1"/>
          </p:cNvSpPr>
          <p:nvPr/>
        </p:nvSpPr>
        <p:spPr bwMode="auto">
          <a:xfrm>
            <a:off x="6908800" y="1246208"/>
            <a:ext cx="644525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/>
              <a:t>의뢰</a:t>
            </a:r>
          </a:p>
        </p:txBody>
      </p:sp>
      <p:sp>
        <p:nvSpPr>
          <p:cNvPr id="57" name="Rectangle 35"/>
          <p:cNvSpPr>
            <a:spLocks noChangeArrowheads="1"/>
          </p:cNvSpPr>
          <p:nvPr/>
        </p:nvSpPr>
        <p:spPr bwMode="auto">
          <a:xfrm>
            <a:off x="7481888" y="1246208"/>
            <a:ext cx="201612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/>
              <a:t>▼</a:t>
            </a:r>
          </a:p>
        </p:txBody>
      </p:sp>
      <p:sp>
        <p:nvSpPr>
          <p:cNvPr id="58" name="Rectangle 36"/>
          <p:cNvSpPr>
            <a:spLocks noChangeArrowheads="1"/>
          </p:cNvSpPr>
          <p:nvPr/>
        </p:nvSpPr>
        <p:spPr bwMode="auto">
          <a:xfrm>
            <a:off x="7004050" y="1535133"/>
            <a:ext cx="836613" cy="1366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ko-KR" altLang="en-US" sz="1200" b="1">
                <a:effectLst>
                  <a:outerShdw blurRad="38100" dist="38100" dir="2700000" algn="tl">
                    <a:srgbClr val="C0C0C0"/>
                  </a:outerShdw>
                </a:effectLst>
              </a:rPr>
              <a:t>입력</a:t>
            </a:r>
          </a:p>
          <a:p>
            <a:pPr>
              <a:defRPr/>
            </a:pPr>
            <a:r>
              <a:rPr lang="ko-KR" altLang="en-US" sz="1200"/>
              <a:t>진단의뢰</a:t>
            </a:r>
          </a:p>
          <a:p>
            <a:pPr>
              <a:defRPr/>
            </a:pPr>
            <a:r>
              <a:rPr lang="ko-KR" altLang="en-US" sz="1200"/>
              <a:t>진단배정</a:t>
            </a:r>
          </a:p>
          <a:p>
            <a:pPr>
              <a:defRPr/>
            </a:pPr>
            <a:r>
              <a:rPr lang="ko-KR" altLang="en-US" sz="1200"/>
              <a:t>진단접수</a:t>
            </a:r>
          </a:p>
          <a:p>
            <a:pPr>
              <a:defRPr/>
            </a:pPr>
            <a:r>
              <a:rPr lang="ko-KR" altLang="en-US" sz="1200"/>
              <a:t>진단통보</a:t>
            </a:r>
          </a:p>
          <a:p>
            <a:pPr>
              <a:defRPr/>
            </a:pPr>
            <a:r>
              <a:rPr lang="ko-KR" altLang="en-US" sz="1200"/>
              <a:t>방제</a:t>
            </a:r>
          </a:p>
          <a:p>
            <a:pPr>
              <a:defRPr/>
            </a:pPr>
            <a:r>
              <a:rPr lang="ko-KR" altLang="en-US" sz="1200"/>
              <a:t>종료</a:t>
            </a:r>
          </a:p>
        </p:txBody>
      </p:sp>
      <p:sp>
        <p:nvSpPr>
          <p:cNvPr id="59" name="Rectangle 37"/>
          <p:cNvSpPr>
            <a:spLocks noChangeArrowheads="1"/>
          </p:cNvSpPr>
          <p:nvPr/>
        </p:nvSpPr>
        <p:spPr bwMode="auto">
          <a:xfrm>
            <a:off x="7754938" y="2613046"/>
            <a:ext cx="201612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/>
              <a:t>▼</a:t>
            </a:r>
          </a:p>
        </p:txBody>
      </p:sp>
      <p:sp>
        <p:nvSpPr>
          <p:cNvPr id="60" name="Rectangle 38"/>
          <p:cNvSpPr>
            <a:spLocks noChangeArrowheads="1"/>
          </p:cNvSpPr>
          <p:nvPr/>
        </p:nvSpPr>
        <p:spPr bwMode="auto">
          <a:xfrm>
            <a:off x="7754938" y="1547833"/>
            <a:ext cx="201612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/>
              <a:t>▲</a:t>
            </a:r>
          </a:p>
        </p:txBody>
      </p:sp>
      <p:sp>
        <p:nvSpPr>
          <p:cNvPr id="61" name="Rectangle 39"/>
          <p:cNvSpPr>
            <a:spLocks noChangeArrowheads="1"/>
          </p:cNvSpPr>
          <p:nvPr/>
        </p:nvSpPr>
        <p:spPr bwMode="auto">
          <a:xfrm>
            <a:off x="7754938" y="1822471"/>
            <a:ext cx="201612" cy="7921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/>
          </a:p>
        </p:txBody>
      </p:sp>
      <p:graphicFrame>
        <p:nvGraphicFramePr>
          <p:cNvPr id="62" name="Group 144"/>
          <p:cNvGraphicFramePr>
            <a:graphicFrameLocks noGrp="1"/>
          </p:cNvGraphicFramePr>
          <p:nvPr/>
        </p:nvGraphicFramePr>
        <p:xfrm>
          <a:off x="396875" y="3046433"/>
          <a:ext cx="8351838" cy="121920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시군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작물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상태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내용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의뢰자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처리자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상세보기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경기도 평택군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예찰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입력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줄기가 검게 변화고 시들고 있음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홍길동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경기도 양평군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토마토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진단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의뢰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잎이 누렇게 변함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임꺽정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강원도 평창군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고추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진단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배정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고추가 썩고 있음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이수일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심순애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전라남도 함평군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벼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일반방제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방재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잎을 갉아 먹고 있음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로미오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줄리엣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Rectangle 102"/>
          <p:cNvSpPr>
            <a:spLocks noChangeArrowheads="1"/>
          </p:cNvSpPr>
          <p:nvPr/>
        </p:nvSpPr>
        <p:spPr bwMode="auto">
          <a:xfrm>
            <a:off x="8101013" y="1606571"/>
            <a:ext cx="719137" cy="28733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1" dirty="0"/>
              <a:t>조회</a:t>
            </a:r>
          </a:p>
        </p:txBody>
      </p:sp>
      <p:sp>
        <p:nvSpPr>
          <p:cNvPr id="64" name="Rectangle 103"/>
          <p:cNvSpPr>
            <a:spLocks noChangeArrowheads="1"/>
          </p:cNvSpPr>
          <p:nvPr/>
        </p:nvSpPr>
        <p:spPr bwMode="auto">
          <a:xfrm>
            <a:off x="8101013" y="1966933"/>
            <a:ext cx="719137" cy="2873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lt1"/>
                </a:solidFill>
              </a:rPr>
              <a:t>입력</a:t>
            </a:r>
          </a:p>
        </p:txBody>
      </p:sp>
      <p:sp>
        <p:nvSpPr>
          <p:cNvPr id="65" name="Rectangle 104"/>
          <p:cNvSpPr>
            <a:spLocks noChangeArrowheads="1"/>
          </p:cNvSpPr>
          <p:nvPr/>
        </p:nvSpPr>
        <p:spPr bwMode="auto">
          <a:xfrm>
            <a:off x="7856912" y="3305477"/>
            <a:ext cx="632664" cy="189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1">
                <a:solidFill>
                  <a:schemeClr val="lt1"/>
                </a:solidFill>
              </a:rPr>
              <a:t>보기</a:t>
            </a:r>
          </a:p>
        </p:txBody>
      </p:sp>
      <p:sp>
        <p:nvSpPr>
          <p:cNvPr id="66" name="Rectangle 105"/>
          <p:cNvSpPr>
            <a:spLocks noChangeArrowheads="1"/>
          </p:cNvSpPr>
          <p:nvPr/>
        </p:nvSpPr>
        <p:spPr bwMode="auto">
          <a:xfrm>
            <a:off x="7855325" y="3549952"/>
            <a:ext cx="632664" cy="189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1">
                <a:solidFill>
                  <a:schemeClr val="lt1"/>
                </a:solidFill>
              </a:rPr>
              <a:t>보기</a:t>
            </a:r>
          </a:p>
        </p:txBody>
      </p:sp>
      <p:sp>
        <p:nvSpPr>
          <p:cNvPr id="67" name="Rectangle 106"/>
          <p:cNvSpPr>
            <a:spLocks noChangeArrowheads="1"/>
          </p:cNvSpPr>
          <p:nvPr/>
        </p:nvSpPr>
        <p:spPr bwMode="auto">
          <a:xfrm>
            <a:off x="7855325" y="3794427"/>
            <a:ext cx="632664" cy="189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1">
                <a:solidFill>
                  <a:schemeClr val="lt1"/>
                </a:solidFill>
              </a:rPr>
              <a:t>보기</a:t>
            </a:r>
          </a:p>
        </p:txBody>
      </p:sp>
      <p:sp>
        <p:nvSpPr>
          <p:cNvPr id="68" name="Rectangle 107"/>
          <p:cNvSpPr>
            <a:spLocks noChangeArrowheads="1"/>
          </p:cNvSpPr>
          <p:nvPr/>
        </p:nvSpPr>
        <p:spPr bwMode="auto">
          <a:xfrm>
            <a:off x="7856912" y="4024614"/>
            <a:ext cx="632664" cy="1899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100" b="1">
                <a:solidFill>
                  <a:schemeClr val="lt1"/>
                </a:solidFill>
              </a:rPr>
              <a:t>보기</a:t>
            </a:r>
          </a:p>
        </p:txBody>
      </p:sp>
      <p:sp>
        <p:nvSpPr>
          <p:cNvPr id="69" name="Text Box 111"/>
          <p:cNvSpPr txBox="1">
            <a:spLocks noChangeArrowheads="1"/>
          </p:cNvSpPr>
          <p:nvPr/>
        </p:nvSpPr>
        <p:spPr bwMode="auto">
          <a:xfrm>
            <a:off x="179388" y="741383"/>
            <a:ext cx="612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병해충 </a:t>
            </a:r>
            <a:r>
              <a:rPr lang="ko-KR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예찰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방제 종합 현황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입력기능 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 </a:t>
            </a: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상세보기 기능</a:t>
            </a:r>
          </a:p>
        </p:txBody>
      </p:sp>
      <p:sp>
        <p:nvSpPr>
          <p:cNvPr id="70" name="AutoShape 134"/>
          <p:cNvSpPr>
            <a:spLocks noChangeArrowheads="1"/>
          </p:cNvSpPr>
          <p:nvPr/>
        </p:nvSpPr>
        <p:spPr bwMode="auto">
          <a:xfrm>
            <a:off x="3419475" y="4414858"/>
            <a:ext cx="5184775" cy="1871663"/>
          </a:xfrm>
          <a:prstGeom prst="wedgeRectCallout">
            <a:avLst>
              <a:gd name="adj1" fmla="val 33954"/>
              <a:gd name="adj2" fmla="val -652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endParaRPr lang="ko-KR" altLang="ko-KR"/>
          </a:p>
        </p:txBody>
      </p:sp>
      <p:sp>
        <p:nvSpPr>
          <p:cNvPr id="71" name="Rectangle 109"/>
          <p:cNvSpPr>
            <a:spLocks noChangeArrowheads="1"/>
          </p:cNvSpPr>
          <p:nvPr/>
        </p:nvSpPr>
        <p:spPr bwMode="auto">
          <a:xfrm>
            <a:off x="3492500" y="4629171"/>
            <a:ext cx="3384550" cy="1296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ko-KR" altLang="en-US" sz="1200">
                <a:solidFill>
                  <a:srgbClr val="000000"/>
                </a:solidFill>
              </a:rPr>
              <a:t>초기에는 엽면의 일부에 노란색이나 갈색의 마름증상이 나타나며 점차 진한 갈색이나 검은색으로 변한다</a:t>
            </a:r>
            <a:r>
              <a:rPr lang="en-US" altLang="ko-KR" sz="1200">
                <a:solidFill>
                  <a:srgbClr val="000000"/>
                </a:solidFill>
              </a:rPr>
              <a:t>. </a:t>
            </a:r>
            <a:r>
              <a:rPr lang="ko-KR" altLang="en-US" sz="1200">
                <a:solidFill>
                  <a:srgbClr val="000000"/>
                </a:solidFill>
              </a:rPr>
              <a:t>병반 주위에는 노란색의 띠를 동반한다</a:t>
            </a:r>
            <a:r>
              <a:rPr lang="ko-KR" altLang="en-US" sz="1200"/>
              <a:t> </a:t>
            </a:r>
          </a:p>
        </p:txBody>
      </p:sp>
      <p:pic>
        <p:nvPicPr>
          <p:cNvPr id="72" name="Picture 1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48488" y="4630758"/>
            <a:ext cx="1511300" cy="130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Rectangle 130"/>
          <p:cNvSpPr>
            <a:spLocks noChangeArrowheads="1"/>
          </p:cNvSpPr>
          <p:nvPr/>
        </p:nvSpPr>
        <p:spPr bwMode="auto">
          <a:xfrm>
            <a:off x="4716463" y="5942033"/>
            <a:ext cx="719137" cy="28733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b="1" dirty="0"/>
              <a:t>저장</a:t>
            </a:r>
          </a:p>
        </p:txBody>
      </p:sp>
      <p:sp>
        <p:nvSpPr>
          <p:cNvPr id="74" name="Rectangle 132"/>
          <p:cNvSpPr>
            <a:spLocks noChangeArrowheads="1"/>
          </p:cNvSpPr>
          <p:nvPr/>
        </p:nvSpPr>
        <p:spPr bwMode="auto">
          <a:xfrm>
            <a:off x="7237413" y="5956321"/>
            <a:ext cx="863600" cy="27305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b="1"/>
              <a:t>사진올리기</a:t>
            </a:r>
          </a:p>
        </p:txBody>
      </p:sp>
      <p:sp>
        <p:nvSpPr>
          <p:cNvPr id="75" name="Rectangle 145"/>
          <p:cNvSpPr>
            <a:spLocks noChangeArrowheads="1"/>
          </p:cNvSpPr>
          <p:nvPr/>
        </p:nvSpPr>
        <p:spPr bwMode="auto">
          <a:xfrm>
            <a:off x="6483444" y="3314015"/>
            <a:ext cx="858650" cy="1982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lt1"/>
                </a:solidFill>
              </a:rPr>
              <a:t>담당자 지정</a:t>
            </a:r>
          </a:p>
        </p:txBody>
      </p:sp>
      <p:sp>
        <p:nvSpPr>
          <p:cNvPr id="76" name="Rectangle 146"/>
          <p:cNvSpPr>
            <a:spLocks noChangeArrowheads="1"/>
          </p:cNvSpPr>
          <p:nvPr/>
        </p:nvSpPr>
        <p:spPr bwMode="auto">
          <a:xfrm>
            <a:off x="6483444" y="3560077"/>
            <a:ext cx="858650" cy="19826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lt1"/>
                </a:solidFill>
              </a:rPr>
              <a:t>담당자 지정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282" y="6274378"/>
            <a:ext cx="332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권한지정 </a:t>
            </a:r>
            <a:r>
              <a:rPr lang="ko-KR" altLang="en-US" dirty="0" err="1"/>
              <a:t>메트릭스작업필요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7" name="Rectangle 130"/>
          <p:cNvSpPr>
            <a:spLocks noChangeArrowheads="1"/>
          </p:cNvSpPr>
          <p:nvPr/>
        </p:nvSpPr>
        <p:spPr bwMode="auto">
          <a:xfrm>
            <a:off x="7929586" y="784208"/>
            <a:ext cx="928694" cy="28733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/>
              <a:t>국가이동성병해충</a:t>
            </a:r>
          </a:p>
        </p:txBody>
      </p:sp>
      <p:sp>
        <p:nvSpPr>
          <p:cNvPr id="79" name="Rectangle 130"/>
          <p:cNvSpPr>
            <a:spLocks noChangeArrowheads="1"/>
          </p:cNvSpPr>
          <p:nvPr/>
        </p:nvSpPr>
        <p:spPr bwMode="auto">
          <a:xfrm>
            <a:off x="428596" y="6000768"/>
            <a:ext cx="719137" cy="28733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b="1" dirty="0"/>
              <a:t>커뮤니티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071966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541024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원뷰시스템</a:t>
            </a: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표준 </a:t>
            </a:r>
            <a:r>
              <a:rPr lang="ko-KR" altLang="en-US" sz="3000" b="1" dirty="0" err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방제력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2.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핵심과제 실행방안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250825" y="741383"/>
            <a:ext cx="8642350" cy="5616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1" name="Group 5"/>
          <p:cNvGrpSpPr>
            <a:grpSpLocks/>
          </p:cNvGrpSpPr>
          <p:nvPr/>
        </p:nvGrpSpPr>
        <p:grpSpPr bwMode="auto">
          <a:xfrm>
            <a:off x="1835150" y="1246208"/>
            <a:ext cx="1973263" cy="1439863"/>
            <a:chOff x="340" y="799"/>
            <a:chExt cx="1334" cy="907"/>
          </a:xfrm>
        </p:grpSpPr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40" y="799"/>
              <a:ext cx="36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시군</a:t>
              </a:r>
              <a:r>
                <a:rPr lang="en-US" altLang="ko-KR" sz="1200" b="1"/>
                <a:t>:</a:t>
              </a:r>
            </a:p>
          </p:txBody>
        </p:sp>
        <p:sp>
          <p:nvSpPr>
            <p:cNvPr id="33" name="Rectangle 7"/>
            <p:cNvSpPr>
              <a:spLocks noChangeArrowheads="1"/>
            </p:cNvSpPr>
            <p:nvPr/>
          </p:nvSpPr>
          <p:spPr bwMode="auto">
            <a:xfrm>
              <a:off x="703" y="799"/>
              <a:ext cx="680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평택군</a:t>
              </a:r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1383" y="799"/>
              <a:ext cx="136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767" y="981"/>
              <a:ext cx="90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/>
                <a:t>경기도 화성시</a:t>
              </a:r>
            </a:p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</a:t>
              </a:r>
              <a:r>
                <a:rPr lang="ko-KR" altLang="en-US" sz="1200"/>
                <a:t>평택군</a:t>
              </a:r>
            </a:p>
            <a:p>
              <a:pPr>
                <a:defRPr/>
              </a:pPr>
              <a:r>
                <a:rPr lang="ko-KR" altLang="en-US" sz="1200"/>
                <a:t>          이천군</a:t>
              </a:r>
            </a:p>
            <a:p>
              <a:pPr>
                <a:defRPr/>
              </a:pPr>
              <a:r>
                <a:rPr lang="ko-KR" altLang="en-US" sz="1200"/>
                <a:t>          여주군</a:t>
              </a:r>
            </a:p>
            <a:p>
              <a:pPr>
                <a:defRPr/>
              </a:pPr>
              <a:r>
                <a:rPr lang="ko-KR" altLang="en-US" sz="1200"/>
                <a:t>          양평군</a:t>
              </a:r>
            </a:p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경북도 문경군</a:t>
              </a:r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auto">
            <a:xfrm>
              <a:off x="1538" y="1524"/>
              <a:ext cx="136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1538" y="989"/>
              <a:ext cx="136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1538" y="1162"/>
              <a:ext cx="136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7" name="Group 13"/>
          <p:cNvGrpSpPr>
            <a:grpSpLocks/>
          </p:cNvGrpSpPr>
          <p:nvPr/>
        </p:nvGrpSpPr>
        <p:grpSpPr bwMode="auto">
          <a:xfrm>
            <a:off x="381000" y="1246208"/>
            <a:ext cx="1527175" cy="1439863"/>
            <a:chOff x="1365" y="799"/>
            <a:chExt cx="962" cy="907"/>
          </a:xfrm>
        </p:grpSpPr>
        <p:sp>
          <p:nvSpPr>
            <p:cNvPr id="48" name="Text Box 14"/>
            <p:cNvSpPr txBox="1">
              <a:spLocks noChangeArrowheads="1"/>
            </p:cNvSpPr>
            <p:nvPr/>
          </p:nvSpPr>
          <p:spPr bwMode="auto">
            <a:xfrm>
              <a:off x="1365" y="799"/>
              <a:ext cx="33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작물</a:t>
              </a:r>
              <a:r>
                <a:rPr lang="en-US" altLang="ko-KR" sz="1200" b="1"/>
                <a:t>:</a:t>
              </a: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1703" y="799"/>
              <a:ext cx="406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고추</a:t>
              </a:r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2064" y="799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1763" y="981"/>
              <a:ext cx="52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/>
                <a:t>벼</a:t>
              </a:r>
            </a:p>
            <a:p>
              <a:pPr>
                <a:defRPr/>
              </a:pPr>
              <a:r>
                <a:rPr lang="ko-KR" altLang="en-US" sz="1200"/>
                <a:t>고추</a:t>
              </a:r>
            </a:p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사과</a:t>
              </a:r>
            </a:p>
            <a:p>
              <a:pPr>
                <a:defRPr/>
              </a:pPr>
              <a:r>
                <a:rPr lang="ko-KR" altLang="en-US" sz="1200"/>
                <a:t>배</a:t>
              </a:r>
            </a:p>
            <a:p>
              <a:pPr>
                <a:defRPr/>
              </a:pPr>
              <a:r>
                <a:rPr lang="ko-KR" altLang="en-US" sz="1200"/>
                <a:t>감귤</a:t>
              </a:r>
            </a:p>
            <a:p>
              <a:pPr>
                <a:defRPr/>
              </a:pPr>
              <a:r>
                <a:rPr lang="ko-KR" altLang="en-US" sz="1200"/>
                <a:t>토마토</a:t>
              </a:r>
            </a:p>
          </p:txBody>
        </p:sp>
        <p:sp>
          <p:nvSpPr>
            <p:cNvPr id="52" name="Rectangle 18"/>
            <p:cNvSpPr>
              <a:spLocks noChangeArrowheads="1"/>
            </p:cNvSpPr>
            <p:nvPr/>
          </p:nvSpPr>
          <p:spPr bwMode="auto">
            <a:xfrm>
              <a:off x="2200" y="1524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2200" y="989"/>
              <a:ext cx="12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54" name="Rectangle 20"/>
            <p:cNvSpPr>
              <a:spLocks noChangeArrowheads="1"/>
            </p:cNvSpPr>
            <p:nvPr/>
          </p:nvSpPr>
          <p:spPr bwMode="auto">
            <a:xfrm>
              <a:off x="2200" y="1162"/>
              <a:ext cx="127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55" name="Group 214"/>
          <p:cNvGrpSpPr>
            <a:grpSpLocks/>
          </p:cNvGrpSpPr>
          <p:nvPr/>
        </p:nvGrpSpPr>
        <p:grpSpPr bwMode="auto">
          <a:xfrm>
            <a:off x="238125" y="2974996"/>
            <a:ext cx="1454150" cy="1439862"/>
            <a:chOff x="340" y="1979"/>
            <a:chExt cx="916" cy="907"/>
          </a:xfrm>
        </p:grpSpPr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340" y="1979"/>
              <a:ext cx="3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회차</a:t>
              </a:r>
              <a:r>
                <a:rPr lang="en-US" altLang="ko-KR" sz="1200" b="1"/>
                <a:t>: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644" y="1979"/>
              <a:ext cx="310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제한</a:t>
              </a:r>
            </a:p>
          </p:txBody>
        </p:sp>
        <p:sp>
          <p:nvSpPr>
            <p:cNvPr id="58" name="Rectangle 28"/>
            <p:cNvSpPr>
              <a:spLocks noChangeArrowheads="1"/>
            </p:cNvSpPr>
            <p:nvPr/>
          </p:nvSpPr>
          <p:spPr bwMode="auto">
            <a:xfrm>
              <a:off x="920" y="1979"/>
              <a:ext cx="9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59" name="Rectangle 29"/>
            <p:cNvSpPr>
              <a:spLocks noChangeArrowheads="1"/>
            </p:cNvSpPr>
            <p:nvPr/>
          </p:nvSpPr>
          <p:spPr bwMode="auto">
            <a:xfrm>
              <a:off x="689" y="2161"/>
              <a:ext cx="46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제한살포</a:t>
              </a:r>
            </a:p>
            <a:p>
              <a:pPr>
                <a:defRPr/>
              </a:pPr>
              <a:r>
                <a:rPr lang="en-US" altLang="ko-KR" sz="1200"/>
                <a:t>1</a:t>
              </a:r>
              <a:r>
                <a:rPr lang="ko-KR" altLang="en-US" sz="1200"/>
                <a:t>회차</a:t>
              </a:r>
            </a:p>
            <a:p>
              <a:pPr>
                <a:defRPr/>
              </a:pPr>
              <a:r>
                <a:rPr lang="en-US" altLang="ko-KR" sz="1200"/>
                <a:t>2</a:t>
              </a:r>
              <a:r>
                <a:rPr lang="ko-KR" altLang="en-US" sz="1200"/>
                <a:t>회차</a:t>
              </a:r>
            </a:p>
            <a:p>
              <a:pPr>
                <a:defRPr/>
              </a:pPr>
              <a:r>
                <a:rPr lang="en-US" altLang="ko-KR" sz="1200"/>
                <a:t>3</a:t>
              </a:r>
              <a:r>
                <a:rPr lang="ko-KR" altLang="en-US" sz="1200"/>
                <a:t>회차</a:t>
              </a:r>
            </a:p>
            <a:p>
              <a:pPr>
                <a:defRPr/>
              </a:pPr>
              <a:r>
                <a:rPr lang="en-US" altLang="ko-KR" sz="1200"/>
                <a:t>4</a:t>
              </a:r>
              <a:r>
                <a:rPr lang="ko-KR" altLang="en-US" sz="1200"/>
                <a:t>회차</a:t>
              </a:r>
            </a:p>
            <a:p>
              <a:pPr>
                <a:defRPr/>
              </a:pPr>
              <a:r>
                <a:rPr lang="en-US" altLang="ko-KR" sz="1200"/>
                <a:t>5</a:t>
              </a:r>
              <a:r>
                <a:rPr lang="ko-KR" altLang="en-US" sz="1200"/>
                <a:t>회차</a:t>
              </a:r>
            </a:p>
          </p:txBody>
        </p:sp>
        <p:sp>
          <p:nvSpPr>
            <p:cNvPr id="60" name="Rectangle 30"/>
            <p:cNvSpPr>
              <a:spLocks noChangeArrowheads="1"/>
            </p:cNvSpPr>
            <p:nvPr/>
          </p:nvSpPr>
          <p:spPr bwMode="auto">
            <a:xfrm>
              <a:off x="1159" y="2704"/>
              <a:ext cx="9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61" name="Rectangle 31"/>
            <p:cNvSpPr>
              <a:spLocks noChangeArrowheads="1"/>
            </p:cNvSpPr>
            <p:nvPr/>
          </p:nvSpPr>
          <p:spPr bwMode="auto">
            <a:xfrm>
              <a:off x="1159" y="2169"/>
              <a:ext cx="9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62" name="Rectangle 32"/>
            <p:cNvSpPr>
              <a:spLocks noChangeArrowheads="1"/>
            </p:cNvSpPr>
            <p:nvPr/>
          </p:nvSpPr>
          <p:spPr bwMode="auto">
            <a:xfrm>
              <a:off x="1159" y="2342"/>
              <a:ext cx="97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aphicFrame>
        <p:nvGraphicFramePr>
          <p:cNvPr id="63" name="Group 213"/>
          <p:cNvGraphicFramePr>
            <a:graphicFrameLocks noGrp="1"/>
          </p:cNvGraphicFramePr>
          <p:nvPr/>
        </p:nvGraphicFramePr>
        <p:xfrm>
          <a:off x="396875" y="4903808"/>
          <a:ext cx="8351838" cy="1402080"/>
        </p:xfrm>
        <a:graphic>
          <a:graphicData uri="http://schemas.openxmlformats.org/drawingml/2006/table">
            <a:tbl>
              <a:tblPr firstRow="1" firstCol="1" bandCol="1">
                <a:tableStyleId>{912C8C85-51F0-491E-9774-3900AFEF0FD7}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회차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월</a:t>
                      </a: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순</a:t>
                      </a: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상세시기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생육 및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주 작업기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대상 병해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대상 해충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방제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여부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참고사항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제한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살포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월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2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월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발아 전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사과응애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월동알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깍지벌레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기계유유제는 나뭇가지에 잘 부착되도록 바람없을 때 살포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월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일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~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일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개화직전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검은별무늬병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과심곰팡이병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사과흑진딧물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마방류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애벌레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낙엽 및 주위 발생원 제거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화분매개곤충 영향 주의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Rectangle 102"/>
          <p:cNvSpPr>
            <a:spLocks noChangeArrowheads="1"/>
          </p:cNvSpPr>
          <p:nvPr/>
        </p:nvSpPr>
        <p:spPr bwMode="auto">
          <a:xfrm>
            <a:off x="3924300" y="2398733"/>
            <a:ext cx="719138" cy="287338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lt1"/>
                </a:solidFill>
              </a:rPr>
              <a:t>조회</a:t>
            </a:r>
          </a:p>
        </p:txBody>
      </p:sp>
      <p:sp>
        <p:nvSpPr>
          <p:cNvPr id="65" name="Rectangle 103"/>
          <p:cNvSpPr>
            <a:spLocks noChangeArrowheads="1"/>
          </p:cNvSpPr>
          <p:nvPr/>
        </p:nvSpPr>
        <p:spPr bwMode="auto">
          <a:xfrm>
            <a:off x="8027988" y="4486296"/>
            <a:ext cx="719137" cy="28733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lt1"/>
                </a:solidFill>
              </a:rPr>
              <a:t>저장</a:t>
            </a:r>
          </a:p>
        </p:txBody>
      </p:sp>
      <p:sp>
        <p:nvSpPr>
          <p:cNvPr id="66" name="Text Box 108"/>
          <p:cNvSpPr txBox="1">
            <a:spLocks noChangeArrowheads="1"/>
          </p:cNvSpPr>
          <p:nvPr/>
        </p:nvSpPr>
        <p:spPr bwMode="auto">
          <a:xfrm>
            <a:off x="179388" y="741383"/>
            <a:ext cx="540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표준 </a:t>
            </a:r>
            <a:r>
              <a:rPr lang="ko-KR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방제력</a:t>
            </a: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현황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입력 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 </a:t>
            </a:r>
            <a:r>
              <a:rPr lang="ko-KR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조회 기능</a:t>
            </a:r>
          </a:p>
        </p:txBody>
      </p:sp>
      <p:sp>
        <p:nvSpPr>
          <p:cNvPr id="67" name="Text Box 128"/>
          <p:cNvSpPr txBox="1">
            <a:spLocks noChangeArrowheads="1"/>
          </p:cNvSpPr>
          <p:nvPr/>
        </p:nvSpPr>
        <p:spPr bwMode="auto">
          <a:xfrm>
            <a:off x="323850" y="4557733"/>
            <a:ext cx="45354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 b="1"/>
              <a:t>작물</a:t>
            </a:r>
            <a:r>
              <a:rPr lang="en-US" altLang="ko-KR" sz="1600" b="1"/>
              <a:t>: </a:t>
            </a:r>
            <a:r>
              <a:rPr lang="ko-KR" altLang="en-US" sz="1600" b="1"/>
              <a:t>사과        지역</a:t>
            </a:r>
            <a:r>
              <a:rPr lang="en-US" altLang="ko-KR" sz="1600" b="1"/>
              <a:t>:</a:t>
            </a:r>
            <a:r>
              <a:rPr lang="ko-KR" altLang="en-US" sz="1600" b="1"/>
              <a:t>경상북도 문경</a:t>
            </a:r>
          </a:p>
        </p:txBody>
      </p:sp>
      <p:grpSp>
        <p:nvGrpSpPr>
          <p:cNvPr id="68" name="Group 223"/>
          <p:cNvGrpSpPr>
            <a:grpSpLocks/>
          </p:cNvGrpSpPr>
          <p:nvPr/>
        </p:nvGrpSpPr>
        <p:grpSpPr bwMode="auto">
          <a:xfrm>
            <a:off x="1339850" y="2974996"/>
            <a:ext cx="1576388" cy="1439862"/>
            <a:chOff x="844" y="1979"/>
            <a:chExt cx="993" cy="907"/>
          </a:xfrm>
        </p:grpSpPr>
        <p:sp>
          <p:nvSpPr>
            <p:cNvPr id="69" name="Text Box 216"/>
            <p:cNvSpPr txBox="1">
              <a:spLocks noChangeArrowheads="1"/>
            </p:cNvSpPr>
            <p:nvPr/>
          </p:nvSpPr>
          <p:spPr bwMode="auto">
            <a:xfrm>
              <a:off x="844" y="1979"/>
              <a:ext cx="43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월</a:t>
              </a:r>
              <a:r>
                <a:rPr lang="en-US" altLang="ko-KR" sz="1200" b="1"/>
                <a:t>(</a:t>
              </a:r>
              <a:r>
                <a:rPr lang="ko-KR" altLang="en-US" sz="1200" b="1"/>
                <a:t>순</a:t>
              </a:r>
              <a:r>
                <a:rPr lang="en-US" altLang="ko-KR" sz="1200" b="1"/>
                <a:t>):</a:t>
              </a:r>
            </a:p>
          </p:txBody>
        </p:sp>
        <p:sp>
          <p:nvSpPr>
            <p:cNvPr id="70" name="Rectangle 217"/>
            <p:cNvSpPr>
              <a:spLocks noChangeArrowheads="1"/>
            </p:cNvSpPr>
            <p:nvPr/>
          </p:nvSpPr>
          <p:spPr bwMode="auto">
            <a:xfrm>
              <a:off x="1225" y="1979"/>
              <a:ext cx="310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없음</a:t>
              </a:r>
            </a:p>
          </p:txBody>
        </p:sp>
        <p:sp>
          <p:nvSpPr>
            <p:cNvPr id="71" name="Rectangle 218"/>
            <p:cNvSpPr>
              <a:spLocks noChangeArrowheads="1"/>
            </p:cNvSpPr>
            <p:nvPr/>
          </p:nvSpPr>
          <p:spPr bwMode="auto">
            <a:xfrm>
              <a:off x="1501" y="1979"/>
              <a:ext cx="9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72" name="Rectangle 219"/>
            <p:cNvSpPr>
              <a:spLocks noChangeArrowheads="1"/>
            </p:cNvSpPr>
            <p:nvPr/>
          </p:nvSpPr>
          <p:spPr bwMode="auto">
            <a:xfrm>
              <a:off x="1270" y="2161"/>
              <a:ext cx="46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/>
                <a:t>없음</a:t>
              </a:r>
            </a:p>
            <a:p>
              <a:pPr>
                <a:defRPr/>
              </a:pPr>
              <a:r>
                <a:rPr lang="en-US" altLang="ko-KR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월</a:t>
              </a:r>
              <a:r>
                <a:rPr lang="ko-KR" altLang="en-US" sz="1200"/>
                <a:t> </a:t>
              </a:r>
            </a:p>
            <a:p>
              <a:pPr>
                <a:defRPr/>
              </a:pPr>
              <a:r>
                <a:rPr lang="en-US" altLang="ko-KR" sz="1200"/>
                <a:t>1</a:t>
              </a:r>
              <a:r>
                <a:rPr lang="ko-KR" altLang="en-US" sz="1200"/>
                <a:t>월 상순</a:t>
              </a:r>
            </a:p>
            <a:p>
              <a:pPr>
                <a:defRPr/>
              </a:pPr>
              <a:r>
                <a:rPr lang="en-US" altLang="ko-KR" sz="1200"/>
                <a:t>1</a:t>
              </a:r>
              <a:r>
                <a:rPr lang="ko-KR" altLang="en-US" sz="1200"/>
                <a:t>월 중순</a:t>
              </a:r>
            </a:p>
            <a:p>
              <a:pPr>
                <a:defRPr/>
              </a:pPr>
              <a:r>
                <a:rPr lang="en-US" altLang="ko-KR" sz="1200"/>
                <a:t>1</a:t>
              </a:r>
              <a:r>
                <a:rPr lang="ko-KR" altLang="en-US" sz="1200"/>
                <a:t>월 하순</a:t>
              </a:r>
            </a:p>
            <a:p>
              <a:pPr>
                <a:defRPr/>
              </a:pPr>
              <a:r>
                <a:rPr lang="en-US" altLang="ko-KR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월</a:t>
              </a:r>
              <a:r>
                <a:rPr lang="ko-KR" altLang="en-US" sz="1200"/>
                <a:t> </a:t>
              </a:r>
            </a:p>
          </p:txBody>
        </p:sp>
        <p:sp>
          <p:nvSpPr>
            <p:cNvPr id="73" name="Rectangle 220"/>
            <p:cNvSpPr>
              <a:spLocks noChangeArrowheads="1"/>
            </p:cNvSpPr>
            <p:nvPr/>
          </p:nvSpPr>
          <p:spPr bwMode="auto">
            <a:xfrm>
              <a:off x="1740" y="2704"/>
              <a:ext cx="9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74" name="Rectangle 221"/>
            <p:cNvSpPr>
              <a:spLocks noChangeArrowheads="1"/>
            </p:cNvSpPr>
            <p:nvPr/>
          </p:nvSpPr>
          <p:spPr bwMode="auto">
            <a:xfrm>
              <a:off x="1740" y="2169"/>
              <a:ext cx="97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75" name="Rectangle 222"/>
            <p:cNvSpPr>
              <a:spLocks noChangeArrowheads="1"/>
            </p:cNvSpPr>
            <p:nvPr/>
          </p:nvSpPr>
          <p:spPr bwMode="auto">
            <a:xfrm>
              <a:off x="1740" y="2342"/>
              <a:ext cx="97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76" name="Group 232"/>
          <p:cNvGrpSpPr>
            <a:grpSpLocks/>
          </p:cNvGrpSpPr>
          <p:nvPr/>
        </p:nvGrpSpPr>
        <p:grpSpPr bwMode="auto">
          <a:xfrm>
            <a:off x="2339975" y="2974996"/>
            <a:ext cx="1778000" cy="1439862"/>
            <a:chOff x="1615" y="1979"/>
            <a:chExt cx="1120" cy="907"/>
          </a:xfrm>
        </p:grpSpPr>
        <p:sp>
          <p:nvSpPr>
            <p:cNvPr id="77" name="Text Box 225"/>
            <p:cNvSpPr txBox="1">
              <a:spLocks noChangeArrowheads="1"/>
            </p:cNvSpPr>
            <p:nvPr/>
          </p:nvSpPr>
          <p:spPr bwMode="auto">
            <a:xfrm>
              <a:off x="1615" y="1979"/>
              <a:ext cx="48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상세</a:t>
              </a:r>
            </a:p>
          </p:txBody>
        </p:sp>
        <p:sp>
          <p:nvSpPr>
            <p:cNvPr id="78" name="Rectangle 226"/>
            <p:cNvSpPr>
              <a:spLocks noChangeArrowheads="1"/>
            </p:cNvSpPr>
            <p:nvPr/>
          </p:nvSpPr>
          <p:spPr bwMode="auto">
            <a:xfrm>
              <a:off x="2048" y="1979"/>
              <a:ext cx="353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없음</a:t>
              </a:r>
            </a:p>
          </p:txBody>
        </p:sp>
        <p:sp>
          <p:nvSpPr>
            <p:cNvPr id="79" name="Rectangle 227"/>
            <p:cNvSpPr>
              <a:spLocks noChangeArrowheads="1"/>
            </p:cNvSpPr>
            <p:nvPr/>
          </p:nvSpPr>
          <p:spPr bwMode="auto">
            <a:xfrm>
              <a:off x="2362" y="1979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80" name="Rectangle 228"/>
            <p:cNvSpPr>
              <a:spLocks noChangeArrowheads="1"/>
            </p:cNvSpPr>
            <p:nvPr/>
          </p:nvSpPr>
          <p:spPr bwMode="auto">
            <a:xfrm>
              <a:off x="2099" y="2161"/>
              <a:ext cx="531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없음</a:t>
              </a:r>
            </a:p>
            <a:p>
              <a:pPr>
                <a:defRPr/>
              </a:pPr>
              <a:r>
                <a:rPr lang="en-US" altLang="ko-KR" sz="1200"/>
                <a:t>1</a:t>
              </a:r>
              <a:r>
                <a:rPr lang="ko-KR" altLang="en-US" sz="1200"/>
                <a:t>일</a:t>
              </a:r>
              <a:r>
                <a:rPr lang="en-US" altLang="ko-KR" sz="1200"/>
                <a:t>~5</a:t>
              </a:r>
              <a:r>
                <a:rPr lang="ko-KR" altLang="en-US" sz="1200"/>
                <a:t>일</a:t>
              </a:r>
            </a:p>
            <a:p>
              <a:pPr>
                <a:defRPr/>
              </a:pPr>
              <a:r>
                <a:rPr lang="en-US" altLang="ko-KR" sz="1200"/>
                <a:t>6</a:t>
              </a:r>
              <a:r>
                <a:rPr lang="ko-KR" altLang="en-US" sz="1200"/>
                <a:t>일</a:t>
              </a:r>
              <a:r>
                <a:rPr lang="en-US" altLang="ko-KR" sz="1200"/>
                <a:t>~10</a:t>
              </a:r>
              <a:r>
                <a:rPr lang="ko-KR" altLang="en-US" sz="1200"/>
                <a:t>일</a:t>
              </a:r>
            </a:p>
            <a:p>
              <a:pPr>
                <a:defRPr/>
              </a:pPr>
              <a:r>
                <a:rPr lang="en-US" altLang="ko-KR" sz="1200"/>
                <a:t>11</a:t>
              </a:r>
              <a:r>
                <a:rPr lang="ko-KR" altLang="en-US" sz="1200"/>
                <a:t>일</a:t>
              </a:r>
              <a:r>
                <a:rPr lang="en-US" altLang="ko-KR" sz="1200"/>
                <a:t>~15</a:t>
              </a:r>
              <a:r>
                <a:rPr lang="ko-KR" altLang="en-US" sz="1200"/>
                <a:t>일</a:t>
              </a:r>
            </a:p>
            <a:p>
              <a:pPr>
                <a:defRPr/>
              </a:pPr>
              <a:r>
                <a:rPr lang="en-US" altLang="ko-KR" sz="1200"/>
                <a:t>16</a:t>
              </a:r>
              <a:r>
                <a:rPr lang="ko-KR" altLang="en-US" sz="1200"/>
                <a:t>일</a:t>
              </a:r>
              <a:r>
                <a:rPr lang="en-US" altLang="ko-KR" sz="1200"/>
                <a:t>~20</a:t>
              </a:r>
              <a:r>
                <a:rPr lang="ko-KR" altLang="en-US" sz="1200"/>
                <a:t>일</a:t>
              </a:r>
            </a:p>
            <a:p>
              <a:pPr>
                <a:defRPr/>
              </a:pPr>
              <a:r>
                <a:rPr lang="en-US" altLang="ko-KR" sz="1200"/>
                <a:t>21</a:t>
              </a:r>
              <a:r>
                <a:rPr lang="ko-KR" altLang="en-US" sz="1200"/>
                <a:t>일</a:t>
              </a:r>
              <a:r>
                <a:rPr lang="en-US" altLang="ko-KR" sz="1200"/>
                <a:t>~25</a:t>
              </a:r>
              <a:r>
                <a:rPr lang="ko-KR" altLang="en-US" sz="1200"/>
                <a:t>일</a:t>
              </a:r>
            </a:p>
          </p:txBody>
        </p:sp>
        <p:sp>
          <p:nvSpPr>
            <p:cNvPr id="81" name="Rectangle 229"/>
            <p:cNvSpPr>
              <a:spLocks noChangeArrowheads="1"/>
            </p:cNvSpPr>
            <p:nvPr/>
          </p:nvSpPr>
          <p:spPr bwMode="auto">
            <a:xfrm>
              <a:off x="2625" y="2704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82" name="Rectangle 230"/>
            <p:cNvSpPr>
              <a:spLocks noChangeArrowheads="1"/>
            </p:cNvSpPr>
            <p:nvPr/>
          </p:nvSpPr>
          <p:spPr bwMode="auto">
            <a:xfrm>
              <a:off x="2625" y="2169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83" name="Rectangle 231"/>
            <p:cNvSpPr>
              <a:spLocks noChangeArrowheads="1"/>
            </p:cNvSpPr>
            <p:nvPr/>
          </p:nvSpPr>
          <p:spPr bwMode="auto">
            <a:xfrm>
              <a:off x="2625" y="2342"/>
              <a:ext cx="110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84" name="Group 233"/>
          <p:cNvGrpSpPr>
            <a:grpSpLocks/>
          </p:cNvGrpSpPr>
          <p:nvPr/>
        </p:nvGrpSpPr>
        <p:grpSpPr bwMode="auto">
          <a:xfrm>
            <a:off x="3708400" y="2974996"/>
            <a:ext cx="1439863" cy="1439862"/>
            <a:chOff x="1615" y="1979"/>
            <a:chExt cx="1120" cy="907"/>
          </a:xfrm>
        </p:grpSpPr>
        <p:sp>
          <p:nvSpPr>
            <p:cNvPr id="85" name="Text Box 234"/>
            <p:cNvSpPr txBox="1">
              <a:spLocks noChangeArrowheads="1"/>
            </p:cNvSpPr>
            <p:nvPr/>
          </p:nvSpPr>
          <p:spPr bwMode="auto">
            <a:xfrm>
              <a:off x="1615" y="1979"/>
              <a:ext cx="48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생육</a:t>
              </a:r>
            </a:p>
          </p:txBody>
        </p:sp>
        <p:sp>
          <p:nvSpPr>
            <p:cNvPr id="86" name="Rectangle 235"/>
            <p:cNvSpPr>
              <a:spLocks noChangeArrowheads="1"/>
            </p:cNvSpPr>
            <p:nvPr/>
          </p:nvSpPr>
          <p:spPr bwMode="auto">
            <a:xfrm>
              <a:off x="2048" y="1979"/>
              <a:ext cx="353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없음</a:t>
              </a:r>
            </a:p>
          </p:txBody>
        </p:sp>
        <p:sp>
          <p:nvSpPr>
            <p:cNvPr id="87" name="Rectangle 236"/>
            <p:cNvSpPr>
              <a:spLocks noChangeArrowheads="1"/>
            </p:cNvSpPr>
            <p:nvPr/>
          </p:nvSpPr>
          <p:spPr bwMode="auto">
            <a:xfrm>
              <a:off x="2362" y="1979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88" name="Rectangle 237"/>
            <p:cNvSpPr>
              <a:spLocks noChangeArrowheads="1"/>
            </p:cNvSpPr>
            <p:nvPr/>
          </p:nvSpPr>
          <p:spPr bwMode="auto">
            <a:xfrm>
              <a:off x="2099" y="2161"/>
              <a:ext cx="531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/>
                <a:t>없음</a:t>
              </a:r>
            </a:p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발아 전</a:t>
              </a:r>
            </a:p>
            <a:p>
              <a:pPr>
                <a:defRPr/>
              </a:pPr>
              <a:r>
                <a:rPr lang="ko-KR" altLang="en-US" sz="1200"/>
                <a:t>발아 후</a:t>
              </a:r>
            </a:p>
            <a:p>
              <a:pPr>
                <a:defRPr/>
              </a:pPr>
              <a:r>
                <a:rPr lang="ko-KR" altLang="en-US" sz="1200"/>
                <a:t>개화 전</a:t>
              </a:r>
            </a:p>
            <a:p>
              <a:pPr>
                <a:defRPr/>
              </a:pPr>
              <a:r>
                <a:rPr lang="ko-KR" altLang="en-US" sz="1200"/>
                <a:t>개화 후</a:t>
              </a:r>
            </a:p>
            <a:p>
              <a:pPr>
                <a:defRPr/>
              </a:pPr>
              <a:r>
                <a:rPr lang="ko-KR" altLang="en-US" sz="1200"/>
                <a:t>만개 후</a:t>
              </a:r>
            </a:p>
          </p:txBody>
        </p:sp>
        <p:sp>
          <p:nvSpPr>
            <p:cNvPr id="89" name="Rectangle 238"/>
            <p:cNvSpPr>
              <a:spLocks noChangeArrowheads="1"/>
            </p:cNvSpPr>
            <p:nvPr/>
          </p:nvSpPr>
          <p:spPr bwMode="auto">
            <a:xfrm>
              <a:off x="2625" y="2704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90" name="Rectangle 239"/>
            <p:cNvSpPr>
              <a:spLocks noChangeArrowheads="1"/>
            </p:cNvSpPr>
            <p:nvPr/>
          </p:nvSpPr>
          <p:spPr bwMode="auto">
            <a:xfrm>
              <a:off x="2625" y="2169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91" name="Rectangle 240"/>
            <p:cNvSpPr>
              <a:spLocks noChangeArrowheads="1"/>
            </p:cNvSpPr>
            <p:nvPr/>
          </p:nvSpPr>
          <p:spPr bwMode="auto">
            <a:xfrm>
              <a:off x="2625" y="2342"/>
              <a:ext cx="110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92" name="Group 249"/>
          <p:cNvGrpSpPr>
            <a:grpSpLocks/>
          </p:cNvGrpSpPr>
          <p:nvPr/>
        </p:nvGrpSpPr>
        <p:grpSpPr bwMode="auto">
          <a:xfrm>
            <a:off x="4716463" y="2974996"/>
            <a:ext cx="1882775" cy="1439862"/>
            <a:chOff x="3107" y="1979"/>
            <a:chExt cx="1186" cy="907"/>
          </a:xfrm>
        </p:grpSpPr>
        <p:sp>
          <p:nvSpPr>
            <p:cNvPr id="93" name="Text Box 242"/>
            <p:cNvSpPr txBox="1">
              <a:spLocks noChangeArrowheads="1"/>
            </p:cNvSpPr>
            <p:nvPr/>
          </p:nvSpPr>
          <p:spPr bwMode="auto">
            <a:xfrm>
              <a:off x="3107" y="1979"/>
              <a:ext cx="4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병해</a:t>
              </a:r>
            </a:p>
          </p:txBody>
        </p:sp>
        <p:sp>
          <p:nvSpPr>
            <p:cNvPr id="94" name="Rectangle 243"/>
            <p:cNvSpPr>
              <a:spLocks noChangeArrowheads="1"/>
            </p:cNvSpPr>
            <p:nvPr/>
          </p:nvSpPr>
          <p:spPr bwMode="auto">
            <a:xfrm>
              <a:off x="3493" y="1979"/>
              <a:ext cx="314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없음</a:t>
              </a:r>
            </a:p>
          </p:txBody>
        </p:sp>
        <p:sp>
          <p:nvSpPr>
            <p:cNvPr id="95" name="Rectangle 244"/>
            <p:cNvSpPr>
              <a:spLocks noChangeArrowheads="1"/>
            </p:cNvSpPr>
            <p:nvPr/>
          </p:nvSpPr>
          <p:spPr bwMode="auto">
            <a:xfrm>
              <a:off x="3773" y="1979"/>
              <a:ext cx="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96" name="Rectangle 245"/>
            <p:cNvSpPr>
              <a:spLocks noChangeArrowheads="1"/>
            </p:cNvSpPr>
            <p:nvPr/>
          </p:nvSpPr>
          <p:spPr bwMode="auto">
            <a:xfrm>
              <a:off x="3538" y="2161"/>
              <a:ext cx="65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없음</a:t>
              </a:r>
            </a:p>
            <a:p>
              <a:pPr>
                <a:defRPr/>
              </a:pPr>
              <a:r>
                <a:rPr lang="ko-KR" altLang="en-US" sz="1200"/>
                <a:t>검은병무늬병</a:t>
              </a:r>
            </a:p>
            <a:p>
              <a:pPr>
                <a:defRPr/>
              </a:pPr>
              <a:r>
                <a:rPr lang="ko-KR" altLang="en-US" sz="1200"/>
                <a:t>과심곰팡이병</a:t>
              </a:r>
            </a:p>
            <a:p>
              <a:pPr>
                <a:defRPr/>
              </a:pPr>
              <a:r>
                <a:rPr lang="ko-KR" altLang="en-US" sz="1200"/>
                <a:t>붉은별무늬병</a:t>
              </a:r>
            </a:p>
            <a:p>
              <a:pPr>
                <a:defRPr/>
              </a:pPr>
              <a:r>
                <a:rPr lang="ko-KR" altLang="en-US" sz="1200"/>
                <a:t>점무늬낙엽병</a:t>
              </a:r>
            </a:p>
            <a:p>
              <a:pPr>
                <a:defRPr/>
              </a:pPr>
              <a:r>
                <a:rPr lang="ko-KR" altLang="en-US" sz="1200"/>
                <a:t>탄저병</a:t>
              </a:r>
            </a:p>
          </p:txBody>
        </p:sp>
        <p:sp>
          <p:nvSpPr>
            <p:cNvPr id="97" name="Rectangle 246"/>
            <p:cNvSpPr>
              <a:spLocks noChangeArrowheads="1"/>
            </p:cNvSpPr>
            <p:nvPr/>
          </p:nvSpPr>
          <p:spPr bwMode="auto">
            <a:xfrm>
              <a:off x="4195" y="2704"/>
              <a:ext cx="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98" name="Rectangle 247"/>
            <p:cNvSpPr>
              <a:spLocks noChangeArrowheads="1"/>
            </p:cNvSpPr>
            <p:nvPr/>
          </p:nvSpPr>
          <p:spPr bwMode="auto">
            <a:xfrm>
              <a:off x="4195" y="2169"/>
              <a:ext cx="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99" name="Rectangle 248"/>
            <p:cNvSpPr>
              <a:spLocks noChangeArrowheads="1"/>
            </p:cNvSpPr>
            <p:nvPr/>
          </p:nvSpPr>
          <p:spPr bwMode="auto">
            <a:xfrm>
              <a:off x="4195" y="2342"/>
              <a:ext cx="98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100" name="Group 250"/>
          <p:cNvGrpSpPr>
            <a:grpSpLocks/>
          </p:cNvGrpSpPr>
          <p:nvPr/>
        </p:nvGrpSpPr>
        <p:grpSpPr bwMode="auto">
          <a:xfrm>
            <a:off x="6084888" y="2974996"/>
            <a:ext cx="1800225" cy="1439862"/>
            <a:chOff x="3107" y="1979"/>
            <a:chExt cx="1186" cy="907"/>
          </a:xfrm>
        </p:grpSpPr>
        <p:sp>
          <p:nvSpPr>
            <p:cNvPr id="101" name="Text Box 251"/>
            <p:cNvSpPr txBox="1">
              <a:spLocks noChangeArrowheads="1"/>
            </p:cNvSpPr>
            <p:nvPr/>
          </p:nvSpPr>
          <p:spPr bwMode="auto">
            <a:xfrm>
              <a:off x="3107" y="1979"/>
              <a:ext cx="4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해충</a:t>
              </a:r>
            </a:p>
          </p:txBody>
        </p:sp>
        <p:sp>
          <p:nvSpPr>
            <p:cNvPr id="102" name="Rectangle 252"/>
            <p:cNvSpPr>
              <a:spLocks noChangeArrowheads="1"/>
            </p:cNvSpPr>
            <p:nvPr/>
          </p:nvSpPr>
          <p:spPr bwMode="auto">
            <a:xfrm>
              <a:off x="3493" y="1979"/>
              <a:ext cx="314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없음</a:t>
              </a:r>
            </a:p>
          </p:txBody>
        </p:sp>
        <p:sp>
          <p:nvSpPr>
            <p:cNvPr id="103" name="Rectangle 253"/>
            <p:cNvSpPr>
              <a:spLocks noChangeArrowheads="1"/>
            </p:cNvSpPr>
            <p:nvPr/>
          </p:nvSpPr>
          <p:spPr bwMode="auto">
            <a:xfrm>
              <a:off x="3782" y="1979"/>
              <a:ext cx="89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dirty="0"/>
                <a:t>▼</a:t>
              </a:r>
            </a:p>
          </p:txBody>
        </p:sp>
        <p:sp>
          <p:nvSpPr>
            <p:cNvPr id="104" name="Rectangle 254"/>
            <p:cNvSpPr>
              <a:spLocks noChangeArrowheads="1"/>
            </p:cNvSpPr>
            <p:nvPr/>
          </p:nvSpPr>
          <p:spPr bwMode="auto">
            <a:xfrm>
              <a:off x="3538" y="2161"/>
              <a:ext cx="657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없음</a:t>
              </a:r>
            </a:p>
            <a:p>
              <a:pPr>
                <a:defRPr/>
              </a:pPr>
              <a:r>
                <a:rPr lang="ko-KR" altLang="en-US" sz="1200"/>
                <a:t>사과면충</a:t>
              </a:r>
            </a:p>
            <a:p>
              <a:pPr>
                <a:defRPr/>
              </a:pPr>
              <a:r>
                <a:rPr lang="ko-KR" altLang="en-US" sz="1200"/>
                <a:t>깍지벌레</a:t>
              </a:r>
            </a:p>
            <a:p>
              <a:pPr>
                <a:defRPr/>
              </a:pPr>
              <a:r>
                <a:rPr lang="ko-KR" altLang="en-US" sz="1200"/>
                <a:t>사과흑진딧물</a:t>
              </a:r>
            </a:p>
            <a:p>
              <a:pPr>
                <a:defRPr/>
              </a:pPr>
              <a:r>
                <a:rPr lang="ko-KR" altLang="en-US" sz="1200"/>
                <a:t>사과응애</a:t>
              </a:r>
            </a:p>
            <a:p>
              <a:pPr>
                <a:defRPr/>
              </a:pPr>
              <a:r>
                <a:rPr lang="ko-KR" altLang="en-US" sz="1200"/>
                <a:t>굴나방류</a:t>
              </a:r>
            </a:p>
          </p:txBody>
        </p:sp>
        <p:sp>
          <p:nvSpPr>
            <p:cNvPr id="105" name="Rectangle 255"/>
            <p:cNvSpPr>
              <a:spLocks noChangeArrowheads="1"/>
            </p:cNvSpPr>
            <p:nvPr/>
          </p:nvSpPr>
          <p:spPr bwMode="auto">
            <a:xfrm>
              <a:off x="4195" y="2704"/>
              <a:ext cx="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106" name="Rectangle 256"/>
            <p:cNvSpPr>
              <a:spLocks noChangeArrowheads="1"/>
            </p:cNvSpPr>
            <p:nvPr/>
          </p:nvSpPr>
          <p:spPr bwMode="auto">
            <a:xfrm>
              <a:off x="4195" y="2169"/>
              <a:ext cx="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107" name="Rectangle 257"/>
            <p:cNvSpPr>
              <a:spLocks noChangeArrowheads="1"/>
            </p:cNvSpPr>
            <p:nvPr/>
          </p:nvSpPr>
          <p:spPr bwMode="auto">
            <a:xfrm>
              <a:off x="4195" y="2342"/>
              <a:ext cx="98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108" name="Group 258"/>
          <p:cNvGrpSpPr>
            <a:grpSpLocks/>
          </p:cNvGrpSpPr>
          <p:nvPr/>
        </p:nvGrpSpPr>
        <p:grpSpPr bwMode="auto">
          <a:xfrm>
            <a:off x="7423150" y="2974996"/>
            <a:ext cx="1439863" cy="1439862"/>
            <a:chOff x="1615" y="1979"/>
            <a:chExt cx="1120" cy="907"/>
          </a:xfrm>
        </p:grpSpPr>
        <p:sp>
          <p:nvSpPr>
            <p:cNvPr id="109" name="Text Box 259"/>
            <p:cNvSpPr txBox="1">
              <a:spLocks noChangeArrowheads="1"/>
            </p:cNvSpPr>
            <p:nvPr/>
          </p:nvSpPr>
          <p:spPr bwMode="auto">
            <a:xfrm>
              <a:off x="1615" y="1979"/>
              <a:ext cx="48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1200" b="1"/>
                <a:t>방제</a:t>
              </a:r>
            </a:p>
          </p:txBody>
        </p:sp>
        <p:sp>
          <p:nvSpPr>
            <p:cNvPr id="110" name="Rectangle 260"/>
            <p:cNvSpPr>
              <a:spLocks noChangeArrowheads="1"/>
            </p:cNvSpPr>
            <p:nvPr/>
          </p:nvSpPr>
          <p:spPr bwMode="auto">
            <a:xfrm>
              <a:off x="2048" y="1979"/>
              <a:ext cx="353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/>
                <a:t>없음</a:t>
              </a:r>
            </a:p>
          </p:txBody>
        </p:sp>
        <p:sp>
          <p:nvSpPr>
            <p:cNvPr id="111" name="Rectangle 261"/>
            <p:cNvSpPr>
              <a:spLocks noChangeArrowheads="1"/>
            </p:cNvSpPr>
            <p:nvPr/>
          </p:nvSpPr>
          <p:spPr bwMode="auto">
            <a:xfrm>
              <a:off x="2368" y="1979"/>
              <a:ext cx="104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dirty="0"/>
                <a:t>▼</a:t>
              </a:r>
            </a:p>
          </p:txBody>
        </p:sp>
        <p:sp>
          <p:nvSpPr>
            <p:cNvPr id="112" name="Rectangle 262"/>
            <p:cNvSpPr>
              <a:spLocks noChangeArrowheads="1"/>
            </p:cNvSpPr>
            <p:nvPr/>
          </p:nvSpPr>
          <p:spPr bwMode="auto">
            <a:xfrm>
              <a:off x="2099" y="2161"/>
              <a:ext cx="531" cy="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ko-KR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없음</a:t>
              </a:r>
            </a:p>
            <a:p>
              <a:pPr>
                <a:defRPr/>
              </a:pPr>
              <a:r>
                <a:rPr lang="ko-KR" altLang="en-US" sz="1200"/>
                <a:t>선택</a:t>
              </a:r>
            </a:p>
            <a:p>
              <a:pPr>
                <a:defRPr/>
              </a:pPr>
              <a:r>
                <a:rPr lang="ko-KR" altLang="en-US" sz="1200"/>
                <a:t>필수</a:t>
              </a:r>
            </a:p>
          </p:txBody>
        </p:sp>
        <p:sp>
          <p:nvSpPr>
            <p:cNvPr id="113" name="Rectangle 263"/>
            <p:cNvSpPr>
              <a:spLocks noChangeArrowheads="1"/>
            </p:cNvSpPr>
            <p:nvPr/>
          </p:nvSpPr>
          <p:spPr bwMode="auto">
            <a:xfrm>
              <a:off x="2625" y="2704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▼</a:t>
              </a:r>
            </a:p>
          </p:txBody>
        </p:sp>
        <p:sp>
          <p:nvSpPr>
            <p:cNvPr id="114" name="Rectangle 264"/>
            <p:cNvSpPr>
              <a:spLocks noChangeArrowheads="1"/>
            </p:cNvSpPr>
            <p:nvPr/>
          </p:nvSpPr>
          <p:spPr bwMode="auto">
            <a:xfrm>
              <a:off x="2625" y="2169"/>
              <a:ext cx="110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/>
                <a:t>▲</a:t>
              </a:r>
            </a:p>
          </p:txBody>
        </p:sp>
        <p:sp>
          <p:nvSpPr>
            <p:cNvPr id="115" name="Rectangle 265"/>
            <p:cNvSpPr>
              <a:spLocks noChangeArrowheads="1"/>
            </p:cNvSpPr>
            <p:nvPr/>
          </p:nvSpPr>
          <p:spPr bwMode="auto">
            <a:xfrm>
              <a:off x="2625" y="2342"/>
              <a:ext cx="110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116" name="Rectangle 266"/>
          <p:cNvSpPr>
            <a:spLocks noChangeArrowheads="1"/>
          </p:cNvSpPr>
          <p:nvPr/>
        </p:nvSpPr>
        <p:spPr bwMode="auto">
          <a:xfrm>
            <a:off x="250825" y="2830533"/>
            <a:ext cx="8642350" cy="3527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4214842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405292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추진과제의 우선순위 중요도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357158" y="857232"/>
          <a:ext cx="8358247" cy="443217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3765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추진과제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가중치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중요도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긴급도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총점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우선순위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0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A.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조직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및 업무</a:t>
                      </a:r>
                      <a:r>
                        <a:rPr lang="en-US" altLang="ko-KR" sz="1200" baseline="0" dirty="0"/>
                        <a:t>(</a:t>
                      </a:r>
                      <a:r>
                        <a:rPr lang="ko-KR" altLang="en-US" sz="1200" baseline="0" dirty="0"/>
                        <a:t>연구</a:t>
                      </a:r>
                      <a:r>
                        <a:rPr lang="en-US" altLang="ko-KR" sz="1200" baseline="0" dirty="0"/>
                        <a:t>)</a:t>
                      </a:r>
                      <a:r>
                        <a:rPr lang="ko-KR" altLang="en-US" sz="1200" baseline="0" dirty="0"/>
                        <a:t>역량 강화방안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3(9)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3(9)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</a:t>
                      </a:r>
                      <a:endParaRPr lang="en-US" alt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B.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주산단지별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조사지역 선정</a:t>
                      </a:r>
                      <a:r>
                        <a:rPr lang="en-US" altLang="ko-KR" sz="1200" baseline="0" dirty="0"/>
                        <a:t>(</a:t>
                      </a:r>
                      <a:r>
                        <a:rPr lang="ko-KR" altLang="en-US" sz="1200" baseline="0" dirty="0"/>
                        <a:t>조직</a:t>
                      </a:r>
                      <a:r>
                        <a:rPr lang="en-US" altLang="ko-KR" sz="1200" baseline="0" dirty="0"/>
                        <a:t>.</a:t>
                      </a:r>
                      <a:r>
                        <a:rPr lang="ko-KR" altLang="en-US" sz="1200" baseline="0" dirty="0" err="1"/>
                        <a:t>인원내</a:t>
                      </a:r>
                      <a:r>
                        <a:rPr lang="en-US" altLang="ko-KR" sz="1200" baseline="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C.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표준화된 병해충관리 프로세스 정립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D. </a:t>
                      </a:r>
                      <a:r>
                        <a:rPr lang="ko-KR" altLang="en-US" sz="1200" dirty="0" err="1"/>
                        <a:t>통합원뷰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시스템 개발운영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시계열</a:t>
                      </a:r>
                      <a:r>
                        <a:rPr lang="ko-KR" altLang="en-US" sz="1200" dirty="0"/>
                        <a:t> 데이터 </a:t>
                      </a:r>
                      <a:r>
                        <a:rPr lang="ko-KR" altLang="en-US" sz="1200" dirty="0" err="1"/>
                        <a:t>마트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개인역량강화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3(9)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2(6)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5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E.</a:t>
                      </a:r>
                      <a:r>
                        <a:rPr lang="ko-KR" altLang="en-US" sz="1200" baseline="0" dirty="0"/>
                        <a:t> 정보 시스템운영 및 관리조직 강화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3(6)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5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F. </a:t>
                      </a:r>
                      <a:r>
                        <a:rPr lang="ko-KR" altLang="en-US" sz="1200" dirty="0"/>
                        <a:t>역학조사 등 법</a:t>
                      </a:r>
                      <a:r>
                        <a:rPr lang="en-US" altLang="ko-KR" sz="1200" dirty="0"/>
                        <a:t>.</a:t>
                      </a:r>
                      <a:r>
                        <a:rPr lang="ko-KR" altLang="en-US" sz="1200" dirty="0"/>
                        <a:t>규정 개정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3(6)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G. </a:t>
                      </a:r>
                      <a:r>
                        <a:rPr lang="ko-KR" altLang="en-US" sz="1200" dirty="0"/>
                        <a:t>긴급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돌발 관련 규정개정에 따른 프로세스 정립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2(4)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571736" y="5379709"/>
            <a:ext cx="370486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/>
              <a:t>가중치 </a:t>
            </a:r>
            <a:r>
              <a:rPr lang="en-US" altLang="ko-KR" sz="1300" dirty="0"/>
              <a:t>: 3. </a:t>
            </a:r>
            <a:r>
              <a:rPr lang="ko-KR" altLang="en-US" sz="1300" dirty="0" err="1"/>
              <a:t>비중큼</a:t>
            </a:r>
            <a:r>
              <a:rPr lang="ko-KR" altLang="en-US" sz="1300" dirty="0"/>
              <a:t>     </a:t>
            </a:r>
            <a:r>
              <a:rPr lang="en-US" altLang="ko-KR" sz="1300" dirty="0"/>
              <a:t>2. </a:t>
            </a:r>
            <a:r>
              <a:rPr lang="ko-KR" altLang="en-US" sz="1300" dirty="0"/>
              <a:t>비중보통  </a:t>
            </a:r>
            <a:r>
              <a:rPr lang="en-US" altLang="ko-KR" sz="1300" dirty="0"/>
              <a:t>1. </a:t>
            </a:r>
            <a:r>
              <a:rPr lang="ko-KR" altLang="en-US" sz="1300" dirty="0" err="1"/>
              <a:t>비중적음</a:t>
            </a:r>
            <a:endParaRPr lang="en-US" altLang="ko-KR" sz="1300" dirty="0"/>
          </a:p>
          <a:p>
            <a:r>
              <a:rPr lang="ko-KR" altLang="en-US" sz="1300" dirty="0"/>
              <a:t>중요도 </a:t>
            </a:r>
            <a:r>
              <a:rPr lang="en-US" altLang="ko-KR" sz="1300" dirty="0"/>
              <a:t>: 3. </a:t>
            </a:r>
            <a:r>
              <a:rPr lang="ko-KR" altLang="en-US" sz="1300" dirty="0" err="1"/>
              <a:t>아주중요</a:t>
            </a:r>
            <a:r>
              <a:rPr lang="ko-KR" altLang="en-US" sz="1300" dirty="0"/>
              <a:t>  </a:t>
            </a:r>
            <a:r>
              <a:rPr lang="en-US" altLang="ko-KR" sz="1300" dirty="0"/>
              <a:t>2. </a:t>
            </a:r>
            <a:r>
              <a:rPr lang="ko-KR" altLang="en-US" sz="1300" dirty="0"/>
              <a:t>중요        </a:t>
            </a:r>
            <a:r>
              <a:rPr lang="en-US" altLang="ko-KR" sz="1300" dirty="0"/>
              <a:t>1. </a:t>
            </a:r>
            <a:r>
              <a:rPr lang="ko-KR" altLang="en-US" sz="1300" dirty="0"/>
              <a:t>보통</a:t>
            </a:r>
            <a:endParaRPr lang="en-US" altLang="ko-KR" sz="1300" dirty="0"/>
          </a:p>
          <a:p>
            <a:r>
              <a:rPr lang="ko-KR" altLang="en-US" sz="1300" dirty="0"/>
              <a:t>긴급도 </a:t>
            </a:r>
            <a:r>
              <a:rPr lang="en-US" altLang="ko-KR" sz="1300" dirty="0"/>
              <a:t>: 3. </a:t>
            </a:r>
            <a:r>
              <a:rPr lang="ko-KR" altLang="en-US" sz="1300" dirty="0" err="1"/>
              <a:t>아주중요</a:t>
            </a:r>
            <a:r>
              <a:rPr lang="ko-KR" altLang="en-US" sz="1300" dirty="0"/>
              <a:t>  </a:t>
            </a:r>
            <a:r>
              <a:rPr lang="en-US" altLang="ko-KR" sz="1300" dirty="0"/>
              <a:t>2. </a:t>
            </a:r>
            <a:r>
              <a:rPr lang="ko-KR" altLang="en-US" sz="1300" dirty="0"/>
              <a:t>중요        </a:t>
            </a:r>
            <a:r>
              <a:rPr lang="en-US" altLang="ko-KR" sz="1300" dirty="0"/>
              <a:t>1. </a:t>
            </a:r>
            <a:r>
              <a:rPr lang="ko-KR" altLang="en-US" sz="1300" dirty="0"/>
              <a:t>보통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10" y="6208446"/>
            <a:ext cx="76386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/>
              <a:t>우선 순위 산출하였으나 단일 형태의 업무이므로 동시다발 추진이 </a:t>
            </a:r>
            <a:r>
              <a:rPr lang="ko-KR" altLang="en-US" sz="1300" dirty="0" err="1"/>
              <a:t>바람직</a:t>
            </a:r>
            <a:r>
              <a:rPr lang="en-US" altLang="ko-KR" sz="1300" dirty="0"/>
              <a:t>. </a:t>
            </a:r>
            <a:r>
              <a:rPr lang="ko-KR" altLang="en-US" sz="1300" dirty="0"/>
              <a:t>단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연차별</a:t>
            </a:r>
            <a:r>
              <a:rPr lang="ko-KR" altLang="en-US" sz="1300" dirty="0"/>
              <a:t> 중점사항 강조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9575" y="34001"/>
            <a:ext cx="19944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3.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추진과제 우선순위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28794" y="71414"/>
            <a:ext cx="2143140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405292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추진예산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357158" y="857232"/>
          <a:ext cx="8358247" cy="41493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3857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추진실행과제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2010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2011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2012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2013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2014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0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/>
                        <a:t>A.</a:t>
                      </a:r>
                      <a:r>
                        <a:rPr lang="en-US" altLang="ko-KR" sz="1300" baseline="0" dirty="0"/>
                        <a:t> </a:t>
                      </a:r>
                      <a:r>
                        <a:rPr lang="ko-KR" altLang="en-US" sz="1300" baseline="0" dirty="0"/>
                        <a:t>국가병해충 </a:t>
                      </a:r>
                      <a:r>
                        <a:rPr lang="ko-KR" altLang="en-US" sz="1300" baseline="0" dirty="0" err="1"/>
                        <a:t>예찰방제</a:t>
                      </a:r>
                      <a:r>
                        <a:rPr lang="ko-KR" altLang="en-US" sz="1300" baseline="0" dirty="0"/>
                        <a:t> 네트워크시스템 구축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7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3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</a:t>
                      </a:r>
                      <a:endParaRPr lang="en-US" altLang="ko-KR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/>
                        <a:t>B.</a:t>
                      </a:r>
                      <a:r>
                        <a:rPr lang="en-US" altLang="ko-KR" sz="1300" baseline="0" dirty="0"/>
                        <a:t> </a:t>
                      </a:r>
                      <a:r>
                        <a:rPr lang="ko-KR" altLang="en-US" sz="1300" baseline="0" dirty="0"/>
                        <a:t>도 광역예찰팀 운영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25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40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50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60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/>
                        <a:t>C.</a:t>
                      </a:r>
                      <a:r>
                        <a:rPr lang="en-US" altLang="ko-KR" sz="1300" baseline="0" dirty="0"/>
                        <a:t> </a:t>
                      </a:r>
                      <a:r>
                        <a:rPr lang="ko-KR" altLang="en-US" sz="1300" baseline="0" dirty="0" err="1"/>
                        <a:t>예찰</a:t>
                      </a:r>
                      <a:r>
                        <a:rPr lang="ko-KR" altLang="en-US" sz="1300" baseline="0" dirty="0"/>
                        <a:t> 진단 모델 연구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7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10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13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/>
                        <a:t>D. </a:t>
                      </a:r>
                      <a:r>
                        <a:rPr lang="ko-KR" altLang="en-US" sz="1300" dirty="0"/>
                        <a:t>국가병해충 관련 </a:t>
                      </a:r>
                      <a:r>
                        <a:rPr lang="en-US" altLang="ko-KR" sz="1300" dirty="0"/>
                        <a:t>R &amp; D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9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12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15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</a:t>
                      </a:r>
                      <a:endParaRPr lang="ko-KR" altLang="en-US" sz="1300" b="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5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/>
                        <a:t>E.</a:t>
                      </a:r>
                      <a:r>
                        <a:rPr lang="ko-KR" altLang="en-US" sz="1300" baseline="0" dirty="0"/>
                        <a:t> 국고보조금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15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18</a:t>
                      </a:r>
                      <a:endParaRPr lang="ko-KR" altLang="en-US" sz="1300" dirty="0"/>
                    </a:p>
                    <a:p>
                      <a:pPr algn="ctr" latinLnBrk="1"/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24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158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/>
                        <a:t>합   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48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67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89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105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125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49575" y="34001"/>
            <a:ext cx="11753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4.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추진예산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0958" y="487900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단위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억원</a:t>
            </a:r>
            <a:endParaRPr lang="ko-KR" altLang="en-US" sz="1400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7"/>
          <p:cNvSpPr txBox="1">
            <a:spLocks noChangeArrowheads="1"/>
          </p:cNvSpPr>
          <p:nvPr/>
        </p:nvSpPr>
        <p:spPr bwMode="gray">
          <a:xfrm>
            <a:off x="2082344" y="0"/>
            <a:ext cx="34311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회사 개요 </a:t>
            </a:r>
            <a:endParaRPr lang="en-US" altLang="ko-KR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000232" y="71414"/>
            <a:ext cx="2643206" cy="571504"/>
            <a:chOff x="2784" y="624"/>
            <a:chExt cx="2546" cy="240"/>
          </a:xfrm>
        </p:grpSpPr>
        <p:sp>
          <p:nvSpPr>
            <p:cNvPr id="37" name="AutoShape 17"/>
            <p:cNvSpPr>
              <a:spLocks noChangeArrowheads="1"/>
            </p:cNvSpPr>
            <p:nvPr/>
          </p:nvSpPr>
          <p:spPr bwMode="invGray">
            <a:xfrm>
              <a:off x="2784" y="624"/>
              <a:ext cx="2546" cy="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>
                    <a:gamma/>
                    <a:shade val="7568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90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dirty="0">
                <a:latin typeface="휴먼매직체" pitchFamily="18" charset="-127"/>
                <a:ea typeface="휴먼매직체" pitchFamily="18" charset="-127"/>
              </a:endParaRPr>
            </a:p>
          </p:txBody>
        </p:sp>
        <p:pic>
          <p:nvPicPr>
            <p:cNvPr id="38" name="Picture 18" descr="Picture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831" y="631"/>
              <a:ext cx="2020" cy="71"/>
            </a:xfrm>
            <a:prstGeom prst="rect">
              <a:avLst/>
            </a:prstGeom>
            <a:noFill/>
          </p:spPr>
        </p:pic>
      </p:grp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2090716" y="71414"/>
            <a:ext cx="305278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7663" indent="-347663" eaLnBrk="0" hangingPunct="0">
              <a:buFont typeface="Wingdings" pitchFamily="2" charset="2"/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휴먼매직체" pitchFamily="18" charset="-127"/>
                <a:ea typeface="휴먼매직체" pitchFamily="18" charset="-127"/>
                <a:cs typeface="Arial" charset="0"/>
              </a:rPr>
              <a:t> 금 후 계 획</a:t>
            </a:r>
            <a:endParaRPr lang="en-US" altLang="ko-KR" sz="3000" b="1" dirty="0">
              <a:solidFill>
                <a:srgbClr val="FFFFFF"/>
              </a:solidFill>
              <a:latin typeface="휴먼매직체" pitchFamily="18" charset="-127"/>
              <a:ea typeface="휴먼매직체" pitchFamily="18" charset="-127"/>
              <a:cs typeface="Arial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579977" y="228358"/>
            <a:ext cx="282358" cy="254795"/>
            <a:chOff x="1927" y="3088"/>
            <a:chExt cx="544" cy="560"/>
          </a:xfrm>
        </p:grpSpPr>
        <p:pic>
          <p:nvPicPr>
            <p:cNvPr id="41" name="Picture 39" descr="shadow_1_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27" y="3443"/>
              <a:ext cx="544" cy="205"/>
            </a:xfrm>
            <a:prstGeom prst="rect">
              <a:avLst/>
            </a:prstGeom>
            <a:noFill/>
          </p:spPr>
        </p:pic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953" y="3088"/>
              <a:ext cx="518" cy="518"/>
              <a:chOff x="1953" y="3088"/>
              <a:chExt cx="518" cy="518"/>
            </a:xfrm>
          </p:grpSpPr>
          <p:sp>
            <p:nvSpPr>
              <p:cNvPr id="43" name="Oval 41"/>
              <p:cNvSpPr>
                <a:spLocks noChangeArrowheads="1"/>
              </p:cNvSpPr>
              <p:nvPr/>
            </p:nvSpPr>
            <p:spPr bwMode="gray">
              <a:xfrm rot="76022" flipH="1">
                <a:off x="1953" y="3088"/>
                <a:ext cx="518" cy="518"/>
              </a:xfrm>
              <a:prstGeom prst="ellipse">
                <a:avLst/>
              </a:prstGeom>
              <a:gradFill rotWithShape="1">
                <a:gsLst>
                  <a:gs pos="0">
                    <a:schemeClr val="folHlink">
                      <a:gamma/>
                      <a:tint val="25490"/>
                      <a:invGamma/>
                    </a:schemeClr>
                  </a:gs>
                  <a:gs pos="100000">
                    <a:schemeClr val="folHlink"/>
                  </a:gs>
                </a:gsLst>
                <a:path path="shape">
                  <a:fillToRect l="50000" t="50000" r="50000" b="50000"/>
                </a:path>
              </a:gradFill>
              <a:ln w="12700" algn="ctr">
                <a:solidFill>
                  <a:srgbClr val="000000">
                    <a:alpha val="20000"/>
                  </a:srgb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>
                  <a:latin typeface="휴먼매직체" pitchFamily="18" charset="-127"/>
                  <a:ea typeface="휴먼매직체" pitchFamily="18" charset="-127"/>
                </a:endParaRPr>
              </a:p>
            </p:txBody>
          </p:sp>
          <p:pic>
            <p:nvPicPr>
              <p:cNvPr id="44" name="Picture 42" descr="light_shadow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"/>
              </a:blip>
              <a:srcRect l="2757" r="5331" b="2487"/>
              <a:stretch>
                <a:fillRect/>
              </a:stretch>
            </p:blipFill>
            <p:spPr bwMode="auto">
              <a:xfrm>
                <a:off x="1992" y="3317"/>
                <a:ext cx="408" cy="287"/>
              </a:xfrm>
              <a:prstGeom prst="rect">
                <a:avLst/>
              </a:prstGeom>
              <a:noFill/>
            </p:spPr>
          </p:pic>
          <p:pic>
            <p:nvPicPr>
              <p:cNvPr id="45" name="Picture 43" descr="Picture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"/>
              </a:blip>
              <a:srcRect/>
              <a:stretch>
                <a:fillRect/>
              </a:stretch>
            </p:blipFill>
            <p:spPr bwMode="gray">
              <a:xfrm>
                <a:off x="2032" y="3104"/>
                <a:ext cx="366" cy="1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" name="TextBox 15"/>
          <p:cNvSpPr txBox="1"/>
          <p:nvPr/>
        </p:nvSpPr>
        <p:spPr>
          <a:xfrm>
            <a:off x="0" y="6534835"/>
            <a:ext cx="257175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500" b="1" dirty="0">
                <a:latin typeface="굴림" pitchFamily="50" charset="-127"/>
                <a:ea typeface="굴림" pitchFamily="50" charset="-127"/>
              </a:rPr>
              <a:t>Ⅳ. </a:t>
            </a:r>
            <a:r>
              <a:rPr lang="ko-KR" altLang="en-US" sz="1500" b="1" dirty="0">
                <a:latin typeface="굴림" pitchFamily="50" charset="-127"/>
                <a:ea typeface="굴림" pitchFamily="50" charset="-127"/>
              </a:rPr>
              <a:t>미래 모형 정의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39341" y="1390357"/>
            <a:ext cx="7648575" cy="566738"/>
          </a:xfrm>
          <a:prstGeom prst="rect">
            <a:avLst/>
          </a:prstGeom>
          <a:gradFill rotWithShape="0">
            <a:gsLst>
              <a:gs pos="0">
                <a:srgbClr val="33CCFF">
                  <a:alpha val="39999"/>
                </a:srgbClr>
              </a:gs>
              <a:gs pos="100000">
                <a:srgbClr val="FFFFFF">
                  <a:alpha val="89999"/>
                </a:srgb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4" dir="b"/>
          </a:scene3d>
          <a:sp3d extrusionH="100000" prstMaterial="legacyMatte">
            <a:bevelT w="13500" h="13500" prst="angle"/>
            <a:bevelB w="13500" h="13500" prst="angle"/>
            <a:extrusionClr>
              <a:srgbClr val="66CCFF"/>
            </a:extrusionClr>
          </a:sp3d>
        </p:spPr>
        <p:txBody>
          <a:bodyPr wrap="none" anchor="ctr">
            <a:flatTx/>
          </a:bodyPr>
          <a:lstStyle/>
          <a:p>
            <a:endParaRPr lang="ko-KR" altLang="en-US"/>
          </a:p>
        </p:txBody>
      </p:sp>
      <p:sp>
        <p:nvSpPr>
          <p:cNvPr id="18" name="Line 49"/>
          <p:cNvSpPr>
            <a:spLocks noChangeShapeType="1"/>
          </p:cNvSpPr>
          <p:nvPr/>
        </p:nvSpPr>
        <p:spPr bwMode="auto">
          <a:xfrm>
            <a:off x="475816" y="1965032"/>
            <a:ext cx="7991475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9" name="AutoShape 52"/>
          <p:cNvSpPr>
            <a:spLocks noChangeArrowheads="1"/>
          </p:cNvSpPr>
          <p:nvPr/>
        </p:nvSpPr>
        <p:spPr bwMode="auto">
          <a:xfrm>
            <a:off x="650442" y="1474494"/>
            <a:ext cx="398742" cy="548153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17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1. </a:t>
            </a:r>
            <a:endParaRPr lang="ko-KR" altLang="en-US" sz="17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0" name="Rectangle 53"/>
          <p:cNvSpPr>
            <a:spLocks noChangeArrowheads="1"/>
          </p:cNvSpPr>
          <p:nvPr/>
        </p:nvSpPr>
        <p:spPr bwMode="auto">
          <a:xfrm>
            <a:off x="1147380" y="1285860"/>
            <a:ext cx="792521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13500000" algn="ctr" rotWithShape="0">
              <a:schemeClr val="bg1"/>
            </a:outerShdw>
          </a:effectLst>
        </p:spPr>
        <p:txBody>
          <a:bodyPr wrap="none" anchor="ctr"/>
          <a:lstStyle/>
          <a:p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 광역 </a:t>
            </a:r>
            <a:r>
              <a:rPr lang="ko-KR" altLang="en-US" sz="1500" dirty="0" err="1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예찰반</a:t>
            </a:r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 관련 조직 구성에 대한 도 농업기술원</a:t>
            </a:r>
            <a:r>
              <a:rPr lang="en-US" altLang="ko-KR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시군 농업기술센터의 의견 수렴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739341" y="2524400"/>
            <a:ext cx="7648575" cy="566738"/>
          </a:xfrm>
          <a:prstGeom prst="rect">
            <a:avLst/>
          </a:prstGeom>
          <a:gradFill rotWithShape="0">
            <a:gsLst>
              <a:gs pos="0">
                <a:srgbClr val="33CCFF">
                  <a:alpha val="39999"/>
                </a:srgbClr>
              </a:gs>
              <a:gs pos="100000">
                <a:srgbClr val="FFFFFF">
                  <a:alpha val="89999"/>
                </a:srgb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4" dir="b"/>
          </a:scene3d>
          <a:sp3d extrusionH="100000" prstMaterial="legacyMatte">
            <a:bevelT w="13500" h="13500" prst="angle"/>
            <a:bevelB w="13500" h="13500" prst="angle"/>
            <a:extrusionClr>
              <a:srgbClr val="66CCFF"/>
            </a:extrusionClr>
          </a:sp3d>
        </p:spPr>
        <p:txBody>
          <a:bodyPr wrap="none" anchor="ctr">
            <a:flatTx/>
          </a:bodyPr>
          <a:lstStyle/>
          <a:p>
            <a:endParaRPr lang="ko-KR" altLang="en-US"/>
          </a:p>
        </p:txBody>
      </p:sp>
      <p:sp>
        <p:nvSpPr>
          <p:cNvPr id="22" name="Line 49"/>
          <p:cNvSpPr>
            <a:spLocks noChangeShapeType="1"/>
          </p:cNvSpPr>
          <p:nvPr/>
        </p:nvSpPr>
        <p:spPr bwMode="auto">
          <a:xfrm>
            <a:off x="475816" y="3099075"/>
            <a:ext cx="7991475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52"/>
          <p:cNvSpPr>
            <a:spLocks noChangeArrowheads="1"/>
          </p:cNvSpPr>
          <p:nvPr/>
        </p:nvSpPr>
        <p:spPr bwMode="auto">
          <a:xfrm>
            <a:off x="650442" y="2608537"/>
            <a:ext cx="398742" cy="548153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17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2. </a:t>
            </a:r>
            <a:endParaRPr lang="ko-KR" altLang="en-US" sz="17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4" name="Rectangle 53"/>
          <p:cNvSpPr>
            <a:spLocks noChangeArrowheads="1"/>
          </p:cNvSpPr>
          <p:nvPr/>
        </p:nvSpPr>
        <p:spPr bwMode="auto">
          <a:xfrm>
            <a:off x="1147380" y="2419903"/>
            <a:ext cx="792521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13500000" algn="ctr" rotWithShape="0">
              <a:schemeClr val="bg1"/>
            </a:outerShdw>
          </a:effectLst>
        </p:spPr>
        <p:txBody>
          <a:bodyPr wrap="none" anchor="ctr"/>
          <a:lstStyle/>
          <a:p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국가병해충 </a:t>
            </a:r>
            <a:r>
              <a:rPr lang="ko-KR" altLang="en-US" sz="1500" dirty="0" err="1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예찰</a:t>
            </a:r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 방제네트워크 구축방안 세미나 개최</a:t>
            </a:r>
          </a:p>
        </p:txBody>
      </p:sp>
      <p:sp>
        <p:nvSpPr>
          <p:cNvPr id="25" name="Rectangle 35"/>
          <p:cNvSpPr>
            <a:spLocks noChangeArrowheads="1"/>
          </p:cNvSpPr>
          <p:nvPr/>
        </p:nvSpPr>
        <p:spPr bwMode="auto">
          <a:xfrm>
            <a:off x="739341" y="3597081"/>
            <a:ext cx="7648575" cy="566738"/>
          </a:xfrm>
          <a:prstGeom prst="rect">
            <a:avLst/>
          </a:prstGeom>
          <a:gradFill rotWithShape="0">
            <a:gsLst>
              <a:gs pos="0">
                <a:srgbClr val="33CCFF">
                  <a:alpha val="39999"/>
                </a:srgbClr>
              </a:gs>
              <a:gs pos="100000">
                <a:srgbClr val="FFFFFF">
                  <a:alpha val="89999"/>
                </a:srgb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4" dir="b"/>
          </a:scene3d>
          <a:sp3d extrusionH="100000" prstMaterial="legacyMatte">
            <a:bevelT w="13500" h="13500" prst="angle"/>
            <a:bevelB w="13500" h="13500" prst="angle"/>
            <a:extrusionClr>
              <a:srgbClr val="66CCFF"/>
            </a:extrusionClr>
          </a:sp3d>
        </p:spPr>
        <p:txBody>
          <a:bodyPr wrap="none" anchor="ctr">
            <a:flatTx/>
          </a:bodyPr>
          <a:lstStyle/>
          <a:p>
            <a:endParaRPr lang="ko-KR" altLang="en-US"/>
          </a:p>
        </p:txBody>
      </p:sp>
      <p:sp>
        <p:nvSpPr>
          <p:cNvPr id="26" name="Line 49"/>
          <p:cNvSpPr>
            <a:spLocks noChangeShapeType="1"/>
          </p:cNvSpPr>
          <p:nvPr/>
        </p:nvSpPr>
        <p:spPr bwMode="auto">
          <a:xfrm>
            <a:off x="475816" y="4171756"/>
            <a:ext cx="7991475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7" name="AutoShape 52"/>
          <p:cNvSpPr>
            <a:spLocks noChangeArrowheads="1"/>
          </p:cNvSpPr>
          <p:nvPr/>
        </p:nvSpPr>
        <p:spPr bwMode="auto">
          <a:xfrm>
            <a:off x="650442" y="3681218"/>
            <a:ext cx="398742" cy="548153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17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3. </a:t>
            </a:r>
            <a:endParaRPr lang="ko-KR" altLang="en-US" sz="17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8" name="Rectangle 53"/>
          <p:cNvSpPr>
            <a:spLocks noChangeArrowheads="1"/>
          </p:cNvSpPr>
          <p:nvPr/>
        </p:nvSpPr>
        <p:spPr bwMode="auto">
          <a:xfrm>
            <a:off x="1147380" y="3492584"/>
            <a:ext cx="792521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13500000" algn="ctr" rotWithShape="0">
              <a:schemeClr val="bg1"/>
            </a:outerShdw>
          </a:effectLst>
        </p:spPr>
        <p:txBody>
          <a:bodyPr wrap="none" anchor="ctr"/>
          <a:lstStyle/>
          <a:p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 법개정 작업 </a:t>
            </a:r>
            <a:r>
              <a:rPr lang="ko-KR" altLang="en-US" sz="1500" dirty="0" err="1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완료시</a:t>
            </a:r>
            <a:r>
              <a:rPr lang="ko-KR" altLang="en-US" sz="1500" dirty="0">
                <a:solidFill>
                  <a:srgbClr val="003366"/>
                </a:solidFill>
                <a:latin typeface="HY견고딕" pitchFamily="18" charset="-127"/>
                <a:ea typeface="HY견고딕" pitchFamily="18" charset="-127"/>
              </a:rPr>
              <a:t> 일부 변경사항은 유지보수 차원에서 보완예정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002">
  <a:themeElements>
    <a:clrScheme name="00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0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5050</Words>
  <Application>Microsoft Office PowerPoint</Application>
  <PresentationFormat>화면 슬라이드 쇼(4:3)</PresentationFormat>
  <Paragraphs>1426</Paragraphs>
  <Slides>38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53" baseType="lpstr">
      <vt:lpstr>HY견고딕</vt:lpstr>
      <vt:lpstr>HY그래픽M</vt:lpstr>
      <vt:lpstr>HY울릉도B</vt:lpstr>
      <vt:lpstr>HY헤드라인M</vt:lpstr>
      <vt:lpstr>굴림</vt:lpstr>
      <vt:lpstr>굴림체</vt:lpstr>
      <vt:lpstr>맑은 고딕</vt:lpstr>
      <vt:lpstr>산돌고딕 L</vt:lpstr>
      <vt:lpstr>휴먼매직체</vt:lpstr>
      <vt:lpstr>휴먼신그래픽</vt:lpstr>
      <vt:lpstr>Arial</vt:lpstr>
      <vt:lpstr>Wingdings</vt:lpstr>
      <vt:lpstr>Office 테마</vt:lpstr>
      <vt:lpstr>002</vt:lpstr>
      <vt:lpstr>클립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효진님</dc:creator>
  <cp:lastModifiedBy>COM</cp:lastModifiedBy>
  <cp:revision>307</cp:revision>
  <dcterms:created xsi:type="dcterms:W3CDTF">2009-11-14T07:05:40Z</dcterms:created>
  <dcterms:modified xsi:type="dcterms:W3CDTF">2026-03-06T03:39:32Z</dcterms:modified>
</cp:coreProperties>
</file>